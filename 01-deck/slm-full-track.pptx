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Relationship Id="rId3" Type="http://schemas.openxmlformats.org/officeDocument/2006/relationships/image" Target="../media/image23.png"/><Relationship Id="rId4" Type="http://schemas.openxmlformats.org/officeDocument/2006/relationships/image" Target="../media/image24.png"/><Relationship Id="rId5" Type="http://schemas.openxmlformats.org/officeDocument/2006/relationships/image" Target="../media/image2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26.png"/><Relationship Id="rId6" Type="http://schemas.openxmlformats.org/officeDocument/2006/relationships/image" Target="../media/image27.png"/><Relationship Id="rId7" Type="http://schemas.openxmlformats.org/officeDocument/2006/relationships/image" Target="../media/image28.png"/><Relationship Id="rId8" Type="http://schemas.openxmlformats.org/officeDocument/2006/relationships/image" Target="../media/image29.png"/><Relationship Id="rId9" Type="http://schemas.openxmlformats.org/officeDocument/2006/relationships/image" Target="../media/image30.png"/><Relationship Id="rId10" Type="http://schemas.openxmlformats.org/officeDocument/2006/relationships/image" Target="../media/image3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image" Target="../media/image32.png"/><Relationship Id="rId4" Type="http://schemas.openxmlformats.org/officeDocument/2006/relationships/image" Target="../media/image3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200388" y="2118568"/>
            <a:ext cx="9791223" cy="150852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5940"/>
              </a:lnSpc>
            </a:pPr>
            <a:r>
              <a:rPr b="0" sz="5400" i="0" u="none">
                <a:solidFill>
                  <a:srgbClr val="0F172A"/>
                </a:solidFill>
                <a:latin typeface="Inter ExtraBold"/>
              </a:rPr>
              <a:t>SMALL LANGUAGE MODELS</a:t>
            </a:r>
            <a:r>
              <a:t>
</a:t>
            </a:r>
            <a:r>
              <a:rPr b="0" sz="5400" i="0" u="none">
                <a:solidFill>
                  <a:srgbClr val="2563EB"/>
                </a:solidFill>
                <a:latin typeface="Inter ExtraBold"/>
              </a:rPr>
              <a:t>FROM FIRST PRINCIPLES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86000" y="4008090"/>
            <a:ext cx="7620000" cy="7313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What they are • How they are built • How to make them reliable • When to walk away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215455"/>
            <a:ext cx="5295900" cy="403294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2215455"/>
            <a:ext cx="5295900" cy="40329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600" y="17201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Ask for these before you ask anything else.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26345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1. Total Parameters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3101280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Example: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3406080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Governs memory footprint and rough capability ceiling. The headline number in the name.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4301430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2. Active Parameters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28700" y="4768155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Example: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5072955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Governs generation speed on mixture of experts models. Active parameters set your speed.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705600" y="26345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3. Context Window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3101280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Example: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406080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How much you can put in one call. The working memory for prompt plus output.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301430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4. Precision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768155"/>
            <a:ext cx="4457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Example: (4 bit)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5072955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Bytes per parameter. This is the real memory bill and decides if it fits your laptop.</a:t>
            </a:r>
          </a:p>
        </p:txBody>
      </p:sp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3110805"/>
            <a:ext cx="342900" cy="28575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05000" y="4777680"/>
            <a:ext cx="1143000" cy="28575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1900" y="3110805"/>
            <a:ext cx="1371600" cy="28575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581900" y="4777680"/>
            <a:ext cx="800100" cy="28575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Four Numbers Describe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Any Model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03040"/>
            <a:ext cx="10972800" cy="105727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" y="1417290"/>
            <a:ext cx="10972800" cy="513397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497187" y="2122140"/>
            <a:ext cx="7197476" cy="285750"/>
          </a:xfrm>
          <a:prstGeom prst="rect">
            <a:avLst/>
          </a:prstGeom>
        </p:spPr>
      </p:pic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3046065"/>
          <a:ext cx="10934698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303412"/>
                <a:gridCol w="4268092"/>
                <a:gridCol w="4363194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Bytes per Parameter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Memory for 3B 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FP16 or BF16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~ 6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8 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~ 3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4 bit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0.5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~ 1.7 GB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609600" y="306734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The Memory Bill,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In One Formula</a:t>
            </a:r>
          </a:p>
        </p:txBody>
      </p:sp>
      <p:sp>
        <p:nvSpPr>
          <p:cNvPr id="7" name="Rectangle 6"/>
          <p:cNvSpPr/>
          <p:nvPr/>
        </p:nvSpPr>
        <p:spPr>
          <a:xfrm>
            <a:off x="609600" y="998190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10705"/>
            <a:ext cx="3467100" cy="39376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310705"/>
            <a:ext cx="3467100" cy="39376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310705"/>
            <a:ext cx="3467100" cy="3937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7201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Confusing these axes is the most common source of bad model decisions.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2729805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5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1.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4196655"/>
            <a:ext cx="2819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Dense (the safe default), Mixture of Experts (speed of a small model, RAM of a large one), Hybrid (Mamba/SSM), or Nested.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729805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630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2. Role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419665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Base (raw weights), Instruct (tuned to follow instructions), Reasoning, Embedding, or Multimodal.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272980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915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3. Lineage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150" y="419665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From Scratch (pretrained), Distilled (trained to imitate a larger teacher), or Pruned (cut and repaired).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00137" y="2920305"/>
            <a:ext cx="428625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29175" y="2920305"/>
            <a:ext cx="47625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53462" y="2920305"/>
            <a:ext cx="333375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Four Axes of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Model Types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2460277"/>
            <a:ext cx="1143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75472" y="2917477"/>
            <a:ext cx="8441055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000" i="0" u="none">
                <a:solidFill>
                  <a:srgbClr val="0F172A"/>
                </a:solidFill>
                <a:latin typeface="Inter ExtraBold"/>
              </a:rPr>
              <a:t>Making SLMs </a:t>
            </a:r>
            <a:r>
              <a:rPr b="0" sz="6000" i="0" u="none">
                <a:solidFill>
                  <a:srgbClr val="2563EB"/>
                </a:solidFill>
                <a:latin typeface="Inter ExtraBold"/>
              </a:rPr>
              <a:t>Reliable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19275" y="4031902"/>
            <a:ext cx="855345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Architecture beats parameters. The compounding problem and the four fixes.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0155"/>
            <a:ext cx="5295900" cy="452824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6500" y="1720155"/>
            <a:ext cx="5295900" cy="4528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21392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Ten Steps, 90% Success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2605980"/>
            <a:ext cx="44577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If your agent takes 10 sequential steps, and each tool call succeeds 90% of the time, what is your true success rate?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705600" y="21392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The Four Fixes (In Order)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53790" y="4177307"/>
            <a:ext cx="3007369" cy="41939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91350" y="2796480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Decompose: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Cut steps (N). Checkpoint between segments.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91350" y="3596580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Constrain: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Force grammar/schema at decode time.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91350" y="4396680"/>
            <a:ext cx="4171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Verify: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Validate every step mechanically.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91350" y="4891980"/>
            <a:ext cx="417195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Route: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Send easy majority to the small model, escalate failures.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05600" y="2815530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05600" y="3615630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705600" y="4415730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05600" y="4911030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The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Compounding</a:t>
            </a:r>
            <a:r>
              <a:rPr b="0" sz="3600" i="0" u="none">
                <a:solidFill>
                  <a:srgbClr val="0F172A"/>
                </a:solidFill>
                <a:latin typeface="Inter ExtraBold"/>
              </a:rPr>
              <a:t> Problem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0155"/>
            <a:ext cx="10972800" cy="452824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09600" y="17201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Always measure the base model on the identical set before claiming any improvement.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09600" y="2310705"/>
          <a:ext cx="10934698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4077890"/>
                <a:gridCol w="2186880"/>
                <a:gridCol w="2153989"/>
                <a:gridCol w="2515939"/>
              </a:tblGrid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Model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Task A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Task B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Overall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1" sz="1200" i="0" u="none">
                          <a:solidFill>
                            <a:srgbClr val="334155"/>
                          </a:solidFill>
                          <a:latin typeface="Inter"/>
                        </a:rPr>
                        <a:t>Smaller model, base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2%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30%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Smaller model, fine-tuned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19125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Larger model, fine-tuned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98%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95%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97%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The Column That Makes It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Honest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524500" y="2460277"/>
            <a:ext cx="1143000" cy="762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40605" y="2917477"/>
            <a:ext cx="6310788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000" i="0" u="none">
                <a:solidFill>
                  <a:srgbClr val="0F172A"/>
                </a:solidFill>
                <a:latin typeface="Inter ExtraBold"/>
              </a:rPr>
              <a:t>Advanced </a:t>
            </a:r>
            <a:r>
              <a:rPr b="0" sz="6000" i="0" u="none">
                <a:solidFill>
                  <a:srgbClr val="2563EB"/>
                </a:solidFill>
                <a:latin typeface="Inter ExtraBold"/>
              </a:rPr>
              <a:t>Track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28700" y="4031902"/>
            <a:ext cx="101346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475569"/>
                </a:solidFill>
                <a:latin typeface="Inter SemiBold"/>
              </a:rPr>
              <a:t>Evaluation that holds up, MoE traps, and memory management as a first-class design input.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09600" y="1355377"/>
            <a:ext cx="10972800" cy="10287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1100" y="1545877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Leakage: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Scores climb, production does not. </a:t>
            </a:r>
            <a:r>
              <a:rPr b="0" sz="1500" i="1" u="none">
                <a:solidFill>
                  <a:srgbClr val="334155"/>
                </a:solidFill>
                <a:latin typeface="Inter SemiBold"/>
              </a:rPr>
              <a:t>Fix: Split by episode, hold out whole units, check for near duplicates.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09600" y="2669827"/>
            <a:ext cx="10972800" cy="10287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81100" y="2860327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Easy Set: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Everything passes, no signal between models. </a:t>
            </a:r>
            <a:r>
              <a:rPr b="0" sz="1500" i="1" u="none">
                <a:solidFill>
                  <a:srgbClr val="334155"/>
                </a:solidFill>
                <a:latin typeface="Inter SemiBold"/>
              </a:rPr>
              <a:t>Fix: Stratify by difficulty, keep a deliberately nasty 20%.</a:t>
            </a:r>
          </a:p>
        </p:txBody>
      </p:sp>
      <p:sp>
        <p:nvSpPr>
          <p:cNvPr id="6" name="Rectangle 5"/>
          <p:cNvSpPr/>
          <p:nvPr/>
        </p:nvSpPr>
        <p:spPr>
          <a:xfrm>
            <a:off x="609600" y="3984277"/>
            <a:ext cx="10972800" cy="10287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1100" y="4174777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Proxy Drift: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The metric improves while the product gets worse. </a:t>
            </a:r>
            <a:r>
              <a:rPr b="0" sz="1500" i="1" u="none">
                <a:solidFill>
                  <a:srgbClr val="334155"/>
                </a:solidFill>
                <a:latin typeface="Inter SemiBold"/>
              </a:rPr>
              <a:t>Fix: State what the proxy misses, review examples by hand regularly.</a:t>
            </a:r>
          </a:p>
        </p:txBody>
      </p:sp>
      <p:sp>
        <p:nvSpPr>
          <p:cNvPr id="8" name="Rectangle 7"/>
          <p:cNvSpPr/>
          <p:nvPr/>
        </p:nvSpPr>
        <p:spPr>
          <a:xfrm>
            <a:off x="609600" y="5298727"/>
            <a:ext cx="10972800" cy="10287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1100" y="5489227"/>
            <a:ext cx="10210800" cy="6477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Unequal Conditions: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One model handicapped by the harness. </a:t>
            </a:r>
            <a:r>
              <a:rPr b="0" sz="1500" i="1" u="none">
                <a:solidFill>
                  <a:srgbClr val="334155"/>
                </a:solidFill>
                <a:latin typeface="Inter SemiBold"/>
              </a:rPr>
              <a:t>Fix: Standardize decoding params, template, and token budget.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09600" y="2365027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09600" y="3679477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09600" y="4993927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9600" y="6308377"/>
            <a:ext cx="10972800" cy="19050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593502"/>
            <a:ext cx="285750" cy="247650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9150" y="2907952"/>
            <a:ext cx="200025" cy="2476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9150" y="4222402"/>
            <a:ext cx="228600" cy="24765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9150" y="5536852"/>
            <a:ext cx="285750" cy="24765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244822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The Four Ways an Eval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Quietly Lies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936277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10705"/>
            <a:ext cx="3467100" cy="393769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2450" y="2310705"/>
            <a:ext cx="3467100" cy="3937694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5300" y="2310705"/>
            <a:ext cx="3467100" cy="3937694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7201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An unvalidated judge is an opinion with a decimal point. Prefer mechanical checks first.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450" y="2729805"/>
            <a:ext cx="762000" cy="762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93345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Measure Agreement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33450" y="4196655"/>
            <a:ext cx="2819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Label 50 cases by hand. Measure agreement between judge and human. Below ~80%, the judge is not usable as a gate.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686300" y="2729805"/>
            <a:ext cx="762000" cy="7620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68630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Control Biases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86300" y="4196655"/>
            <a:ext cx="2819400" cy="1219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Position bias, length bias, and self-preference. Randomize order, strip style, and use a judge from a </a:t>
            </a:r>
            <a:r>
              <a:rPr b="0" sz="1500" i="1" u="none">
                <a:solidFill>
                  <a:srgbClr val="334155"/>
                </a:solidFill>
                <a:latin typeface="Inter SemiBold"/>
              </a:rPr>
              <a:t>different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family.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9150" y="2729805"/>
            <a:ext cx="762000" cy="7620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439150" y="3729930"/>
            <a:ext cx="296037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Pin the 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39150" y="4196655"/>
            <a:ext cx="28194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A judge that silently upgrades invalidates historical scores. Report judged numbers with the judge named, like an instrument.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76325" y="2920305"/>
            <a:ext cx="476250" cy="3810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876800" y="2920305"/>
            <a:ext cx="381000" cy="3810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677275" y="2920305"/>
            <a:ext cx="285750" cy="3810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Validate the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Judge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1720155"/>
            <a:ext cx="5295900" cy="4528244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86500" y="1720155"/>
            <a:ext cx="5295900" cy="452824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028700" y="21392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What Happens Per Token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28700" y="2605980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A router picks top of experts. The rest sit idle but resident in memory.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4491930"/>
            <a:ext cx="4457700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475569"/>
                </a:solidFill>
                <a:latin typeface="Inter SemiBold"/>
              </a:rPr>
              <a:t>A 30B total / 3B active MoE generates like a 3B, but needs the RAM of a 30B.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05600" y="2139255"/>
            <a:ext cx="4680585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2100" i="0" u="none">
                <a:solidFill>
                  <a:srgbClr val="0F172A"/>
                </a:solidFill>
                <a:latin typeface="Inter ExtraBold"/>
              </a:rPr>
              <a:t>Where It Wins and Loses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05100" y="2615505"/>
            <a:ext cx="228600" cy="285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9450" y="2615505"/>
            <a:ext cx="228600" cy="2857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314450" y="3358455"/>
            <a:ext cx="4171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Compute: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Scales with active experts.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14450" y="3853755"/>
            <a:ext cx="417195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Black"/>
              </a:rPr>
              <a:t>Memory: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Scales with ALL experts.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91350" y="2748855"/>
            <a:ext cx="4171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10B981"/>
                </a:solidFill>
                <a:latin typeface="Inter Black"/>
              </a:rPr>
              <a:t>Wins: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You have memory, need throughput, have a broad task mix, or run one deployment for varied work.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1350" y="3853755"/>
            <a:ext cx="41719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EF4444"/>
                </a:solidFill>
                <a:latin typeface="Inter Black"/>
              </a:rPr>
              <a:t>Loses:</a:t>
            </a:r>
            <a:r>
              <a:rPr b="0" sz="1500" i="0" u="none">
                <a:solidFill>
                  <a:srgbClr val="334155"/>
                </a:solidFill>
                <a:latin typeface="Inter SemiBold"/>
              </a:rPr>
              <a:t> Memory-constrained edge, high concurrency on one host, fine-tuning, or very narrow single tasks.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28700" y="3377505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700" y="3872805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705600" y="2767905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705600" y="3872805"/>
            <a:ext cx="104775" cy="2762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60"/>
              </a:lnSpc>
            </a:pPr>
            <a:r>
              <a:rPr b="0" sz="1350" i="0" u="none">
                <a:solidFill>
                  <a:srgbClr val="2563EB"/>
                </a:solidFill>
                <a:latin typeface="Inter SemiBold"/>
              </a:rPr>
              <a:t>■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Mixture of Experts (MoE)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Trade-offs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710755"/>
            <a:ext cx="3403550" cy="3293715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94150" y="2710755"/>
            <a:ext cx="3403550" cy="329371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8700" y="2710755"/>
            <a:ext cx="3403550" cy="329371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09600" y="1720155"/>
            <a:ext cx="10972800" cy="3656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b="0" sz="1800" i="0" u="none">
                <a:solidFill>
                  <a:srgbClr val="334155"/>
                </a:solidFill>
                <a:latin typeface="Inter SemiBold"/>
              </a:rPr>
              <a:t>Weights are only the part you budgeted for.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8700" y="3320355"/>
            <a:ext cx="2565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0" sz="9000" i="0" u="none">
                <a:solidFill>
                  <a:srgbClr val="2563EB"/>
                </a:solidFill>
                <a:latin typeface="JetBrains Mono ExtraBold"/>
              </a:rPr>
              <a:t>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8700" y="4606230"/>
            <a:ext cx="2565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Inter ExtraBold"/>
              </a:rPr>
              <a:t>WEIGHTS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28700" y="5120580"/>
            <a:ext cx="2565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Inter SemiBold"/>
              </a:rPr>
              <a:t>Params × Bytes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813250" y="3320355"/>
            <a:ext cx="2565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0" sz="9000" i="0" u="none">
                <a:solidFill>
                  <a:srgbClr val="2563EB"/>
                </a:solidFill>
                <a:latin typeface="JetBrains Mono ExtraBold"/>
              </a:rPr>
              <a:t>KV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13250" y="4606230"/>
            <a:ext cx="2565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Inter ExtraBold"/>
              </a:rPr>
              <a:t>CACHE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13250" y="5120580"/>
            <a:ext cx="2565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Inter SemiBold"/>
              </a:rPr>
              <a:t>Grows with Ctx × Batch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97800" y="3320355"/>
            <a:ext cx="2565350" cy="1143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000"/>
              </a:lnSpc>
            </a:pPr>
            <a:r>
              <a:rPr b="0" sz="9000" i="0" u="none">
                <a:solidFill>
                  <a:srgbClr val="2563EB"/>
                </a:solidFill>
                <a:latin typeface="JetBrains Mono ExtraBold"/>
              </a:rPr>
              <a:t>OH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97800" y="4606230"/>
            <a:ext cx="25653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2100" i="0" u="none">
                <a:solidFill>
                  <a:srgbClr val="0F172A"/>
                </a:solidFill>
                <a:latin typeface="Inter ExtraBold"/>
              </a:rPr>
              <a:t>OVERHEAD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97800" y="5120580"/>
            <a:ext cx="2565350" cy="27429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160"/>
              </a:lnSpc>
            </a:pPr>
            <a:r>
              <a:rPr b="0" sz="1350" i="0" u="none">
                <a:solidFill>
                  <a:srgbClr val="64748B"/>
                </a:solidFill>
                <a:latin typeface="Inter SemiBold"/>
              </a:rPr>
              <a:t>Transients &amp; Fragmentation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Where the Memory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Actually Goes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09600" y="1720155"/>
            <a:ext cx="109728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400"/>
              </a:lnSpc>
            </a:pPr>
            <a:r>
              <a:rPr b="0" sz="1500" i="0" u="none">
                <a:solidFill>
                  <a:srgbClr val="334155"/>
                </a:solidFill>
                <a:latin typeface="Inter SemiBold"/>
              </a:rPr>
              <a:t>Cheapest and least damaging first. Reach for the top levers before quantizing further.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609600" y="2215455"/>
          <a:ext cx="10934699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3448198"/>
                <a:gridCol w="3332857"/>
                <a:gridCol w="4153644"/>
              </a:tblGrid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Lever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Effect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650" i="0" u="none">
                          <a:solidFill>
                            <a:srgbClr val="0F172A"/>
                          </a:solidFill>
                          <a:latin typeface="Inter ExtraBold"/>
                        </a:rPr>
                        <a:t>Cost / Impact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1. Cut actual context sent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Linear reduction in cache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None, usually improves quality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2. Lower context limit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Caps worst-case allocation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Long inputs truncate (guard them)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3. Quantize KV cache (8-bit)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Roughly halves cache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Small, usually acceptable quality hit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4. Reduce concurrency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Linear reduction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Throughput falls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609600"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5. Quantize weights further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Reduces weight memory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1200" i="0" u="none">
                          <a:solidFill>
                            <a:srgbClr val="334155"/>
                          </a:solidFill>
                          <a:latin typeface="Inter SemiBold"/>
                        </a:rPr>
                        <a:t>Quality falls, must measure it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09600" y="609600"/>
            <a:ext cx="11521440" cy="586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4320"/>
              </a:lnSpc>
            </a:pPr>
            <a:r>
              <a:rPr b="0" sz="3600" i="0" u="none">
                <a:solidFill>
                  <a:srgbClr val="0F172A"/>
                </a:solidFill>
                <a:latin typeface="Inter ExtraBold"/>
              </a:rPr>
              <a:t>Seven Memory Levers </a:t>
            </a:r>
            <a:r>
              <a:rPr b="0" sz="3600" i="0" u="none">
                <a:solidFill>
                  <a:srgbClr val="2563EB"/>
                </a:solidFill>
                <a:latin typeface="Inter ExtraBold"/>
              </a:rPr>
              <a:t>(In Order)</a:t>
            </a:r>
          </a:p>
        </p:txBody>
      </p:sp>
      <p:sp>
        <p:nvSpPr>
          <p:cNvPr id="5" name="Rectangle 4"/>
          <p:cNvSpPr/>
          <p:nvPr/>
        </p:nvSpPr>
        <p:spPr>
          <a:xfrm>
            <a:off x="609600" y="1301055"/>
            <a:ext cx="1097280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0311" y="1033611"/>
            <a:ext cx="11011376" cy="9239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6000" i="0" u="none">
                <a:solidFill>
                  <a:srgbClr val="0F172A"/>
                </a:solidFill>
                <a:latin typeface="Inter ExtraBold"/>
              </a:rPr>
              <a:t>THE ADVANCED </a:t>
            </a:r>
            <a:r>
              <a:rPr b="0" sz="6000" i="0" u="none">
                <a:solidFill>
                  <a:srgbClr val="2563EB"/>
                </a:solidFill>
                <a:latin typeface="Inter ExtraBold"/>
              </a:rPr>
              <a:t>CHECKLIST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43162" y="2243286"/>
            <a:ext cx="7305675" cy="198090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3120"/>
              </a:lnSpc>
            </a:pPr>
            <a:r>
              <a:rPr b="0" sz="1950" i="0" u="none">
                <a:solidFill>
                  <a:srgbClr val="334155"/>
                </a:solidFill>
                <a:latin typeface="Inter SemiBold"/>
              </a:rPr>
              <a:t>1. Golden set composed by slice, with provenance. </a:t>
            </a:r>
            <a:r>
              <a:t>
</a:t>
            </a:r>
            <a:r>
              <a:rPr b="0" sz="1950" i="0" u="none">
                <a:solidFill>
                  <a:srgbClr val="334155"/>
                </a:solidFill>
                <a:latin typeface="Inter SemiBold"/>
              </a:rPr>
              <a:t> 2. Mechanical checks before judged ones; validate the judge. </a:t>
            </a:r>
            <a:r>
              <a:t>
</a:t>
            </a:r>
            <a:r>
              <a:rPr b="0" sz="1950" i="0" u="none">
                <a:solidFill>
                  <a:srgbClr val="334155"/>
                </a:solidFill>
                <a:latin typeface="Inter SemiBold"/>
              </a:rPr>
              <a:t> 3. Error bars on reported numbers; compare paired cases. </a:t>
            </a:r>
            <a:r>
              <a:t>
</a:t>
            </a:r>
            <a:r>
              <a:rPr b="0" sz="1950" i="0" u="none">
                <a:solidFill>
                  <a:srgbClr val="334155"/>
                </a:solidFill>
                <a:latin typeface="Inter SemiBold"/>
              </a:rPr>
              <a:t> 4. Size memory for weights + cache + concurrency. </a:t>
            </a:r>
            <a:r>
              <a:t>
</a:t>
            </a:r>
            <a:r>
              <a:rPr b="0" sz="1950" i="0" u="none">
                <a:solidFill>
                  <a:srgbClr val="334155"/>
                </a:solidFill>
                <a:latin typeface="Inter SemiBold"/>
              </a:rPr>
              <a:t> 5. Prompts versioned with model ID and decoding params.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2804219" y="4795688"/>
            <a:ext cx="6583560" cy="381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0865" y="5214788"/>
            <a:ext cx="2150268" cy="4667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b="0" sz="3000" i="0" u="none">
                <a:solidFill>
                  <a:srgbClr val="0F172A"/>
                </a:solidFill>
                <a:latin typeface="Inter ExtraBold"/>
              </a:rP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