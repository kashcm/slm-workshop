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nobody needs ML background. Ask for a show of hands on who has run a model locally, and pitch the pace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They are the promise of the session and you will call back to them at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parts 1 to 3 are vocabulary, 4 to 5 are mechanics, 6 to 9 are judgement. The judgement half is where the value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class. Everything technical afterwards is in service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Statelessness explains why context windows and prompt cost dominate every design conversation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truncation point comes back hard in part 7. Flag it now so the callback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trips up almost everyone reading a model card for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this firmly. It is the single most expensive gotcha in the whole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write these four down. It is the single most reusable artifact of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says "the model is slow", the first question is which phase. The fixes are completely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live for the model you are demoing. Making it concrete beats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definition debates in the room. Redirect to sufficiency for a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floors to remember: sub 4B for extraction and classification, 7B to 9B before you attempt agentic tool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hand column is not a list of things to fix with a bigger prompt. It is a list of things to design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four axis names on a whiteboard and keep them visible for the rest of the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It is the baseline against which the next three slides are contrasts.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people most often misjudge when sizing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world example: a family changed from hybrid to dense between two generations. The same recipe behaved completely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project hit exactly this: official weights would not convert, and a community conversion had to be used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 models are the most forgotten row and often the cheapest win in a retrieval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both a technical warning and an evaluation ethics point. It lands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message: you will not pretrain. Knowing the lineage still helps you predict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them to capture licence and provenance per model in whatever registry they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framing keeps the next few slides from feeling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pre empts the most common bad fine-tuning proposal you will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licence point is a genuine legal risk in commercial settings, worth stating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the honest default: take the 4 bit build, measure, and only move if your eval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tenant adapters is a genuinely strong B2B argument and worth dwelling on for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up the regression check finding later. Make the forward reference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uses the local stack. Mention vLLM only so they know where to go at production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deliberately broad bands. The point is detecting a claim that is off by an order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the most expensive mistake in the room: self hosting for imagined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 sit for a beat before you explain it. It does the persuasion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lever they have been reaching for. It is almost always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Constrained decoding is the single highest leverage item on this slide and the most often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 validator, not the model, is what guarantees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slide prevents most wasted fine-tuning projects. Spend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subtle poisoning: it passes every check written against the database and fails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is the technique worth stealing from this deck. It generalises to any agentic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take one dataset rule away, make it the episode level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by this point in a project, training is the least interesting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 second check catches this. Tell them to make it a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identical scores are the most reusable finding: good data transfers across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part 7 on this. It is the intellectually honest note the whole section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do exactly one thing after this class, it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 beats judged whenever you can define a pass condition. Cheaper and far more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six is the one this deck added. The first five come from the field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blunt here. Credibility earned on this slide pays off on every other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these. They are portable to any model, any vendor, any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both documents here and point at the checklist on the back of the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1783080"/>
            <a:ext cx="10908792"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Small Language Models</a:t>
            </a:r>
            <a:endParaRPr lang="en-US" sz="5000" dirty="0"/>
          </a:p>
        </p:txBody>
      </p:sp>
      <p:sp>
        <p:nvSpPr>
          <p:cNvPr id="3" name="Text 1"/>
          <p:cNvSpPr txBox="1"/>
          <p:nvPr/>
        </p:nvSpPr>
        <p:spPr>
          <a:xfrm>
            <a:off x="640080" y="2606040"/>
            <a:ext cx="10908792" cy="868680"/>
          </a:xfrm>
          <a:prstGeom prst="rect">
            <a:avLst/>
          </a:prstGeom>
          <a:noFill/>
          <a:ln/>
        </p:spPr>
        <p:txBody>
          <a:bodyPr wrap="square" lIns="0" tIns="0" rIns="0" bIns="0" rtlCol="0" anchor="ctr"/>
          <a:lstStyle/>
          <a:p>
            <a:pPr indent="0" marL="0">
              <a:buNone/>
            </a:pPr>
            <a:r>
              <a:rPr lang="en-US" sz="5000" b="1" dirty="0">
                <a:solidFill>
                  <a:srgbClr val="FF6B35"/>
                </a:solidFill>
                <a:latin typeface="Cambria" pitchFamily="34" charset="0"/>
                <a:ea typeface="Cambria" pitchFamily="34" charset="-122"/>
                <a:cs typeface="Cambria" pitchFamily="34" charset="-120"/>
              </a:rPr>
              <a:t>From First Principles</a:t>
            </a:r>
            <a:endParaRPr lang="en-US" sz="5000" dirty="0"/>
          </a:p>
        </p:txBody>
      </p:sp>
      <p:sp>
        <p:nvSpPr>
          <p:cNvPr id="4" name="Text 2"/>
          <p:cNvSpPr txBox="1"/>
          <p:nvPr/>
        </p:nvSpPr>
        <p:spPr>
          <a:xfrm>
            <a:off x="640080" y="3657600"/>
            <a:ext cx="10908792" cy="457200"/>
          </a:xfrm>
          <a:prstGeom prst="rect">
            <a:avLst/>
          </a:prstGeom>
          <a:noFill/>
          <a:ln/>
        </p:spPr>
        <p:txBody>
          <a:bodyPr wrap="square" lIns="0" tIns="0" rIns="0" bIns="0" rtlCol="0" anchor="ctr"/>
          <a:lstStyle/>
          <a:p>
            <a:pPr indent="0" marL="0">
              <a:buNone/>
            </a:pPr>
            <a:r>
              <a:rPr lang="en-US" sz="1700" dirty="0">
                <a:solidFill>
                  <a:srgbClr val="A9B6C4"/>
                </a:solidFill>
                <a:latin typeface="Calibri" pitchFamily="34" charset="0"/>
                <a:ea typeface="Calibri" pitchFamily="34" charset="-122"/>
                <a:cs typeface="Calibri" pitchFamily="34" charset="-120"/>
              </a:rPr>
              <a:t>What they are  ·  how they are built  ·  how to make them reliable  ·  when to walk away</a:t>
            </a:r>
            <a:endParaRPr lang="en-US" sz="1700" dirty="0"/>
          </a:p>
        </p:txBody>
      </p:sp>
      <p:sp>
        <p:nvSpPr>
          <p:cNvPr id="5" name="Shape 3"/>
          <p:cNvSpPr/>
          <p:nvPr/>
        </p:nvSpPr>
        <p:spPr>
          <a:xfrm>
            <a:off x="640080" y="4754880"/>
            <a:ext cx="118872" cy="118872"/>
          </a:xfrm>
          <a:prstGeom prst="ellipse">
            <a:avLst/>
          </a:prstGeom>
          <a:solidFill>
            <a:srgbClr val="FF6B35"/>
          </a:solidFill>
          <a:ln/>
        </p:spPr>
      </p:sp>
      <p:sp>
        <p:nvSpPr>
          <p:cNvPr id="6" name="Text 4"/>
          <p:cNvSpPr txBox="1"/>
          <p:nvPr/>
        </p:nvSpPr>
        <p:spPr>
          <a:xfrm>
            <a:off x="896112" y="4645152"/>
            <a:ext cx="10634472" cy="365760"/>
          </a:xfrm>
          <a:prstGeom prst="rect">
            <a:avLst/>
          </a:prstGeom>
          <a:noFill/>
          <a:ln/>
        </p:spPr>
        <p:txBody>
          <a:bodyPr wrap="square" lIns="0" tIns="0" rIns="0" bIns="0" rtlCol="0" anchor="ctr"/>
          <a:lstStyle/>
          <a:p>
            <a:pPr indent="0" marL="0">
              <a:buNone/>
            </a:pPr>
            <a:r>
              <a:rPr lang="en-US" sz="1300" dirty="0">
                <a:solidFill>
                  <a:srgbClr val="A9B6C4"/>
                </a:solidFill>
                <a:latin typeface="Courier New" pitchFamily="34" charset="0"/>
                <a:ea typeface="Courier New" pitchFamily="34" charset="-122"/>
                <a:cs typeface="Courier New" pitchFamily="34" charset="-120"/>
              </a:rPr>
              <a:t>No prior background assumed. We start at "what is a token".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By the end you will be able to</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Six concrete capabilities, not a vibe</a:t>
            </a:r>
            <a:endParaRPr lang="en-US" sz="1500" dirty="0"/>
          </a:p>
        </p:txBody>
      </p:sp>
      <p:sp>
        <p:nvSpPr>
          <p:cNvPr id="4" name="Text 2"/>
          <p:cNvSpPr txBox="1"/>
          <p:nvPr/>
        </p:nvSpPr>
        <p:spPr>
          <a:xfrm>
            <a:off x="640080" y="1828800"/>
            <a:ext cx="10451592" cy="2761488"/>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Read any model card and say what the model is, how big it really is, and what it will cost you to run.</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Explain the difference between a dense model, a mixture of experts, and a hybrid, and why it changes your tooling.</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Choose a quantization level on purpose instead of copying a tutorial.</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Design a task so that a small model can actually hit your reliability bar.</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Decide correctly between prompting, constraining, routing, and fine-tuning.</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Run and evaluate a fine-tune end to end, and know when not to.</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route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Nine parts, foundations first</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914400"/>
        </p:xfrm>
        <a:graphic>
          <a:graphicData uri="http://schemas.openxmlformats.org/drawingml/2006/table">
            <a:tbl>
              <a:tblPr/>
              <a:tblGrid>
                <a:gridCol w="731520"/>
                <a:gridCol w="3108960"/>
                <a:gridCol w="7068312"/>
              </a:tblGrid>
              <a:tr h="30175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get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0175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Foundations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Tokens, parameters, context, memory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0175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What "small" means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The size bands and what each can do</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0175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Types of SLM</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Architecture, role, lineage, precision</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0175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How they are made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Pretraining, distillation, pruning, quantization, tuning</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0175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Running them</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Formats, runtimes, hardware, cost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0175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Making them reliable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The compounding problem and the four fixes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0175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Adapting them</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 complete fine-tuning run</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0175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Evaluating</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Golden sets and honest numbers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0175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Deciding</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The sequence and the checklist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If you remember one thing</a:t>
            </a:r>
            <a:endParaRPr lang="en-US" sz="3300" dirty="0"/>
          </a:p>
        </p:txBody>
      </p:sp>
      <p:sp>
        <p:nvSpPr>
          <p:cNvPr id="3" name="Shape 1"/>
          <p:cNvSpPr/>
          <p:nvPr/>
        </p:nvSpPr>
        <p:spPr>
          <a:xfrm>
            <a:off x="640080" y="2011680"/>
            <a:ext cx="10908792" cy="2286000"/>
          </a:xfrm>
          <a:prstGeom prst="roundRect">
            <a:avLst>
              <a:gd name="adj" fmla="val 2400"/>
            </a:avLst>
          </a:prstGeom>
          <a:solidFill>
            <a:srgbClr val="1F2C3B"/>
          </a:solidFill>
          <a:ln w="12700">
            <a:solidFill>
              <a:srgbClr val="1F2C3B"/>
            </a:solidFill>
            <a:prstDash val="solid"/>
          </a:ln>
        </p:spPr>
      </p:sp>
      <p:sp>
        <p:nvSpPr>
          <p:cNvPr id="4" name="Text 2"/>
          <p:cNvSpPr txBox="1"/>
          <p:nvPr/>
        </p:nvSpPr>
        <p:spPr>
          <a:xfrm>
            <a:off x="1097280" y="2423160"/>
            <a:ext cx="9994392"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Reliability comes from architecture, not from parameters.</a:t>
            </a:r>
            <a:endParaRPr lang="en-US" sz="3000" dirty="0"/>
          </a:p>
        </p:txBody>
      </p:sp>
      <p:sp>
        <p:nvSpPr>
          <p:cNvPr id="5" name="Text 3"/>
          <p:cNvSpPr txBox="1"/>
          <p:nvPr/>
        </p:nvSpPr>
        <p:spPr>
          <a:xfrm>
            <a:off x="1097280" y="3246120"/>
            <a:ext cx="9994392" cy="731520"/>
          </a:xfrm>
          <a:prstGeom prst="rect">
            <a:avLst/>
          </a:prstGeom>
          <a:noFill/>
          <a:ln/>
        </p:spPr>
        <p:txBody>
          <a:bodyPr wrap="square" lIns="0" tIns="0" rIns="0" bIns="0" rtlCol="0" anchor="ctr"/>
          <a:lstStyle/>
          <a:p>
            <a:pPr indent="0" marL="0">
              <a:buNone/>
            </a:pPr>
            <a:r>
              <a:rPr lang="en-US" sz="1700" dirty="0">
                <a:solidFill>
                  <a:srgbClr val="A9B6C4"/>
                </a:solidFill>
                <a:latin typeface="Calibri" pitchFamily="34" charset="0"/>
                <a:ea typeface="Calibri" pitchFamily="34" charset="-122"/>
                <a:cs typeface="Calibri" pitchFamily="34" charset="-120"/>
              </a:rPr>
              <a:t>Decompose the task, verify every step, then buy the cheapest model that clears the bar.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01</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Foundations</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What a language model is, in the four numbers that actually describe one.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A language model predicts the next token</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That is the whole mechanism. Everything else is scaffolding.</a:t>
            </a:r>
            <a:endParaRPr lang="en-US" sz="1500" dirty="0"/>
          </a:p>
        </p:txBody>
      </p:sp>
      <p:sp>
        <p:nvSpPr>
          <p:cNvPr id="4" name="Text 2"/>
          <p:cNvSpPr txBox="1"/>
          <p:nvPr/>
        </p:nvSpPr>
        <p:spPr>
          <a:xfrm>
            <a:off x="640080" y="1828800"/>
            <a:ext cx="10543032" cy="1097280"/>
          </a:xfrm>
          <a:prstGeom prst="rect">
            <a:avLst/>
          </a:prstGeom>
          <a:noFill/>
          <a:ln/>
        </p:spPr>
        <p:txBody>
          <a:bodyPr wrap="square" lIns="0" tIns="0" rIns="0" bIns="0" rtlCol="0" anchor="t"/>
          <a:lstStyle/>
          <a:p>
            <a:pPr indent="0" marL="0">
              <a:lnSpc>
                <a:spcPts val="2200"/>
              </a:lnSpc>
              <a:buNone/>
            </a:pPr>
            <a:r>
              <a:rPr lang="en-US" sz="1600" dirty="0">
                <a:solidFill>
                  <a:srgbClr val="2A3746"/>
                </a:solidFill>
                <a:latin typeface="Calibri" pitchFamily="34" charset="0"/>
                <a:ea typeface="Calibri" pitchFamily="34" charset="-122"/>
                <a:cs typeface="Calibri" pitchFamily="34" charset="-120"/>
              </a:rPr>
              <a:t>Given a sequence of tokens, the model outputs a probability for every token in its vocabulary. Sampling picks one, appends it, and the loop runs again. There is no database lookup, no reasoning engine, no memory between calls.</a:t>
            </a:r>
            <a:endParaRPr lang="en-US" sz="1600" dirty="0"/>
          </a:p>
        </p:txBody>
      </p:sp>
      <p:sp>
        <p:nvSpPr>
          <p:cNvPr id="5" name="Shape 3"/>
          <p:cNvSpPr/>
          <p:nvPr/>
        </p:nvSpPr>
        <p:spPr>
          <a:xfrm>
            <a:off x="640080" y="2834640"/>
            <a:ext cx="10908792" cy="1371600"/>
          </a:xfrm>
          <a:prstGeom prst="roundRect">
            <a:avLst>
              <a:gd name="adj" fmla="val 4000"/>
            </a:avLst>
          </a:prstGeom>
          <a:solidFill>
            <a:srgbClr val="F1F4F7"/>
          </a:solidFill>
          <a:ln w="12700">
            <a:solidFill>
              <a:srgbClr val="E1E7ED"/>
            </a:solidFill>
            <a:prstDash val="solid"/>
          </a:ln>
        </p:spPr>
      </p:sp>
      <p:sp>
        <p:nvSpPr>
          <p:cNvPr id="6" name="Text 4"/>
          <p:cNvSpPr txBox="1"/>
          <p:nvPr/>
        </p:nvSpPr>
        <p:spPr>
          <a:xfrm>
            <a:off x="1005840" y="2999232"/>
            <a:ext cx="10177272" cy="32004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Two consequences you will feel all day</a:t>
            </a:r>
            <a:endParaRPr lang="en-US" sz="1300" dirty="0"/>
          </a:p>
        </p:txBody>
      </p:sp>
      <p:sp>
        <p:nvSpPr>
          <p:cNvPr id="7" name="Text 5"/>
          <p:cNvSpPr txBox="1"/>
          <p:nvPr/>
        </p:nvSpPr>
        <p:spPr>
          <a:xfrm>
            <a:off x="1005840" y="3310128"/>
            <a:ext cx="10085832" cy="1225296"/>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The model has no state. Anything it should know must be in the prompt, every single call.</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Output is sampled, so identical inputs can give different outputs unless temperature is zero.</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Tokens are the unit of everything</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Cost, speed, limits and truncation are all counted in tokens</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A token is a chunk of text, roughly three to four characters of English. Not a word and not a character.</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Common words are one token. Rare words, code identifiers, and non-English text split into several.</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Every model has its own tokenizer, so the same text is a different number of tokens on different models.</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Useful rule of thumb: 100 tokens is about 75 English words. One page of prose is roughly 500 tokens.</a:t>
            </a:r>
            <a:endParaRPr lang="en-US" sz="1550" dirty="0"/>
          </a:p>
        </p:txBody>
      </p:sp>
      <p:sp>
        <p:nvSpPr>
          <p:cNvPr id="5" name="Shape 3"/>
          <p:cNvSpPr/>
          <p:nvPr/>
        </p:nvSpPr>
        <p:spPr>
          <a:xfrm>
            <a:off x="640080" y="4023360"/>
            <a:ext cx="10908792" cy="1051560"/>
          </a:xfrm>
          <a:prstGeom prst="roundRect">
            <a:avLst>
              <a:gd name="adj" fmla="val 5217"/>
            </a:avLst>
          </a:prstGeom>
          <a:solidFill>
            <a:srgbClr val="F1F4F7"/>
          </a:solidFill>
          <a:ln w="12700">
            <a:solidFill>
              <a:srgbClr val="E1E7ED"/>
            </a:solidFill>
            <a:prstDash val="solid"/>
          </a:ln>
        </p:spPr>
      </p:sp>
      <p:sp>
        <p:nvSpPr>
          <p:cNvPr id="6" name="Text 4"/>
          <p:cNvSpPr txBox="1"/>
          <p:nvPr/>
        </p:nvSpPr>
        <p:spPr>
          <a:xfrm>
            <a:off x="1005840" y="4206240"/>
            <a:ext cx="10177272" cy="731520"/>
          </a:xfrm>
          <a:prstGeom prst="rect">
            <a:avLst/>
          </a:prstGeom>
          <a:noFill/>
          <a:ln/>
        </p:spPr>
        <p:txBody>
          <a:bodyPr wrap="square" lIns="0" tIns="0" rIns="0" bIns="0" rtlCol="0" anchor="ctr"/>
          <a:lstStyle/>
          <a:p>
            <a:pPr indent="0" marL="0">
              <a:lnSpc>
                <a:spcPts val="1900"/>
              </a:lnSpc>
              <a:buNone/>
            </a:pPr>
            <a:r>
              <a:rPr lang="en-US" sz="1350" dirty="0">
                <a:solidFill>
                  <a:srgbClr val="2A3746"/>
                </a:solidFill>
                <a:latin typeface="Calibri" pitchFamily="34" charset="0"/>
                <a:ea typeface="Calibri" pitchFamily="34" charset="-122"/>
                <a:cs typeface="Calibri" pitchFamily="34" charset="-120"/>
              </a:rPr>
              <a:t>Why you care: you are billed per token, you are rate limited per token, your context window is measured in tokens, and truncation silently deletes tokens from one end of your prompt.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Parameters are the learned weights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The headline number in every model name</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A 3B model has roughly three billion numbers learned during training. That is the "3B" in the name.</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Parameters are frozen at inference. Running a model does not change it.</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More parameters generally means more capability and always means more memory and less speed.</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Parameter count alone does not tell you the memory cost. Precision does that, and we get to it shortly.</a:t>
            </a:r>
            <a:endParaRPr lang="en-US" sz="1550" dirty="0"/>
          </a:p>
        </p:txBody>
      </p:sp>
      <p:sp>
        <p:nvSpPr>
          <p:cNvPr id="5" name="Shape 3"/>
          <p:cNvSpPr/>
          <p:nvPr/>
        </p:nvSpPr>
        <p:spPr>
          <a:xfrm>
            <a:off x="640080" y="3977640"/>
            <a:ext cx="10908792" cy="1097280"/>
          </a:xfrm>
          <a:prstGeom prst="roundRect">
            <a:avLst>
              <a:gd name="adj" fmla="val 5000"/>
            </a:avLst>
          </a:prstGeom>
          <a:solidFill>
            <a:srgbClr val="F1F4F7"/>
          </a:solidFill>
          <a:ln w="12700">
            <a:solidFill>
              <a:srgbClr val="E1E7ED"/>
            </a:solidFill>
            <a:prstDash val="solid"/>
          </a:ln>
        </p:spPr>
      </p:sp>
      <p:sp>
        <p:nvSpPr>
          <p:cNvPr id="6" name="Text 4"/>
          <p:cNvSpPr txBox="1"/>
          <p:nvPr/>
        </p:nvSpPr>
        <p:spPr>
          <a:xfrm>
            <a:off x="1005840" y="4160520"/>
            <a:ext cx="10177272" cy="731520"/>
          </a:xfrm>
          <a:prstGeom prst="rect">
            <a:avLst/>
          </a:prstGeom>
          <a:noFill/>
          <a:ln/>
        </p:spPr>
        <p:txBody>
          <a:bodyPr wrap="square" lIns="0" tIns="0" rIns="0" bIns="0" rtlCol="0" anchor="ctr"/>
          <a:lstStyle/>
          <a:p>
            <a:pPr indent="0" marL="0">
              <a:lnSpc>
                <a:spcPts val="1900"/>
              </a:lnSpc>
              <a:buNone/>
            </a:pPr>
            <a:r>
              <a:rPr lang="en-US" sz="1350" dirty="0">
                <a:solidFill>
                  <a:srgbClr val="2A3746"/>
                </a:solidFill>
                <a:latin typeface="Calibri" pitchFamily="34" charset="0"/>
                <a:ea typeface="Calibri" pitchFamily="34" charset="-122"/>
                <a:cs typeface="Calibri" pitchFamily="34" charset="-120"/>
              </a:rPr>
              <a:t>Careful with mixture of experts models. A model advertised as 30B may activate only 3B per token. Total parameters set your memory bill, active parameters set your speed.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context window is the working memory</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Prompt plus generated output must fit inside it</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Context is the total token budget for one call: system prompt, history, retrieved documents, and the answer.</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Advertised windows are often far larger than the window in which the model is actually good.</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Long context is not free. Attention cost and the KV cache both grow with sequence length.</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When the input exceeds the window, something gets dropped. Know which end your runtime cuts.</a:t>
            </a:r>
            <a:endParaRPr lang="en-US" sz="1550" dirty="0"/>
          </a:p>
        </p:txBody>
      </p:sp>
      <p:sp>
        <p:nvSpPr>
          <p:cNvPr id="5" name="Shape 3"/>
          <p:cNvSpPr/>
          <p:nvPr/>
        </p:nvSpPr>
        <p:spPr>
          <a:xfrm>
            <a:off x="640080" y="3977640"/>
            <a:ext cx="10908792" cy="1097280"/>
          </a:xfrm>
          <a:prstGeom prst="roundRect">
            <a:avLst>
              <a:gd name="adj" fmla="val 5000"/>
            </a:avLst>
          </a:prstGeom>
          <a:solidFill>
            <a:srgbClr val="FBF0E2"/>
          </a:solidFill>
          <a:ln w="12700">
            <a:solidFill>
              <a:srgbClr val="E1E7ED"/>
            </a:solidFill>
            <a:prstDash val="solid"/>
          </a:ln>
        </p:spPr>
      </p:sp>
      <p:sp>
        <p:nvSpPr>
          <p:cNvPr id="6" name="Text 4"/>
          <p:cNvSpPr txBox="1"/>
          <p:nvPr/>
        </p:nvSpPr>
        <p:spPr>
          <a:xfrm>
            <a:off x="1005840" y="4160520"/>
            <a:ext cx="10177272" cy="731520"/>
          </a:xfrm>
          <a:prstGeom prst="rect">
            <a:avLst/>
          </a:prstGeom>
          <a:noFill/>
          <a:ln/>
        </p:spPr>
        <p:txBody>
          <a:bodyPr wrap="square" lIns="0" tIns="0" rIns="0" bIns="0" rtlCol="0" anchor="ctr"/>
          <a:lstStyle/>
          <a:p>
            <a:pPr indent="0" marL="0">
              <a:lnSpc>
                <a:spcPts val="1900"/>
              </a:lnSpc>
              <a:buNone/>
            </a:pPr>
            <a:r>
              <a:rPr lang="en-US" sz="1350" dirty="0">
                <a:solidFill>
                  <a:srgbClr val="5A4415"/>
                </a:solidFill>
                <a:latin typeface="Calibri" pitchFamily="34" charset="0"/>
                <a:ea typeface="Calibri" pitchFamily="34" charset="-122"/>
                <a:cs typeface="Calibri" pitchFamily="34" charset="-120"/>
              </a:rPr>
              <a:t>Most trainers and many servers truncate from the end. The end is where your answer lives. This single fact causes a training failure we will meet in part 7.</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Four numbers describe any model</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Ask for these before you ask anything else</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2743200"/>
                <a:gridCol w="2377440"/>
                <a:gridCol w="5788152"/>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Number</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governs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02336">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Total parameters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3B</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Memory footprint and rough capability ceiling</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Active parameters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3B of 30B</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Generation speed on mixture of experts models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Context window</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128k tokens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How much you can put in one call</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Q4_K_M, 4 bit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Bytes per parameter, so the real memory bill</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16052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A "3B model" can need 6 GB or 2 GB depending only on the fourth row. Precision is the number people forget and it is the one that decides whether the model fits your laptop.</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Inference has two phases with different speeds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Prefill reads your prompt, decode writes the answer</a:t>
            </a:r>
            <a:endParaRPr lang="en-US" sz="1500" dirty="0"/>
          </a:p>
        </p:txBody>
      </p:sp>
      <p:sp>
        <p:nvSpPr>
          <p:cNvPr id="4" name="Shape 2"/>
          <p:cNvSpPr/>
          <p:nvPr/>
        </p:nvSpPr>
        <p:spPr>
          <a:xfrm>
            <a:off x="640080" y="2011680"/>
            <a:ext cx="3291840" cy="914400"/>
          </a:xfrm>
          <a:prstGeom prst="roundRect">
            <a:avLst>
              <a:gd name="adj" fmla="val 5000"/>
            </a:avLst>
          </a:prstGeom>
          <a:solidFill>
            <a:srgbClr val="F1F4F7"/>
          </a:solidFill>
          <a:ln w="12700">
            <a:solidFill>
              <a:srgbClr val="F1F4F7"/>
            </a:solidFill>
            <a:prstDash val="solid"/>
          </a:ln>
        </p:spPr>
      </p:sp>
      <p:sp>
        <p:nvSpPr>
          <p:cNvPr id="5" name="Text 3"/>
          <p:cNvSpPr txBox="1"/>
          <p:nvPr/>
        </p:nvSpPr>
        <p:spPr>
          <a:xfrm>
            <a:off x="640080" y="2103120"/>
            <a:ext cx="329184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PREFILL</a:t>
            </a:r>
            <a:endParaRPr lang="en-US" sz="1300" dirty="0"/>
          </a:p>
        </p:txBody>
      </p:sp>
      <p:sp>
        <p:nvSpPr>
          <p:cNvPr id="6" name="Text 4"/>
          <p:cNvSpPr txBox="1"/>
          <p:nvPr/>
        </p:nvSpPr>
        <p:spPr>
          <a:xfrm>
            <a:off x="640080" y="2432304"/>
            <a:ext cx="329184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reads the whole prompt in parallel</a:t>
            </a:r>
            <a:endParaRPr lang="en-US" sz="1050" dirty="0"/>
          </a:p>
        </p:txBody>
      </p:sp>
      <p:sp>
        <p:nvSpPr>
          <p:cNvPr id="7" name="Shape 5"/>
          <p:cNvSpPr/>
          <p:nvPr/>
        </p:nvSpPr>
        <p:spPr>
          <a:xfrm>
            <a:off x="4114800" y="2377440"/>
            <a:ext cx="640080" cy="164592"/>
          </a:xfrm>
          <a:prstGeom prst="rightArrow">
            <a:avLst/>
          </a:prstGeom>
          <a:solidFill>
            <a:srgbClr val="B9C6D2"/>
          </a:solidFill>
          <a:ln/>
        </p:spPr>
      </p:sp>
      <p:sp>
        <p:nvSpPr>
          <p:cNvPr id="8" name="Shape 6"/>
          <p:cNvSpPr/>
          <p:nvPr/>
        </p:nvSpPr>
        <p:spPr>
          <a:xfrm>
            <a:off x="4937760" y="2011680"/>
            <a:ext cx="3291840" cy="914400"/>
          </a:xfrm>
          <a:prstGeom prst="roundRect">
            <a:avLst>
              <a:gd name="adj" fmla="val 5000"/>
            </a:avLst>
          </a:prstGeom>
          <a:solidFill>
            <a:srgbClr val="F1F4F7"/>
          </a:solidFill>
          <a:ln w="12700">
            <a:solidFill>
              <a:srgbClr val="F1F4F7"/>
            </a:solidFill>
            <a:prstDash val="solid"/>
          </a:ln>
        </p:spPr>
      </p:sp>
      <p:sp>
        <p:nvSpPr>
          <p:cNvPr id="9" name="Text 7"/>
          <p:cNvSpPr txBox="1"/>
          <p:nvPr/>
        </p:nvSpPr>
        <p:spPr>
          <a:xfrm>
            <a:off x="4937760" y="2103120"/>
            <a:ext cx="329184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DECODE</a:t>
            </a:r>
            <a:endParaRPr lang="en-US" sz="1300" dirty="0"/>
          </a:p>
        </p:txBody>
      </p:sp>
      <p:sp>
        <p:nvSpPr>
          <p:cNvPr id="10" name="Text 8"/>
          <p:cNvSpPr txBox="1"/>
          <p:nvPr/>
        </p:nvSpPr>
        <p:spPr>
          <a:xfrm>
            <a:off x="4937760" y="2432304"/>
            <a:ext cx="329184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writes one token at a time</a:t>
            </a:r>
            <a:endParaRPr lang="en-US" sz="1050" dirty="0"/>
          </a:p>
        </p:txBody>
      </p:sp>
      <p:sp>
        <p:nvSpPr>
          <p:cNvPr id="11" name="Text 9"/>
          <p:cNvSpPr txBox="1"/>
          <p:nvPr/>
        </p:nvSpPr>
        <p:spPr>
          <a:xfrm>
            <a:off x="640080" y="320040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Prefill is parallel and fast per token. Decode is sequential and slow per token.</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Benchmarks quote both. Prompt processing speed and generation speed are different numbers.</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A long prompt with a short answer is prefill bound. A short prompt with a long answer is decode bound.</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Caching the prefill of a stable prompt prefix is one of the cheapest speedups available.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memory bill, in one formula</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Weights plus the KV cache, and people forget the second one</a:t>
            </a:r>
            <a:endParaRPr lang="en-US" sz="1500" dirty="0"/>
          </a:p>
        </p:txBody>
      </p:sp>
      <p:sp>
        <p:nvSpPr>
          <p:cNvPr id="4" name="Shape 2"/>
          <p:cNvSpPr/>
          <p:nvPr/>
        </p:nvSpPr>
        <p:spPr>
          <a:xfrm>
            <a:off x="640080" y="1828800"/>
            <a:ext cx="10908792" cy="868680"/>
          </a:xfrm>
          <a:prstGeom prst="roundRect">
            <a:avLst>
              <a:gd name="adj" fmla="val 6316"/>
            </a:avLst>
          </a:prstGeom>
          <a:solidFill>
            <a:srgbClr val="F1F4F7"/>
          </a:solidFill>
          <a:ln w="12700">
            <a:solidFill>
              <a:srgbClr val="E1E7ED"/>
            </a:solidFill>
            <a:prstDash val="solid"/>
          </a:ln>
        </p:spPr>
      </p:sp>
      <p:sp>
        <p:nvSpPr>
          <p:cNvPr id="5" name="Text 3"/>
          <p:cNvSpPr txBox="1"/>
          <p:nvPr/>
        </p:nvSpPr>
        <p:spPr>
          <a:xfrm>
            <a:off x="1005840" y="2029968"/>
            <a:ext cx="10177272" cy="457200"/>
          </a:xfrm>
          <a:prstGeom prst="rect">
            <a:avLst/>
          </a:prstGeom>
          <a:noFill/>
          <a:ln/>
        </p:spPr>
        <p:txBody>
          <a:bodyPr wrap="square" lIns="0" tIns="0" rIns="0" bIns="0" rtlCol="0" anchor="ctr"/>
          <a:lstStyle/>
          <a:p>
            <a:pPr algn="ctr" indent="0" marL="0">
              <a:buNone/>
            </a:pPr>
            <a:r>
              <a:rPr lang="en-US" sz="1800" b="1" dirty="0">
                <a:solidFill>
                  <a:srgbClr val="16202A"/>
                </a:solidFill>
                <a:latin typeface="Courier New" pitchFamily="34" charset="0"/>
                <a:ea typeface="Courier New" pitchFamily="34" charset="-122"/>
                <a:cs typeface="Courier New" pitchFamily="34" charset="-120"/>
              </a:rPr>
              <a:t>memory  ~=  parameters x bytes per parameter   +   KV cache</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926080"/>
          <a:ext cx="6763451" cy="914400"/>
        </p:xfrm>
        <a:graphic>
          <a:graphicData uri="http://schemas.openxmlformats.org/drawingml/2006/table">
            <a:tbl>
              <a:tblPr/>
              <a:tblGrid>
                <a:gridCol w="2377440"/>
                <a:gridCol w="2377440"/>
                <a:gridCol w="2008571"/>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Bytes per parameter</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 3B model needs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4747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FP16 or BF16</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about 6 GB</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4747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8 bit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about 3 GB</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47472">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4 bit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about 1.7 GB</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7" name="Shape 4"/>
          <p:cNvSpPr/>
          <p:nvPr/>
        </p:nvSpPr>
        <p:spPr>
          <a:xfrm>
            <a:off x="7839883" y="2926080"/>
            <a:ext cx="3708989" cy="1737360"/>
          </a:xfrm>
          <a:prstGeom prst="roundRect">
            <a:avLst>
              <a:gd name="adj" fmla="val 3158"/>
            </a:avLst>
          </a:prstGeom>
          <a:solidFill>
            <a:srgbClr val="F1F4F7"/>
          </a:solidFill>
          <a:ln w="12700">
            <a:solidFill>
              <a:srgbClr val="E1E7ED"/>
            </a:solidFill>
            <a:prstDash val="solid"/>
          </a:ln>
        </p:spPr>
      </p:sp>
      <p:sp>
        <p:nvSpPr>
          <p:cNvPr id="8" name="Text 5"/>
          <p:cNvSpPr txBox="1"/>
          <p:nvPr/>
        </p:nvSpPr>
        <p:spPr>
          <a:xfrm>
            <a:off x="8114203" y="3127248"/>
            <a:ext cx="3160349" cy="1371600"/>
          </a:xfrm>
          <a:prstGeom prst="rect">
            <a:avLst/>
          </a:prstGeom>
          <a:noFill/>
          <a:ln/>
        </p:spPr>
        <p:txBody>
          <a:bodyPr wrap="square" lIns="0" tIns="0" rIns="0" bIns="0" rtlCol="0" anchor="ctr"/>
          <a:lstStyle/>
          <a:p>
            <a:pPr indent="0" marL="0">
              <a:lnSpc>
                <a:spcPts val="1800"/>
              </a:lnSpc>
              <a:buNone/>
            </a:pPr>
            <a:r>
              <a:rPr lang="en-US" sz="1250" dirty="0">
                <a:solidFill>
                  <a:srgbClr val="2A3746"/>
                </a:solidFill>
                <a:latin typeface="Calibri" pitchFamily="34" charset="0"/>
                <a:ea typeface="Calibri" pitchFamily="34" charset="-122"/>
                <a:cs typeface="Calibri" pitchFamily="34" charset="-120"/>
              </a:rPr>
              <a:t>The KV cache grows with context length and batch size. At long context it can rival the weights. Budget for it or you will hit an out of memory error mid conversation.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02</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"small" actually means</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There is no official line. There are practical bands, and they matter more.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Nobody agrees on the definition</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Use a working one and move on</a:t>
            </a:r>
            <a:endParaRPr lang="en-US" sz="1500" dirty="0"/>
          </a:p>
        </p:txBody>
      </p:sp>
      <p:sp>
        <p:nvSpPr>
          <p:cNvPr id="4" name="Text 2"/>
          <p:cNvSpPr txBox="1"/>
          <p:nvPr/>
        </p:nvSpPr>
        <p:spPr>
          <a:xfrm>
            <a:off x="640080" y="1828800"/>
            <a:ext cx="10543032" cy="1097280"/>
          </a:xfrm>
          <a:prstGeom prst="rect">
            <a:avLst/>
          </a:prstGeom>
          <a:noFill/>
          <a:ln/>
        </p:spPr>
        <p:txBody>
          <a:bodyPr wrap="square" lIns="0" tIns="0" rIns="0" bIns="0" rtlCol="0" anchor="t"/>
          <a:lstStyle/>
          <a:p>
            <a:pPr indent="0" marL="0">
              <a:lnSpc>
                <a:spcPts val="2200"/>
              </a:lnSpc>
              <a:buNone/>
            </a:pPr>
            <a:r>
              <a:rPr lang="en-US" sz="1600" dirty="0">
                <a:solidFill>
                  <a:srgbClr val="2A3746"/>
                </a:solidFill>
                <a:latin typeface="Calibri" pitchFamily="34" charset="0"/>
                <a:ea typeface="Calibri" pitchFamily="34" charset="-122"/>
                <a:cs typeface="Calibri" pitchFamily="34" charset="-120"/>
              </a:rPr>
              <a:t>Small is relative to the frontier of the moment, and the frontier moves every few months. A useful working definition for engineers:</a:t>
            </a:r>
            <a:endParaRPr lang="en-US" sz="1600" dirty="0"/>
          </a:p>
        </p:txBody>
      </p:sp>
      <p:sp>
        <p:nvSpPr>
          <p:cNvPr id="5" name="Shape 3"/>
          <p:cNvSpPr/>
          <p:nvPr/>
        </p:nvSpPr>
        <p:spPr>
          <a:xfrm>
            <a:off x="640080" y="2606040"/>
            <a:ext cx="10908792" cy="914400"/>
          </a:xfrm>
          <a:prstGeom prst="roundRect">
            <a:avLst>
              <a:gd name="adj" fmla="val 6000"/>
            </a:avLst>
          </a:prstGeom>
          <a:solidFill>
            <a:srgbClr val="E7F2EE"/>
          </a:solidFill>
          <a:ln w="12700">
            <a:solidFill>
              <a:srgbClr val="E1E7ED"/>
            </a:solidFill>
            <a:prstDash val="solid"/>
          </a:ln>
        </p:spPr>
      </p:sp>
      <p:sp>
        <p:nvSpPr>
          <p:cNvPr id="6" name="Text 4"/>
          <p:cNvSpPr txBox="1"/>
          <p:nvPr/>
        </p:nvSpPr>
        <p:spPr>
          <a:xfrm>
            <a:off x="1005840" y="2788920"/>
            <a:ext cx="10177272" cy="548640"/>
          </a:xfrm>
          <a:prstGeom prst="rect">
            <a:avLst/>
          </a:prstGeom>
          <a:noFill/>
          <a:ln/>
        </p:spPr>
        <p:txBody>
          <a:bodyPr wrap="square" lIns="0" tIns="0" rIns="0" bIns="0" rtlCol="0" anchor="ctr"/>
          <a:lstStyle/>
          <a:p>
            <a:pPr algn="ctr" indent="0" marL="0">
              <a:buNone/>
            </a:pPr>
            <a:r>
              <a:rPr lang="en-US" sz="2000" b="1" dirty="0">
                <a:solidFill>
                  <a:srgbClr val="17513F"/>
                </a:solidFill>
                <a:latin typeface="Cambria" pitchFamily="34" charset="0"/>
                <a:ea typeface="Cambria" pitchFamily="34" charset="-122"/>
                <a:cs typeface="Cambria" pitchFamily="34" charset="-120"/>
              </a:rPr>
              <a:t>A small language model is one you can run yourself, on hardware you already own, without a cluster.</a:t>
            </a:r>
            <a:endParaRPr lang="en-US" sz="2000" dirty="0"/>
          </a:p>
        </p:txBody>
      </p:sp>
      <p:sp>
        <p:nvSpPr>
          <p:cNvPr id="7" name="Text 5"/>
          <p:cNvSpPr txBox="1"/>
          <p:nvPr/>
        </p:nvSpPr>
        <p:spPr>
          <a:xfrm>
            <a:off x="640080" y="3794760"/>
            <a:ext cx="10543032" cy="160934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That lands somewhere under about 30B parameters today, and the line will move.</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It is a deployment definition rather than a research one, which is what you need for decisions.</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The interesting question is never "is it small" but "is it sufficient for this narrow task".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bands, and what each one can carry</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Task shape decides size, not the other way round</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1737360"/>
                <a:gridCol w="2377440"/>
                <a:gridCol w="3410712"/>
                <a:gridCol w="338328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Band</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Runs on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Reliable for</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 reliable for</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5720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Under 1B</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Anything, phones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Classification, tagging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Anything generative you ship</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5720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1B to 4B</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Any laptop</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Extraction, routing, format conversion, short summaries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Multi step tool use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5720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7B to 9B</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Good laptop or one GPU</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Tool calling agents, solid summarisation, simple code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Novel reasoning, long planning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5720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12B to 30B</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Workstation or server GPU</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Harder reasoning, better code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Frontier level planning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5720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Frontier</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Someone else’s data centre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Novel reasoning, long horizon planning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Your budget, at volume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What small models are genuinely good at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Narrow, bounded, verifiable work</a:t>
            </a:r>
            <a:endParaRPr lang="en-US" sz="1500" dirty="0"/>
          </a:p>
        </p:txBody>
      </p:sp>
      <p:sp>
        <p:nvSpPr>
          <p:cNvPr id="4" name="Shape 2"/>
          <p:cNvSpPr/>
          <p:nvPr/>
        </p:nvSpPr>
        <p:spPr>
          <a:xfrm>
            <a:off x="640080" y="1874520"/>
            <a:ext cx="5271516" cy="2834640"/>
          </a:xfrm>
          <a:prstGeom prst="roundRect">
            <a:avLst>
              <a:gd name="adj" fmla="val 1935"/>
            </a:avLst>
          </a:prstGeom>
          <a:solidFill>
            <a:srgbClr val="E7F2EE"/>
          </a:solidFill>
          <a:ln w="12700">
            <a:solidFill>
              <a:srgbClr val="E1E7ED"/>
            </a:solidFill>
            <a:prstDash val="solid"/>
          </a:ln>
        </p:spPr>
      </p:sp>
      <p:sp>
        <p:nvSpPr>
          <p:cNvPr id="5" name="Text 3"/>
          <p:cNvSpPr txBox="1"/>
          <p:nvPr/>
        </p:nvSpPr>
        <p:spPr>
          <a:xfrm>
            <a:off x="960120" y="2029968"/>
            <a:ext cx="2743200" cy="365760"/>
          </a:xfrm>
          <a:prstGeom prst="rect">
            <a:avLst/>
          </a:prstGeom>
          <a:noFill/>
          <a:ln/>
        </p:spPr>
        <p:txBody>
          <a:bodyPr wrap="square" lIns="0" tIns="0" rIns="0" bIns="0" rtlCol="0" anchor="ctr"/>
          <a:lstStyle/>
          <a:p>
            <a:pPr indent="0" marL="0">
              <a:buNone/>
            </a:pPr>
            <a:r>
              <a:rPr lang="en-US" sz="1400" b="1" dirty="0">
                <a:solidFill>
                  <a:srgbClr val="17513F"/>
                </a:solidFill>
                <a:latin typeface="Calibri" pitchFamily="34" charset="0"/>
                <a:ea typeface="Calibri" pitchFamily="34" charset="-122"/>
                <a:cs typeface="Calibri" pitchFamily="34" charset="-120"/>
              </a:rPr>
              <a:t>Strong</a:t>
            </a:r>
            <a:endParaRPr lang="en-US" sz="1400" dirty="0"/>
          </a:p>
        </p:txBody>
      </p:sp>
      <p:sp>
        <p:nvSpPr>
          <p:cNvPr id="6" name="Text 4"/>
          <p:cNvSpPr txBox="1"/>
          <p:nvPr/>
        </p:nvSpPr>
        <p:spPr>
          <a:xfrm>
            <a:off x="960120" y="2432304"/>
            <a:ext cx="4631436" cy="2761488"/>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Extraction into a fixed schema</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Classification and routing</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Format and style conversion</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Short grounded summarisation</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Single tool calls with a validator</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High volume repetitive work</a:t>
            </a:r>
            <a:endParaRPr lang="en-US" sz="1350" dirty="0"/>
          </a:p>
        </p:txBody>
      </p:sp>
      <p:sp>
        <p:nvSpPr>
          <p:cNvPr id="7" name="Shape 5"/>
          <p:cNvSpPr/>
          <p:nvPr/>
        </p:nvSpPr>
        <p:spPr>
          <a:xfrm>
            <a:off x="6277356" y="1874520"/>
            <a:ext cx="5271516" cy="2834640"/>
          </a:xfrm>
          <a:prstGeom prst="roundRect">
            <a:avLst>
              <a:gd name="adj" fmla="val 1935"/>
            </a:avLst>
          </a:prstGeom>
          <a:solidFill>
            <a:srgbClr val="F7E7E2"/>
          </a:solidFill>
          <a:ln w="12700">
            <a:solidFill>
              <a:srgbClr val="E1E7ED"/>
            </a:solidFill>
            <a:prstDash val="solid"/>
          </a:ln>
        </p:spPr>
      </p:sp>
      <p:sp>
        <p:nvSpPr>
          <p:cNvPr id="8" name="Text 6"/>
          <p:cNvSpPr txBox="1"/>
          <p:nvPr/>
        </p:nvSpPr>
        <p:spPr>
          <a:xfrm>
            <a:off x="6597396" y="2029968"/>
            <a:ext cx="2743200" cy="365760"/>
          </a:xfrm>
          <a:prstGeom prst="rect">
            <a:avLst/>
          </a:prstGeom>
          <a:noFill/>
          <a:ln/>
        </p:spPr>
        <p:txBody>
          <a:bodyPr wrap="square" lIns="0" tIns="0" rIns="0" bIns="0" rtlCol="0" anchor="ctr"/>
          <a:lstStyle/>
          <a:p>
            <a:pPr indent="0" marL="0">
              <a:buNone/>
            </a:pPr>
            <a:r>
              <a:rPr lang="en-US" sz="1400" b="1" dirty="0">
                <a:solidFill>
                  <a:srgbClr val="7A2E1C"/>
                </a:solidFill>
                <a:latin typeface="Calibri" pitchFamily="34" charset="0"/>
                <a:ea typeface="Calibri" pitchFamily="34" charset="-122"/>
                <a:cs typeface="Calibri" pitchFamily="34" charset="-120"/>
              </a:rPr>
              <a:t>Weak</a:t>
            </a:r>
            <a:endParaRPr lang="en-US" sz="1400" dirty="0"/>
          </a:p>
        </p:txBody>
      </p:sp>
      <p:sp>
        <p:nvSpPr>
          <p:cNvPr id="9" name="Text 7"/>
          <p:cNvSpPr txBox="1"/>
          <p:nvPr/>
        </p:nvSpPr>
        <p:spPr>
          <a:xfrm>
            <a:off x="6597396" y="2432304"/>
            <a:ext cx="4631436" cy="2761488"/>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Long multi step plans without checks</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Novel reasoning it has not seen</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Holding many constraints at once</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Knowing what it does not know</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Long context recall in the middle</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Anything unbounded and open ended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03</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Types of small language model</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Four independent axes. A model is a point in all four at once.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Four axes, not one taxonomy</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Every model you meet sits somewhere on each of these</a:t>
            </a:r>
            <a:endParaRPr lang="en-US" sz="1500" dirty="0"/>
          </a:p>
        </p:txBody>
      </p:sp>
      <p:sp>
        <p:nvSpPr>
          <p:cNvPr id="4" name="Shape 2"/>
          <p:cNvSpPr/>
          <p:nvPr/>
        </p:nvSpPr>
        <p:spPr>
          <a:xfrm>
            <a:off x="640080" y="1920240"/>
            <a:ext cx="5271516" cy="1234440"/>
          </a:xfrm>
          <a:prstGeom prst="roundRect">
            <a:avLst>
              <a:gd name="adj" fmla="val 3704"/>
            </a:avLst>
          </a:prstGeom>
          <a:solidFill>
            <a:srgbClr val="F1F4F7"/>
          </a:solidFill>
          <a:ln w="12700">
            <a:solidFill>
              <a:srgbClr val="F1F4F7"/>
            </a:solidFill>
            <a:prstDash val="solid"/>
          </a:ln>
        </p:spPr>
      </p:sp>
      <p:sp>
        <p:nvSpPr>
          <p:cNvPr id="5" name="Text 3"/>
          <p:cNvSpPr txBox="1"/>
          <p:nvPr/>
        </p:nvSpPr>
        <p:spPr>
          <a:xfrm>
            <a:off x="640080" y="2011680"/>
            <a:ext cx="5271516"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AXIS 1  ARCHITECTURE</a:t>
            </a:r>
            <a:endParaRPr lang="en-US" sz="1300" dirty="0"/>
          </a:p>
        </p:txBody>
      </p:sp>
      <p:sp>
        <p:nvSpPr>
          <p:cNvPr id="6" name="Text 4"/>
          <p:cNvSpPr txBox="1"/>
          <p:nvPr/>
        </p:nvSpPr>
        <p:spPr>
          <a:xfrm>
            <a:off x="640080" y="2340864"/>
            <a:ext cx="5271516"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dense, mixture of experts, hybrid, nested</a:t>
            </a:r>
            <a:endParaRPr lang="en-US" sz="1050" dirty="0"/>
          </a:p>
        </p:txBody>
      </p:sp>
      <p:sp>
        <p:nvSpPr>
          <p:cNvPr id="7" name="Shape 5"/>
          <p:cNvSpPr/>
          <p:nvPr/>
        </p:nvSpPr>
        <p:spPr>
          <a:xfrm>
            <a:off x="6277356" y="1920240"/>
            <a:ext cx="5271516" cy="1234440"/>
          </a:xfrm>
          <a:prstGeom prst="roundRect">
            <a:avLst>
              <a:gd name="adj" fmla="val 3704"/>
            </a:avLst>
          </a:prstGeom>
          <a:solidFill>
            <a:srgbClr val="F1F4F7"/>
          </a:solidFill>
          <a:ln w="12700">
            <a:solidFill>
              <a:srgbClr val="F1F4F7"/>
            </a:solidFill>
            <a:prstDash val="solid"/>
          </a:ln>
        </p:spPr>
      </p:sp>
      <p:sp>
        <p:nvSpPr>
          <p:cNvPr id="8" name="Text 6"/>
          <p:cNvSpPr txBox="1"/>
          <p:nvPr/>
        </p:nvSpPr>
        <p:spPr>
          <a:xfrm>
            <a:off x="6277356" y="2011680"/>
            <a:ext cx="5271516"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AXIS 2  ROLE</a:t>
            </a:r>
            <a:endParaRPr lang="en-US" sz="1300" dirty="0"/>
          </a:p>
        </p:txBody>
      </p:sp>
      <p:sp>
        <p:nvSpPr>
          <p:cNvPr id="9" name="Text 7"/>
          <p:cNvSpPr txBox="1"/>
          <p:nvPr/>
        </p:nvSpPr>
        <p:spPr>
          <a:xfrm>
            <a:off x="6277356" y="2340864"/>
            <a:ext cx="5271516"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base, instruct, reasoning, embedding, multimodal</a:t>
            </a:r>
            <a:endParaRPr lang="en-US" sz="1050" dirty="0"/>
          </a:p>
        </p:txBody>
      </p:sp>
      <p:sp>
        <p:nvSpPr>
          <p:cNvPr id="10" name="Shape 8"/>
          <p:cNvSpPr/>
          <p:nvPr/>
        </p:nvSpPr>
        <p:spPr>
          <a:xfrm>
            <a:off x="640080" y="3429000"/>
            <a:ext cx="5271516" cy="1234440"/>
          </a:xfrm>
          <a:prstGeom prst="roundRect">
            <a:avLst>
              <a:gd name="adj" fmla="val 3704"/>
            </a:avLst>
          </a:prstGeom>
          <a:solidFill>
            <a:srgbClr val="F1F4F7"/>
          </a:solidFill>
          <a:ln w="12700">
            <a:solidFill>
              <a:srgbClr val="F1F4F7"/>
            </a:solidFill>
            <a:prstDash val="solid"/>
          </a:ln>
        </p:spPr>
      </p:sp>
      <p:sp>
        <p:nvSpPr>
          <p:cNvPr id="11" name="Text 9"/>
          <p:cNvSpPr txBox="1"/>
          <p:nvPr/>
        </p:nvSpPr>
        <p:spPr>
          <a:xfrm>
            <a:off x="640080" y="3520440"/>
            <a:ext cx="5271516"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AXIS 3  LINEAGE</a:t>
            </a:r>
            <a:endParaRPr lang="en-US" sz="1300" dirty="0"/>
          </a:p>
        </p:txBody>
      </p:sp>
      <p:sp>
        <p:nvSpPr>
          <p:cNvPr id="12" name="Text 10"/>
          <p:cNvSpPr txBox="1"/>
          <p:nvPr/>
        </p:nvSpPr>
        <p:spPr>
          <a:xfrm>
            <a:off x="640080" y="3849624"/>
            <a:ext cx="5271516"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trained from scratch, distilled, pruned</a:t>
            </a:r>
            <a:endParaRPr lang="en-US" sz="1050" dirty="0"/>
          </a:p>
        </p:txBody>
      </p:sp>
      <p:sp>
        <p:nvSpPr>
          <p:cNvPr id="13" name="Shape 11"/>
          <p:cNvSpPr/>
          <p:nvPr/>
        </p:nvSpPr>
        <p:spPr>
          <a:xfrm>
            <a:off x="6277356" y="3429000"/>
            <a:ext cx="5271516" cy="1234440"/>
          </a:xfrm>
          <a:prstGeom prst="roundRect">
            <a:avLst>
              <a:gd name="adj" fmla="val 3704"/>
            </a:avLst>
          </a:prstGeom>
          <a:solidFill>
            <a:srgbClr val="F1F4F7"/>
          </a:solidFill>
          <a:ln w="12700">
            <a:solidFill>
              <a:srgbClr val="F1F4F7"/>
            </a:solidFill>
            <a:prstDash val="solid"/>
          </a:ln>
        </p:spPr>
      </p:sp>
      <p:sp>
        <p:nvSpPr>
          <p:cNvPr id="14" name="Text 12"/>
          <p:cNvSpPr txBox="1"/>
          <p:nvPr/>
        </p:nvSpPr>
        <p:spPr>
          <a:xfrm>
            <a:off x="6277356" y="3520440"/>
            <a:ext cx="5271516"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AXIS 4  PRECISION</a:t>
            </a:r>
            <a:endParaRPr lang="en-US" sz="1300" dirty="0"/>
          </a:p>
        </p:txBody>
      </p:sp>
      <p:sp>
        <p:nvSpPr>
          <p:cNvPr id="15" name="Text 13"/>
          <p:cNvSpPr txBox="1"/>
          <p:nvPr/>
        </p:nvSpPr>
        <p:spPr>
          <a:xfrm>
            <a:off x="6277356" y="3849624"/>
            <a:ext cx="5271516"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full, 8 bit, 4 bit, and lower</a:t>
            </a:r>
            <a:endParaRPr lang="en-US" sz="1050" dirty="0"/>
          </a:p>
        </p:txBody>
      </p:sp>
      <p:sp>
        <p:nvSpPr>
          <p:cNvPr id="16" name="Text 14"/>
          <p:cNvSpPr txBox="1"/>
          <p:nvPr/>
        </p:nvSpPr>
        <p:spPr>
          <a:xfrm>
            <a:off x="640080" y="470916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Confusing these axes is the most common source of bad model decisions. A 4 bit distilled instruct dense model is four separate facts.</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Architecture 1: the dense transformer</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The default, and what most tooling assumes</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Every parameter is used for every token. Simple, predictable, and well supported everywhere.</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Memory and compute scale straightforwardly with parameter count.</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Adapters and fine-tuning recipes work out of the box because the layers are conventional.</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If you are unsure what you are dealing with, assume dense and verify on the model card.</a:t>
            </a:r>
            <a:endParaRPr lang="en-US" sz="1550" dirty="0"/>
          </a:p>
        </p:txBody>
      </p:sp>
      <p:sp>
        <p:nvSpPr>
          <p:cNvPr id="5" name="Shape 3"/>
          <p:cNvSpPr/>
          <p:nvPr/>
        </p:nvSpPr>
        <p:spPr>
          <a:xfrm>
            <a:off x="640080" y="3931920"/>
            <a:ext cx="10908792" cy="1051560"/>
          </a:xfrm>
          <a:prstGeom prst="roundRect">
            <a:avLst>
              <a:gd name="adj" fmla="val 5217"/>
            </a:avLst>
          </a:prstGeom>
          <a:solidFill>
            <a:srgbClr val="E7F2EE"/>
          </a:solidFill>
          <a:ln w="12700">
            <a:solidFill>
              <a:srgbClr val="E1E7ED"/>
            </a:solidFill>
            <a:prstDash val="solid"/>
          </a:ln>
        </p:spPr>
      </p:sp>
      <p:sp>
        <p:nvSpPr>
          <p:cNvPr id="6" name="Text 4"/>
          <p:cNvSpPr txBox="1"/>
          <p:nvPr/>
        </p:nvSpPr>
        <p:spPr>
          <a:xfrm>
            <a:off x="1005840" y="4133088"/>
            <a:ext cx="10177272" cy="640080"/>
          </a:xfrm>
          <a:prstGeom prst="rect">
            <a:avLst/>
          </a:prstGeom>
          <a:noFill/>
          <a:ln/>
        </p:spPr>
        <p:txBody>
          <a:bodyPr wrap="square" lIns="0" tIns="0" rIns="0" bIns="0" rtlCol="0" anchor="ctr"/>
          <a:lstStyle/>
          <a:p>
            <a:pPr indent="0" marL="0">
              <a:lnSpc>
                <a:spcPts val="1900"/>
              </a:lnSpc>
              <a:buNone/>
            </a:pPr>
            <a:r>
              <a:rPr lang="en-US" sz="1350" dirty="0">
                <a:solidFill>
                  <a:srgbClr val="17513F"/>
                </a:solidFill>
                <a:latin typeface="Calibri" pitchFamily="34" charset="0"/>
                <a:ea typeface="Calibri" pitchFamily="34" charset="-122"/>
                <a:cs typeface="Calibri" pitchFamily="34" charset="-120"/>
              </a:rPr>
              <a:t>Practical upshot: dense is the safe default for a first fine-tune. Standard recipes apply and nothing surprises you.</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Architecture 2: mixture of experts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Many experts, only a few used per token</a:t>
            </a:r>
            <a:endParaRPr lang="en-US" sz="1500" dirty="0"/>
          </a:p>
        </p:txBody>
      </p:sp>
      <p:sp>
        <p:nvSpPr>
          <p:cNvPr id="4" name="Shape 2"/>
          <p:cNvSpPr/>
          <p:nvPr/>
        </p:nvSpPr>
        <p:spPr>
          <a:xfrm>
            <a:off x="640080" y="1965960"/>
            <a:ext cx="2468880" cy="914400"/>
          </a:xfrm>
          <a:prstGeom prst="roundRect">
            <a:avLst>
              <a:gd name="adj" fmla="val 5000"/>
            </a:avLst>
          </a:prstGeom>
          <a:solidFill>
            <a:srgbClr val="F1F4F7"/>
          </a:solidFill>
          <a:ln w="12700">
            <a:solidFill>
              <a:srgbClr val="F1F4F7"/>
            </a:solidFill>
            <a:prstDash val="solid"/>
          </a:ln>
        </p:spPr>
      </p:sp>
      <p:sp>
        <p:nvSpPr>
          <p:cNvPr id="5" name="Text 3"/>
          <p:cNvSpPr txBox="1"/>
          <p:nvPr/>
        </p:nvSpPr>
        <p:spPr>
          <a:xfrm>
            <a:off x="640080" y="2057400"/>
            <a:ext cx="24688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ROUTER</a:t>
            </a:r>
            <a:endParaRPr lang="en-US" sz="1300" dirty="0"/>
          </a:p>
        </p:txBody>
      </p:sp>
      <p:sp>
        <p:nvSpPr>
          <p:cNvPr id="6" name="Text 4"/>
          <p:cNvSpPr txBox="1"/>
          <p:nvPr/>
        </p:nvSpPr>
        <p:spPr>
          <a:xfrm>
            <a:off x="640080" y="2386584"/>
            <a:ext cx="24688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picks 2 of N experts</a:t>
            </a:r>
            <a:endParaRPr lang="en-US" sz="1050" dirty="0"/>
          </a:p>
        </p:txBody>
      </p:sp>
      <p:sp>
        <p:nvSpPr>
          <p:cNvPr id="7" name="Shape 5"/>
          <p:cNvSpPr/>
          <p:nvPr/>
        </p:nvSpPr>
        <p:spPr>
          <a:xfrm>
            <a:off x="3291840" y="2331720"/>
            <a:ext cx="548640" cy="164592"/>
          </a:xfrm>
          <a:prstGeom prst="rightArrow">
            <a:avLst/>
          </a:prstGeom>
          <a:solidFill>
            <a:srgbClr val="B9C6D2"/>
          </a:solidFill>
          <a:ln/>
        </p:spPr>
      </p:sp>
      <p:sp>
        <p:nvSpPr>
          <p:cNvPr id="8" name="Shape 6"/>
          <p:cNvSpPr/>
          <p:nvPr/>
        </p:nvSpPr>
        <p:spPr>
          <a:xfrm>
            <a:off x="4023360" y="1965960"/>
            <a:ext cx="1371600" cy="914400"/>
          </a:xfrm>
          <a:prstGeom prst="roundRect">
            <a:avLst>
              <a:gd name="adj" fmla="val 5000"/>
            </a:avLst>
          </a:prstGeom>
          <a:solidFill>
            <a:srgbClr val="E7F2EE"/>
          </a:solidFill>
          <a:ln w="12700">
            <a:solidFill>
              <a:srgbClr val="E7F2EE"/>
            </a:solidFill>
            <a:prstDash val="solid"/>
          </a:ln>
        </p:spPr>
      </p:sp>
      <p:sp>
        <p:nvSpPr>
          <p:cNvPr id="9" name="Text 7"/>
          <p:cNvSpPr txBox="1"/>
          <p:nvPr/>
        </p:nvSpPr>
        <p:spPr>
          <a:xfrm>
            <a:off x="4023360" y="2057400"/>
            <a:ext cx="13716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Expert 1</a:t>
            </a:r>
            <a:endParaRPr lang="en-US" sz="1300" dirty="0"/>
          </a:p>
        </p:txBody>
      </p:sp>
      <p:sp>
        <p:nvSpPr>
          <p:cNvPr id="10" name="Text 8"/>
          <p:cNvSpPr txBox="1"/>
          <p:nvPr/>
        </p:nvSpPr>
        <p:spPr>
          <a:xfrm>
            <a:off x="4023360" y="2386584"/>
            <a:ext cx="137160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active</a:t>
            </a:r>
            <a:endParaRPr lang="en-US" sz="1050" dirty="0"/>
          </a:p>
        </p:txBody>
      </p:sp>
      <p:sp>
        <p:nvSpPr>
          <p:cNvPr id="11" name="Shape 9"/>
          <p:cNvSpPr/>
          <p:nvPr/>
        </p:nvSpPr>
        <p:spPr>
          <a:xfrm>
            <a:off x="5532120" y="1965960"/>
            <a:ext cx="1371600" cy="914400"/>
          </a:xfrm>
          <a:prstGeom prst="roundRect">
            <a:avLst>
              <a:gd name="adj" fmla="val 5000"/>
            </a:avLst>
          </a:prstGeom>
          <a:solidFill>
            <a:srgbClr val="E7F2EE"/>
          </a:solidFill>
          <a:ln w="12700">
            <a:solidFill>
              <a:srgbClr val="E7F2EE"/>
            </a:solidFill>
            <a:prstDash val="solid"/>
          </a:ln>
        </p:spPr>
      </p:sp>
      <p:sp>
        <p:nvSpPr>
          <p:cNvPr id="12" name="Text 10"/>
          <p:cNvSpPr txBox="1"/>
          <p:nvPr/>
        </p:nvSpPr>
        <p:spPr>
          <a:xfrm>
            <a:off x="5532120" y="2057400"/>
            <a:ext cx="13716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Expert 2</a:t>
            </a:r>
            <a:endParaRPr lang="en-US" sz="1300" dirty="0"/>
          </a:p>
        </p:txBody>
      </p:sp>
      <p:sp>
        <p:nvSpPr>
          <p:cNvPr id="13" name="Text 11"/>
          <p:cNvSpPr txBox="1"/>
          <p:nvPr/>
        </p:nvSpPr>
        <p:spPr>
          <a:xfrm>
            <a:off x="5532120" y="2386584"/>
            <a:ext cx="137160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active</a:t>
            </a:r>
            <a:endParaRPr lang="en-US" sz="1050" dirty="0"/>
          </a:p>
        </p:txBody>
      </p:sp>
      <p:sp>
        <p:nvSpPr>
          <p:cNvPr id="14" name="Shape 12"/>
          <p:cNvSpPr/>
          <p:nvPr/>
        </p:nvSpPr>
        <p:spPr>
          <a:xfrm>
            <a:off x="7040880" y="1965960"/>
            <a:ext cx="1371600" cy="914400"/>
          </a:xfrm>
          <a:prstGeom prst="roundRect">
            <a:avLst>
              <a:gd name="adj" fmla="val 5000"/>
            </a:avLst>
          </a:prstGeom>
          <a:solidFill>
            <a:srgbClr val="F1F4F7"/>
          </a:solidFill>
          <a:ln w="12700">
            <a:solidFill>
              <a:srgbClr val="F1F4F7"/>
            </a:solidFill>
            <a:prstDash val="solid"/>
          </a:ln>
        </p:spPr>
      </p:sp>
      <p:sp>
        <p:nvSpPr>
          <p:cNvPr id="15" name="Text 13"/>
          <p:cNvSpPr txBox="1"/>
          <p:nvPr/>
        </p:nvSpPr>
        <p:spPr>
          <a:xfrm>
            <a:off x="7040880" y="2057400"/>
            <a:ext cx="13716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Expert 3</a:t>
            </a:r>
            <a:endParaRPr lang="en-US" sz="1300" dirty="0"/>
          </a:p>
        </p:txBody>
      </p:sp>
      <p:sp>
        <p:nvSpPr>
          <p:cNvPr id="16" name="Text 14"/>
          <p:cNvSpPr txBox="1"/>
          <p:nvPr/>
        </p:nvSpPr>
        <p:spPr>
          <a:xfrm>
            <a:off x="7040880" y="2386584"/>
            <a:ext cx="137160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idle</a:t>
            </a:r>
            <a:endParaRPr lang="en-US" sz="1050" dirty="0"/>
          </a:p>
        </p:txBody>
      </p:sp>
      <p:sp>
        <p:nvSpPr>
          <p:cNvPr id="17" name="Shape 15"/>
          <p:cNvSpPr/>
          <p:nvPr/>
        </p:nvSpPr>
        <p:spPr>
          <a:xfrm>
            <a:off x="8549640" y="1965960"/>
            <a:ext cx="1371600" cy="914400"/>
          </a:xfrm>
          <a:prstGeom prst="roundRect">
            <a:avLst>
              <a:gd name="adj" fmla="val 5000"/>
            </a:avLst>
          </a:prstGeom>
          <a:solidFill>
            <a:srgbClr val="F1F4F7"/>
          </a:solidFill>
          <a:ln w="12700">
            <a:solidFill>
              <a:srgbClr val="F1F4F7"/>
            </a:solidFill>
            <a:prstDash val="solid"/>
          </a:ln>
        </p:spPr>
      </p:sp>
      <p:sp>
        <p:nvSpPr>
          <p:cNvPr id="18" name="Text 16"/>
          <p:cNvSpPr txBox="1"/>
          <p:nvPr/>
        </p:nvSpPr>
        <p:spPr>
          <a:xfrm>
            <a:off x="8549640" y="2057400"/>
            <a:ext cx="13716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Expert N</a:t>
            </a:r>
            <a:endParaRPr lang="en-US" sz="1300" dirty="0"/>
          </a:p>
        </p:txBody>
      </p:sp>
      <p:sp>
        <p:nvSpPr>
          <p:cNvPr id="19" name="Text 17"/>
          <p:cNvSpPr txBox="1"/>
          <p:nvPr/>
        </p:nvSpPr>
        <p:spPr>
          <a:xfrm>
            <a:off x="8549640" y="2386584"/>
            <a:ext cx="137160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idle</a:t>
            </a:r>
            <a:endParaRPr lang="en-US" sz="1050" dirty="0"/>
          </a:p>
        </p:txBody>
      </p:sp>
      <p:sp>
        <p:nvSpPr>
          <p:cNvPr id="20" name="Text 18"/>
          <p:cNvSpPr txBox="1"/>
          <p:nvPr/>
        </p:nvSpPr>
        <p:spPr>
          <a:xfrm>
            <a:off x="640080" y="320040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Speed of a small model, memory footprint of a large one. You must hold every expert in memory.</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A 26B model with 4B active generates about as fast as a 4B dense model and needs the RAM of a 26B.</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Excellent when you have memory but want throughput. Poor when memory is the binding constraint.</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Read model cards carefully: "active" and "total" parameters are both quoted and mean different things.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Architecture 3: hybrid and state space models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Attention replaced or interleaved with a recurrent mechanism</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State space layers, such as Mamba, process sequences with cost that grows linearly rather than quadratically.</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The practical benefit is long context at much lower memory, because there is a smaller cache to keep.</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Many recent families interleave a few attention layers with many state space layers.</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Tooling support lags. Some trainers, quantizers and servers handle them poorly or not at all.</a:t>
            </a:r>
            <a:endParaRPr lang="en-US" sz="1550" dirty="0"/>
          </a:p>
        </p:txBody>
      </p:sp>
      <p:sp>
        <p:nvSpPr>
          <p:cNvPr id="5" name="Shape 3"/>
          <p:cNvSpPr/>
          <p:nvPr/>
        </p:nvSpPr>
        <p:spPr>
          <a:xfrm>
            <a:off x="640080" y="3931920"/>
            <a:ext cx="10908792" cy="1143000"/>
          </a:xfrm>
          <a:prstGeom prst="roundRect">
            <a:avLst>
              <a:gd name="adj" fmla="val 4800"/>
            </a:avLst>
          </a:prstGeom>
          <a:solidFill>
            <a:srgbClr val="FBF0E2"/>
          </a:solidFill>
          <a:ln w="12700">
            <a:solidFill>
              <a:srgbClr val="E1E7ED"/>
            </a:solidFill>
            <a:prstDash val="solid"/>
          </a:ln>
        </p:spPr>
      </p:sp>
      <p:sp>
        <p:nvSpPr>
          <p:cNvPr id="6" name="Text 4"/>
          <p:cNvSpPr txBox="1"/>
          <p:nvPr/>
        </p:nvSpPr>
        <p:spPr>
          <a:xfrm>
            <a:off x="1005840" y="4114800"/>
            <a:ext cx="10177272" cy="822960"/>
          </a:xfrm>
          <a:prstGeom prst="rect">
            <a:avLst/>
          </a:prstGeom>
          <a:noFill/>
          <a:ln/>
        </p:spPr>
        <p:txBody>
          <a:bodyPr wrap="square" lIns="0" tIns="0" rIns="0" bIns="0" rtlCol="0" anchor="ctr"/>
          <a:lstStyle/>
          <a:p>
            <a:pPr indent="0" marL="0">
              <a:lnSpc>
                <a:spcPts val="1900"/>
              </a:lnSpc>
              <a:buNone/>
            </a:pPr>
            <a:r>
              <a:rPr lang="en-US" sz="1350" dirty="0">
                <a:solidFill>
                  <a:srgbClr val="5A4415"/>
                </a:solidFill>
                <a:latin typeface="Calibri" pitchFamily="34" charset="0"/>
                <a:ea typeface="Calibri" pitchFamily="34" charset="-122"/>
                <a:cs typeface="Calibri" pitchFamily="34" charset="-120"/>
              </a:rPr>
              <a:t>The trap: a standard adapter configuration targets attention projections only. On a mostly state space model that attaches to a handful of layers and quietly under trains. Check the architecture before you copy a recipe.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Architecture 4: nested and elastic models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One download, several sizes</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Nested designs embed a smaller model inside a larger one, so one artifact serves several capability points.</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You can trade quality for speed at load time or at run time without shipping a second model.</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Advertised sizes may be "effective" rather than total, so memory can surprise you.</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Support is uneven. Conversion tools sometimes fail on the nested weight layout even when inference works.</a:t>
            </a:r>
            <a:endParaRPr lang="en-US" sz="1550" dirty="0"/>
          </a:p>
        </p:txBody>
      </p:sp>
      <p:sp>
        <p:nvSpPr>
          <p:cNvPr id="5" name="Text 3"/>
          <p:cNvSpPr txBox="1"/>
          <p:nvPr/>
        </p:nvSpPr>
        <p:spPr>
          <a:xfrm>
            <a:off x="640080" y="402336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When you meet one of these, verify two things before committing: that your training stack can load it, and which parameter number the vendor is quoting.</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Role: what the model was finished for</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Same base weights, very different products</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194560"/>
                <a:gridCol w="4206240"/>
                <a:gridCol w="450799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it for</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Raw pretrained model, no instruction tuning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Further training. Not for direct use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Instruct or chat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Tuned to follow instructions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Almost everything you will build</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Reasoning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Trained to emit a chain of thought first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Hard problems, if you can afford the tokens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Code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Weighted toward code corpora</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Completion, transformation, review</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Embedding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Emits vectors, not text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Search, retrieval, clustering, deduplication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Multimodal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Accepts images or audio too</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Documents, screenshots, diagrams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Reasoning models need care in a pipeline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The feature that helps on hard problems hurts on structured output</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A reasoning model spends tokens thinking before it answers, and that thinking is often returned in a separate field.</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With a small token budget the thinking consumes everything and your visible answer comes back empty.</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For schema constrained output, turn thinking off explicitly and confirm the server honours the switch.</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Budget for the extra tokens. Reasoning modes can multiply cost and latency several times over.</a:t>
            </a:r>
            <a:endParaRPr lang="en-US" sz="1550" dirty="0"/>
          </a:p>
        </p:txBody>
      </p:sp>
      <p:sp>
        <p:nvSpPr>
          <p:cNvPr id="5" name="Shape 3"/>
          <p:cNvSpPr/>
          <p:nvPr/>
        </p:nvSpPr>
        <p:spPr>
          <a:xfrm>
            <a:off x="640080" y="3977640"/>
            <a:ext cx="10908792" cy="1097280"/>
          </a:xfrm>
          <a:prstGeom prst="roundRect">
            <a:avLst>
              <a:gd name="adj" fmla="val 5000"/>
            </a:avLst>
          </a:prstGeom>
          <a:solidFill>
            <a:srgbClr val="F7E7E2"/>
          </a:solidFill>
          <a:ln w="12700">
            <a:solidFill>
              <a:srgbClr val="E1E7ED"/>
            </a:solidFill>
            <a:prstDash val="solid"/>
          </a:ln>
        </p:spPr>
      </p:sp>
      <p:sp>
        <p:nvSpPr>
          <p:cNvPr id="6" name="Text 4"/>
          <p:cNvSpPr txBox="1"/>
          <p:nvPr/>
        </p:nvSpPr>
        <p:spPr>
          <a:xfrm>
            <a:off x="1005840" y="4160520"/>
            <a:ext cx="10177272" cy="777240"/>
          </a:xfrm>
          <a:prstGeom prst="rect">
            <a:avLst/>
          </a:prstGeom>
          <a:noFill/>
          <a:ln/>
        </p:spPr>
        <p:txBody>
          <a:bodyPr wrap="square" lIns="0" tIns="0" rIns="0" bIns="0" rtlCol="0" anchor="ctr"/>
          <a:lstStyle/>
          <a:p>
            <a:pPr indent="0" marL="0">
              <a:lnSpc>
                <a:spcPts val="1900"/>
              </a:lnSpc>
              <a:buNone/>
            </a:pPr>
            <a:r>
              <a:rPr lang="en-US" sz="1350" dirty="0">
                <a:solidFill>
                  <a:srgbClr val="7A2E1C"/>
                </a:solidFill>
                <a:latin typeface="Calibri" pitchFamily="34" charset="0"/>
                <a:ea typeface="Calibri" pitchFamily="34" charset="-122"/>
                <a:cs typeface="Calibri" pitchFamily="34" charset="-120"/>
              </a:rPr>
              <a:t>Seen in practice: a base model scored zero on a structured task purely because it returned reasoning and no parseable content. That is a harness artifact, not a capability result. Never report it as one.</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Lineage: where the small model came from</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Three routes, and you will only ever use one of them</a:t>
            </a:r>
            <a:endParaRPr lang="en-US" sz="1500" dirty="0"/>
          </a:p>
        </p:txBody>
      </p:sp>
      <p:sp>
        <p:nvSpPr>
          <p:cNvPr id="4" name="Shape 2"/>
          <p:cNvSpPr/>
          <p:nvPr/>
        </p:nvSpPr>
        <p:spPr>
          <a:xfrm>
            <a:off x="640080" y="2011680"/>
            <a:ext cx="3383280" cy="1371600"/>
          </a:xfrm>
          <a:prstGeom prst="roundRect">
            <a:avLst>
              <a:gd name="adj" fmla="val 3333"/>
            </a:avLst>
          </a:prstGeom>
          <a:solidFill>
            <a:srgbClr val="F1F4F7"/>
          </a:solidFill>
          <a:ln w="12700">
            <a:solidFill>
              <a:srgbClr val="F1F4F7"/>
            </a:solidFill>
            <a:prstDash val="solid"/>
          </a:ln>
        </p:spPr>
      </p:sp>
      <p:sp>
        <p:nvSpPr>
          <p:cNvPr id="5" name="Text 3"/>
          <p:cNvSpPr txBox="1"/>
          <p:nvPr/>
        </p:nvSpPr>
        <p:spPr>
          <a:xfrm>
            <a:off x="640080" y="2103120"/>
            <a:ext cx="33832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FROM SCRATCH</a:t>
            </a:r>
            <a:endParaRPr lang="en-US" sz="1300" dirty="0"/>
          </a:p>
        </p:txBody>
      </p:sp>
      <p:sp>
        <p:nvSpPr>
          <p:cNvPr id="6" name="Text 4"/>
          <p:cNvSpPr txBox="1"/>
          <p:nvPr/>
        </p:nvSpPr>
        <p:spPr>
          <a:xfrm>
            <a:off x="640080" y="2432304"/>
            <a:ext cx="33832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pretrained on trillions of tokens</a:t>
            </a:r>
            <a:endParaRPr lang="en-US" sz="1050" dirty="0"/>
          </a:p>
        </p:txBody>
      </p:sp>
      <p:sp>
        <p:nvSpPr>
          <p:cNvPr id="7" name="Shape 5"/>
          <p:cNvSpPr/>
          <p:nvPr/>
        </p:nvSpPr>
        <p:spPr>
          <a:xfrm>
            <a:off x="4389120" y="2011680"/>
            <a:ext cx="3383280" cy="1371600"/>
          </a:xfrm>
          <a:prstGeom prst="roundRect">
            <a:avLst>
              <a:gd name="adj" fmla="val 3333"/>
            </a:avLst>
          </a:prstGeom>
          <a:solidFill>
            <a:srgbClr val="F1F4F7"/>
          </a:solidFill>
          <a:ln w="12700">
            <a:solidFill>
              <a:srgbClr val="F1F4F7"/>
            </a:solidFill>
            <a:prstDash val="solid"/>
          </a:ln>
        </p:spPr>
      </p:sp>
      <p:sp>
        <p:nvSpPr>
          <p:cNvPr id="8" name="Text 6"/>
          <p:cNvSpPr txBox="1"/>
          <p:nvPr/>
        </p:nvSpPr>
        <p:spPr>
          <a:xfrm>
            <a:off x="4389120" y="2103120"/>
            <a:ext cx="33832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DISTILLED</a:t>
            </a:r>
            <a:endParaRPr lang="en-US" sz="1300" dirty="0"/>
          </a:p>
        </p:txBody>
      </p:sp>
      <p:sp>
        <p:nvSpPr>
          <p:cNvPr id="9" name="Text 7"/>
          <p:cNvSpPr txBox="1"/>
          <p:nvPr/>
        </p:nvSpPr>
        <p:spPr>
          <a:xfrm>
            <a:off x="4389120" y="2432304"/>
            <a:ext cx="33832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trained to imitate a larger teacher</a:t>
            </a:r>
            <a:endParaRPr lang="en-US" sz="1050" dirty="0"/>
          </a:p>
        </p:txBody>
      </p:sp>
      <p:sp>
        <p:nvSpPr>
          <p:cNvPr id="10" name="Shape 8"/>
          <p:cNvSpPr/>
          <p:nvPr/>
        </p:nvSpPr>
        <p:spPr>
          <a:xfrm>
            <a:off x="8138160" y="2011680"/>
            <a:ext cx="3383280" cy="1371600"/>
          </a:xfrm>
          <a:prstGeom prst="roundRect">
            <a:avLst>
              <a:gd name="adj" fmla="val 3333"/>
            </a:avLst>
          </a:prstGeom>
          <a:solidFill>
            <a:srgbClr val="F1F4F7"/>
          </a:solidFill>
          <a:ln w="12700">
            <a:solidFill>
              <a:srgbClr val="F1F4F7"/>
            </a:solidFill>
            <a:prstDash val="solid"/>
          </a:ln>
        </p:spPr>
      </p:sp>
      <p:sp>
        <p:nvSpPr>
          <p:cNvPr id="11" name="Text 9"/>
          <p:cNvSpPr txBox="1"/>
          <p:nvPr/>
        </p:nvSpPr>
        <p:spPr>
          <a:xfrm>
            <a:off x="8138160" y="2103120"/>
            <a:ext cx="33832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PRUNED</a:t>
            </a:r>
            <a:endParaRPr lang="en-US" sz="1300" dirty="0"/>
          </a:p>
        </p:txBody>
      </p:sp>
      <p:sp>
        <p:nvSpPr>
          <p:cNvPr id="12" name="Text 10"/>
          <p:cNvSpPr txBox="1"/>
          <p:nvPr/>
        </p:nvSpPr>
        <p:spPr>
          <a:xfrm>
            <a:off x="8138160" y="2432304"/>
            <a:ext cx="33832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a larger model with parts removed</a:t>
            </a:r>
            <a:endParaRPr lang="en-US" sz="1050" dirty="0"/>
          </a:p>
        </p:txBody>
      </p:sp>
      <p:sp>
        <p:nvSpPr>
          <p:cNvPr id="13" name="Text 11"/>
          <p:cNvSpPr txBox="1"/>
          <p:nvPr/>
        </p:nvSpPr>
        <p:spPr>
          <a:xfrm>
            <a:off x="640080" y="365760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From scratch costs millions and needs a data pipeline. You will consume these, never produce them.</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Distillation transfers behaviour from a big teacher into a small student and is why modern small models are so good.</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Pruning removes weights or layers then repairs the damage with a little training. Cheapest, and quality is uneven.</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For your purposes all three arrive as a download. The lineage mainly tells you what to expect on quality.</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Licences are a real constraint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Check before you build, not after</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Permissive licences such as Apache 2.0 or MIT let you use, modify and ship commercially.</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Some models use a custom licence with usage restrictions, revenue thresholds, or naming requirements.</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A permissive licence can still carry a separate acceptable use policy layered on top. Read both documents.</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Licences change between generations. The terms you checked last year may not apply to this release.</a:t>
            </a:r>
            <a:endParaRPr lang="en-US" sz="1550" dirty="0"/>
          </a:p>
        </p:txBody>
      </p:sp>
      <p:sp>
        <p:nvSpPr>
          <p:cNvPr id="5" name="Text 3"/>
          <p:cNvSpPr txBox="1"/>
          <p:nvPr/>
        </p:nvSpPr>
        <p:spPr>
          <a:xfrm>
            <a:off x="640080" y="402336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Where legal review is slow, this is the single item worth raising on day one rather than day thirty.</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04</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small models are made</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Five techniques. You will use two of them, but you should recognise all five.</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production pipeline, end to end</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Where each technique sits</a:t>
            </a:r>
            <a:endParaRPr lang="en-US" sz="1500" dirty="0"/>
          </a:p>
        </p:txBody>
      </p:sp>
      <p:sp>
        <p:nvSpPr>
          <p:cNvPr id="4" name="Shape 2"/>
          <p:cNvSpPr/>
          <p:nvPr/>
        </p:nvSpPr>
        <p:spPr>
          <a:xfrm>
            <a:off x="640080" y="2103120"/>
            <a:ext cx="1874520" cy="914400"/>
          </a:xfrm>
          <a:prstGeom prst="roundRect">
            <a:avLst>
              <a:gd name="adj" fmla="val 5000"/>
            </a:avLst>
          </a:prstGeom>
          <a:solidFill>
            <a:srgbClr val="F1F4F7"/>
          </a:solidFill>
          <a:ln w="12700">
            <a:solidFill>
              <a:srgbClr val="F1F4F7"/>
            </a:solidFill>
            <a:prstDash val="solid"/>
          </a:ln>
        </p:spPr>
      </p:sp>
      <p:sp>
        <p:nvSpPr>
          <p:cNvPr id="5" name="Text 3"/>
          <p:cNvSpPr txBox="1"/>
          <p:nvPr/>
        </p:nvSpPr>
        <p:spPr>
          <a:xfrm>
            <a:off x="640080" y="2194560"/>
            <a:ext cx="187452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PRETRAIN</a:t>
            </a:r>
            <a:endParaRPr lang="en-US" sz="1300" dirty="0"/>
          </a:p>
        </p:txBody>
      </p:sp>
      <p:sp>
        <p:nvSpPr>
          <p:cNvPr id="6" name="Text 4"/>
          <p:cNvSpPr txBox="1"/>
          <p:nvPr/>
        </p:nvSpPr>
        <p:spPr>
          <a:xfrm>
            <a:off x="640080" y="2523744"/>
            <a:ext cx="187452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trillions of tokens</a:t>
            </a:r>
            <a:endParaRPr lang="en-US" sz="1050" dirty="0"/>
          </a:p>
        </p:txBody>
      </p:sp>
      <p:sp>
        <p:nvSpPr>
          <p:cNvPr id="7" name="Shape 5"/>
          <p:cNvSpPr/>
          <p:nvPr/>
        </p:nvSpPr>
        <p:spPr>
          <a:xfrm>
            <a:off x="2569464" y="2478024"/>
            <a:ext cx="219456" cy="164592"/>
          </a:xfrm>
          <a:prstGeom prst="rightArrow">
            <a:avLst/>
          </a:prstGeom>
          <a:solidFill>
            <a:srgbClr val="B9C6D2"/>
          </a:solidFill>
          <a:ln/>
        </p:spPr>
      </p:sp>
      <p:sp>
        <p:nvSpPr>
          <p:cNvPr id="8" name="Shape 6"/>
          <p:cNvSpPr/>
          <p:nvPr/>
        </p:nvSpPr>
        <p:spPr>
          <a:xfrm>
            <a:off x="2843784" y="2103120"/>
            <a:ext cx="1874520" cy="914400"/>
          </a:xfrm>
          <a:prstGeom prst="roundRect">
            <a:avLst>
              <a:gd name="adj" fmla="val 5000"/>
            </a:avLst>
          </a:prstGeom>
          <a:solidFill>
            <a:srgbClr val="F1F4F7"/>
          </a:solidFill>
          <a:ln w="12700">
            <a:solidFill>
              <a:srgbClr val="F1F4F7"/>
            </a:solidFill>
            <a:prstDash val="solid"/>
          </a:ln>
        </p:spPr>
      </p:sp>
      <p:sp>
        <p:nvSpPr>
          <p:cNvPr id="9" name="Text 7"/>
          <p:cNvSpPr txBox="1"/>
          <p:nvPr/>
        </p:nvSpPr>
        <p:spPr>
          <a:xfrm>
            <a:off x="2843784" y="2194560"/>
            <a:ext cx="187452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DISTIL</a:t>
            </a:r>
            <a:endParaRPr lang="en-US" sz="1300" dirty="0"/>
          </a:p>
        </p:txBody>
      </p:sp>
      <p:sp>
        <p:nvSpPr>
          <p:cNvPr id="10" name="Text 8"/>
          <p:cNvSpPr txBox="1"/>
          <p:nvPr/>
        </p:nvSpPr>
        <p:spPr>
          <a:xfrm>
            <a:off x="2843784" y="2523744"/>
            <a:ext cx="187452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teacher to student</a:t>
            </a:r>
            <a:endParaRPr lang="en-US" sz="1050" dirty="0"/>
          </a:p>
        </p:txBody>
      </p:sp>
      <p:sp>
        <p:nvSpPr>
          <p:cNvPr id="11" name="Shape 9"/>
          <p:cNvSpPr/>
          <p:nvPr/>
        </p:nvSpPr>
        <p:spPr>
          <a:xfrm>
            <a:off x="4773168" y="2478024"/>
            <a:ext cx="219456" cy="164592"/>
          </a:xfrm>
          <a:prstGeom prst="rightArrow">
            <a:avLst/>
          </a:prstGeom>
          <a:solidFill>
            <a:srgbClr val="B9C6D2"/>
          </a:solidFill>
          <a:ln/>
        </p:spPr>
      </p:sp>
      <p:sp>
        <p:nvSpPr>
          <p:cNvPr id="12" name="Shape 10"/>
          <p:cNvSpPr/>
          <p:nvPr/>
        </p:nvSpPr>
        <p:spPr>
          <a:xfrm>
            <a:off x="5047488" y="2103120"/>
            <a:ext cx="1874520" cy="914400"/>
          </a:xfrm>
          <a:prstGeom prst="roundRect">
            <a:avLst>
              <a:gd name="adj" fmla="val 5000"/>
            </a:avLst>
          </a:prstGeom>
          <a:solidFill>
            <a:srgbClr val="F1F4F7"/>
          </a:solidFill>
          <a:ln w="12700">
            <a:solidFill>
              <a:srgbClr val="F1F4F7"/>
            </a:solidFill>
            <a:prstDash val="solid"/>
          </a:ln>
        </p:spPr>
      </p:sp>
      <p:sp>
        <p:nvSpPr>
          <p:cNvPr id="13" name="Text 11"/>
          <p:cNvSpPr txBox="1"/>
          <p:nvPr/>
        </p:nvSpPr>
        <p:spPr>
          <a:xfrm>
            <a:off x="5047488" y="2194560"/>
            <a:ext cx="187452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PRUNE</a:t>
            </a:r>
            <a:endParaRPr lang="en-US" sz="1300" dirty="0"/>
          </a:p>
        </p:txBody>
      </p:sp>
      <p:sp>
        <p:nvSpPr>
          <p:cNvPr id="14" name="Text 12"/>
          <p:cNvSpPr txBox="1"/>
          <p:nvPr/>
        </p:nvSpPr>
        <p:spPr>
          <a:xfrm>
            <a:off x="5047488" y="2523744"/>
            <a:ext cx="187452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cut and repair</a:t>
            </a:r>
            <a:endParaRPr lang="en-US" sz="1050" dirty="0"/>
          </a:p>
        </p:txBody>
      </p:sp>
      <p:sp>
        <p:nvSpPr>
          <p:cNvPr id="15" name="Shape 13"/>
          <p:cNvSpPr/>
          <p:nvPr/>
        </p:nvSpPr>
        <p:spPr>
          <a:xfrm>
            <a:off x="6976872" y="2478024"/>
            <a:ext cx="219456" cy="164592"/>
          </a:xfrm>
          <a:prstGeom prst="rightArrow">
            <a:avLst/>
          </a:prstGeom>
          <a:solidFill>
            <a:srgbClr val="B9C6D2"/>
          </a:solidFill>
          <a:ln/>
        </p:spPr>
      </p:sp>
      <p:sp>
        <p:nvSpPr>
          <p:cNvPr id="16" name="Shape 14"/>
          <p:cNvSpPr/>
          <p:nvPr/>
        </p:nvSpPr>
        <p:spPr>
          <a:xfrm>
            <a:off x="7251192" y="2103120"/>
            <a:ext cx="1874520" cy="914400"/>
          </a:xfrm>
          <a:prstGeom prst="roundRect">
            <a:avLst>
              <a:gd name="adj" fmla="val 5000"/>
            </a:avLst>
          </a:prstGeom>
          <a:solidFill>
            <a:srgbClr val="F1F4F7"/>
          </a:solidFill>
          <a:ln w="12700">
            <a:solidFill>
              <a:srgbClr val="F1F4F7"/>
            </a:solidFill>
            <a:prstDash val="solid"/>
          </a:ln>
        </p:spPr>
      </p:sp>
      <p:sp>
        <p:nvSpPr>
          <p:cNvPr id="17" name="Text 15"/>
          <p:cNvSpPr txBox="1"/>
          <p:nvPr/>
        </p:nvSpPr>
        <p:spPr>
          <a:xfrm>
            <a:off x="7251192" y="2194560"/>
            <a:ext cx="187452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ALIGN</a:t>
            </a:r>
            <a:endParaRPr lang="en-US" sz="1300" dirty="0"/>
          </a:p>
        </p:txBody>
      </p:sp>
      <p:sp>
        <p:nvSpPr>
          <p:cNvPr id="18" name="Text 16"/>
          <p:cNvSpPr txBox="1"/>
          <p:nvPr/>
        </p:nvSpPr>
        <p:spPr>
          <a:xfrm>
            <a:off x="7251192" y="2523744"/>
            <a:ext cx="187452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instruction tune</a:t>
            </a:r>
            <a:endParaRPr lang="en-US" sz="1050" dirty="0"/>
          </a:p>
        </p:txBody>
      </p:sp>
      <p:sp>
        <p:nvSpPr>
          <p:cNvPr id="19" name="Shape 17"/>
          <p:cNvSpPr/>
          <p:nvPr/>
        </p:nvSpPr>
        <p:spPr>
          <a:xfrm>
            <a:off x="9180576" y="2478024"/>
            <a:ext cx="219456" cy="164592"/>
          </a:xfrm>
          <a:prstGeom prst="rightArrow">
            <a:avLst/>
          </a:prstGeom>
          <a:solidFill>
            <a:srgbClr val="B9C6D2"/>
          </a:solidFill>
          <a:ln/>
        </p:spPr>
      </p:sp>
      <p:sp>
        <p:nvSpPr>
          <p:cNvPr id="20" name="Shape 18"/>
          <p:cNvSpPr/>
          <p:nvPr/>
        </p:nvSpPr>
        <p:spPr>
          <a:xfrm>
            <a:off x="9454896" y="2103120"/>
            <a:ext cx="1874520" cy="914400"/>
          </a:xfrm>
          <a:prstGeom prst="roundRect">
            <a:avLst>
              <a:gd name="adj" fmla="val 5000"/>
            </a:avLst>
          </a:prstGeom>
          <a:solidFill>
            <a:srgbClr val="FDE3D6"/>
          </a:solidFill>
          <a:ln w="12700">
            <a:solidFill>
              <a:srgbClr val="FDE3D6"/>
            </a:solidFill>
            <a:prstDash val="solid"/>
          </a:ln>
        </p:spPr>
      </p:sp>
      <p:sp>
        <p:nvSpPr>
          <p:cNvPr id="21" name="Text 19"/>
          <p:cNvSpPr txBox="1"/>
          <p:nvPr/>
        </p:nvSpPr>
        <p:spPr>
          <a:xfrm>
            <a:off x="9454896" y="2194560"/>
            <a:ext cx="187452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QUANTIZE</a:t>
            </a:r>
            <a:endParaRPr lang="en-US" sz="1300" dirty="0"/>
          </a:p>
        </p:txBody>
      </p:sp>
      <p:sp>
        <p:nvSpPr>
          <p:cNvPr id="22" name="Text 20"/>
          <p:cNvSpPr txBox="1"/>
          <p:nvPr/>
        </p:nvSpPr>
        <p:spPr>
          <a:xfrm>
            <a:off x="9454896" y="2523744"/>
            <a:ext cx="187452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shrink to fit</a:t>
            </a:r>
            <a:endParaRPr lang="en-US" sz="1050" dirty="0"/>
          </a:p>
        </p:txBody>
      </p:sp>
      <p:sp>
        <p:nvSpPr>
          <p:cNvPr id="23" name="Shape 21"/>
          <p:cNvSpPr/>
          <p:nvPr/>
        </p:nvSpPr>
        <p:spPr>
          <a:xfrm>
            <a:off x="11384280" y="2478024"/>
            <a:ext cx="219456" cy="164592"/>
          </a:xfrm>
          <a:prstGeom prst="rightArrow">
            <a:avLst/>
          </a:prstGeom>
          <a:solidFill>
            <a:srgbClr val="B9C6D2"/>
          </a:solidFill>
          <a:ln/>
        </p:spPr>
      </p:sp>
      <p:sp>
        <p:nvSpPr>
          <p:cNvPr id="24" name="Shape 22"/>
          <p:cNvSpPr/>
          <p:nvPr/>
        </p:nvSpPr>
        <p:spPr>
          <a:xfrm>
            <a:off x="11658600" y="2103120"/>
            <a:ext cx="1874520" cy="914400"/>
          </a:xfrm>
          <a:prstGeom prst="roundRect">
            <a:avLst>
              <a:gd name="adj" fmla="val 5000"/>
            </a:avLst>
          </a:prstGeom>
          <a:solidFill>
            <a:srgbClr val="FDE3D6"/>
          </a:solidFill>
          <a:ln w="12700">
            <a:solidFill>
              <a:srgbClr val="FDE3D6"/>
            </a:solidFill>
            <a:prstDash val="solid"/>
          </a:ln>
        </p:spPr>
      </p:sp>
      <p:sp>
        <p:nvSpPr>
          <p:cNvPr id="25" name="Text 23"/>
          <p:cNvSpPr txBox="1"/>
          <p:nvPr/>
        </p:nvSpPr>
        <p:spPr>
          <a:xfrm>
            <a:off x="11658600" y="2194560"/>
            <a:ext cx="187452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FINE TUNE</a:t>
            </a:r>
            <a:endParaRPr lang="en-US" sz="1300" dirty="0"/>
          </a:p>
        </p:txBody>
      </p:sp>
      <p:sp>
        <p:nvSpPr>
          <p:cNvPr id="26" name="Text 24"/>
          <p:cNvSpPr txBox="1"/>
          <p:nvPr/>
        </p:nvSpPr>
        <p:spPr>
          <a:xfrm>
            <a:off x="11658600" y="2523744"/>
            <a:ext cx="187452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your task</a:t>
            </a:r>
            <a:endParaRPr lang="en-US" sz="1050" dirty="0"/>
          </a:p>
        </p:txBody>
      </p:sp>
      <p:sp>
        <p:nvSpPr>
          <p:cNvPr id="27" name="Text 25"/>
          <p:cNvSpPr txBox="1"/>
          <p:nvPr/>
        </p:nvSpPr>
        <p:spPr>
          <a:xfrm>
            <a:off x="640080" y="333756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The two shaded boxes are yours. Everything to the left of them happens at organisations with large training budgets, and arrives to you as a file you download.</a:t>
            </a:r>
            <a:endParaRPr lang="en-US" sz="1500" dirty="0"/>
          </a:p>
        </p:txBody>
      </p:sp>
      <p:sp>
        <p:nvSpPr>
          <p:cNvPr id="28" name="Text 26"/>
          <p:cNvSpPr txBox="1"/>
          <p:nvPr/>
        </p:nvSpPr>
        <p:spPr>
          <a:xfrm>
            <a:off x="640080" y="4023360"/>
            <a:ext cx="10543032" cy="1225296"/>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You will quantize almost every model you deploy locally.</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You will fine-tune a minority of them, and only for the right reasons.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Pretraining, and why you will not do it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Useful to understand, impossible to justify</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The model learns language by predicting the next token across trillions of tokens of text.</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Cost runs from hundreds of thousands to many millions of dollars, plus a serious data engineering effort.</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The output is a base model that completes text but does not follow instructions.</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What you should take from it: the model knows only what was in that corpus, up to its cutoff date.</a:t>
            </a:r>
            <a:endParaRPr lang="en-US" sz="1550" dirty="0"/>
          </a:p>
        </p:txBody>
      </p:sp>
      <p:sp>
        <p:nvSpPr>
          <p:cNvPr id="5" name="Shape 3"/>
          <p:cNvSpPr/>
          <p:nvPr/>
        </p:nvSpPr>
        <p:spPr>
          <a:xfrm>
            <a:off x="640080" y="3931920"/>
            <a:ext cx="10908792" cy="1097280"/>
          </a:xfrm>
          <a:prstGeom prst="roundRect">
            <a:avLst>
              <a:gd name="adj" fmla="val 5000"/>
            </a:avLst>
          </a:prstGeom>
          <a:solidFill>
            <a:srgbClr val="F1F4F7"/>
          </a:solidFill>
          <a:ln w="12700">
            <a:solidFill>
              <a:srgbClr val="E1E7ED"/>
            </a:solidFill>
            <a:prstDash val="solid"/>
          </a:ln>
        </p:spPr>
      </p:sp>
      <p:sp>
        <p:nvSpPr>
          <p:cNvPr id="6" name="Text 4"/>
          <p:cNvSpPr txBox="1"/>
          <p:nvPr/>
        </p:nvSpPr>
        <p:spPr>
          <a:xfrm>
            <a:off x="1005840" y="4114800"/>
            <a:ext cx="10177272" cy="777240"/>
          </a:xfrm>
          <a:prstGeom prst="rect">
            <a:avLst/>
          </a:prstGeom>
          <a:noFill/>
          <a:ln/>
        </p:spPr>
        <p:txBody>
          <a:bodyPr wrap="square" lIns="0" tIns="0" rIns="0" bIns="0" rtlCol="0" anchor="ctr"/>
          <a:lstStyle/>
          <a:p>
            <a:pPr indent="0" marL="0">
              <a:lnSpc>
                <a:spcPts val="1900"/>
              </a:lnSpc>
              <a:buNone/>
            </a:pPr>
            <a:r>
              <a:rPr lang="en-US" sz="1350" dirty="0">
                <a:solidFill>
                  <a:srgbClr val="2A3746"/>
                </a:solidFill>
                <a:latin typeface="Calibri" pitchFamily="34" charset="0"/>
                <a:ea typeface="Calibri" pitchFamily="34" charset="-122"/>
                <a:cs typeface="Calibri" pitchFamily="34" charset="-120"/>
              </a:rPr>
              <a:t>This is why retrieval exists. If your facts are newer than the cutoff or private to you, they must arrive in the prompt. No amount of fine-tuning is a reliable way to add facts.</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Distillation is why small models got good</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 large teacher supervises a small student</a:t>
            </a:r>
            <a:endParaRPr lang="en-US" sz="1500" dirty="0"/>
          </a:p>
        </p:txBody>
      </p:sp>
      <p:sp>
        <p:nvSpPr>
          <p:cNvPr id="4" name="Shape 2"/>
          <p:cNvSpPr/>
          <p:nvPr/>
        </p:nvSpPr>
        <p:spPr>
          <a:xfrm>
            <a:off x="1737360" y="2011680"/>
            <a:ext cx="3108960" cy="1097280"/>
          </a:xfrm>
          <a:prstGeom prst="roundRect">
            <a:avLst>
              <a:gd name="adj" fmla="val 4167"/>
            </a:avLst>
          </a:prstGeom>
          <a:solidFill>
            <a:srgbClr val="F1F4F7"/>
          </a:solidFill>
          <a:ln w="12700">
            <a:solidFill>
              <a:srgbClr val="F1F4F7"/>
            </a:solidFill>
            <a:prstDash val="solid"/>
          </a:ln>
        </p:spPr>
      </p:sp>
      <p:sp>
        <p:nvSpPr>
          <p:cNvPr id="5" name="Text 3"/>
          <p:cNvSpPr txBox="1"/>
          <p:nvPr/>
        </p:nvSpPr>
        <p:spPr>
          <a:xfrm>
            <a:off x="1737360" y="2103120"/>
            <a:ext cx="310896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TEACHER</a:t>
            </a:r>
            <a:endParaRPr lang="en-US" sz="1300" dirty="0"/>
          </a:p>
        </p:txBody>
      </p:sp>
      <p:sp>
        <p:nvSpPr>
          <p:cNvPr id="6" name="Text 4"/>
          <p:cNvSpPr txBox="1"/>
          <p:nvPr/>
        </p:nvSpPr>
        <p:spPr>
          <a:xfrm>
            <a:off x="1737360" y="2432304"/>
            <a:ext cx="310896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large, expensive, capable</a:t>
            </a:r>
            <a:endParaRPr lang="en-US" sz="1050" dirty="0"/>
          </a:p>
        </p:txBody>
      </p:sp>
      <p:sp>
        <p:nvSpPr>
          <p:cNvPr id="7" name="Shape 5"/>
          <p:cNvSpPr/>
          <p:nvPr/>
        </p:nvSpPr>
        <p:spPr>
          <a:xfrm>
            <a:off x="5029200" y="2468880"/>
            <a:ext cx="1097280" cy="164592"/>
          </a:xfrm>
          <a:prstGeom prst="rightArrow">
            <a:avLst/>
          </a:prstGeom>
          <a:solidFill>
            <a:srgbClr val="B9C6D2"/>
          </a:solidFill>
          <a:ln/>
        </p:spPr>
      </p:sp>
      <p:sp>
        <p:nvSpPr>
          <p:cNvPr id="8" name="Shape 6"/>
          <p:cNvSpPr/>
          <p:nvPr/>
        </p:nvSpPr>
        <p:spPr>
          <a:xfrm>
            <a:off x="6309360" y="2011680"/>
            <a:ext cx="3108960" cy="1097280"/>
          </a:xfrm>
          <a:prstGeom prst="roundRect">
            <a:avLst>
              <a:gd name="adj" fmla="val 4167"/>
            </a:avLst>
          </a:prstGeom>
          <a:solidFill>
            <a:srgbClr val="E7F2EE"/>
          </a:solidFill>
          <a:ln w="12700">
            <a:solidFill>
              <a:srgbClr val="E7F2EE"/>
            </a:solidFill>
            <a:prstDash val="solid"/>
          </a:ln>
        </p:spPr>
      </p:sp>
      <p:sp>
        <p:nvSpPr>
          <p:cNvPr id="9" name="Text 7"/>
          <p:cNvSpPr txBox="1"/>
          <p:nvPr/>
        </p:nvSpPr>
        <p:spPr>
          <a:xfrm>
            <a:off x="6309360" y="2103120"/>
            <a:ext cx="310896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STUDENT</a:t>
            </a:r>
            <a:endParaRPr lang="en-US" sz="1300" dirty="0"/>
          </a:p>
        </p:txBody>
      </p:sp>
      <p:sp>
        <p:nvSpPr>
          <p:cNvPr id="10" name="Text 8"/>
          <p:cNvSpPr txBox="1"/>
          <p:nvPr/>
        </p:nvSpPr>
        <p:spPr>
          <a:xfrm>
            <a:off x="6309360" y="2432304"/>
            <a:ext cx="310896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small, cheap, nearly as good</a:t>
            </a:r>
            <a:endParaRPr lang="en-US" sz="1050" dirty="0"/>
          </a:p>
        </p:txBody>
      </p:sp>
      <p:sp>
        <p:nvSpPr>
          <p:cNvPr id="11" name="Text 9"/>
          <p:cNvSpPr txBox="1"/>
          <p:nvPr/>
        </p:nvSpPr>
        <p:spPr>
          <a:xfrm>
            <a:off x="640080" y="338328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The student trains on the teacher’s outputs, and often on its full probability distribution, which carries more signal than text alone.</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The result routinely beats a model of the same size trained from scratch on raw text.</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This is the main reason a modern 3B model outperforms a much larger model from a few years ago.</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Check the licence of the teacher. Some forbid using their outputs to train competing models.</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Quantization is the lever you will actually pull</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Fewer bits per weight, dramatically less memory</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Weights are stored at reduced precision, most commonly 4 bit, instead of 16 bit floating point.</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Memory falls by roughly four times and speed improves, because memory bandwidth is usually the bottleneck.</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Quality loss at 4 bit is small for most tasks and is very often the correct trade.</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Below 4 bit, degradation becomes visible quickly, and it shows up first on structured output and long reasoning.</a:t>
            </a:r>
            <a:endParaRPr lang="en-US" sz="15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3886200"/>
          <a:ext cx="10908792" cy="914400"/>
        </p:xfrm>
        <a:graphic>
          <a:graphicData uri="http://schemas.openxmlformats.org/drawingml/2006/table">
            <a:tbl>
              <a:tblPr/>
              <a:tblGrid>
                <a:gridCol w="2560320"/>
                <a:gridCol w="2926080"/>
                <a:gridCol w="5422392"/>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Size of a 3B model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Guidance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10896">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16 bit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about 6 GB</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Training and conversion. Rarely for serving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10896">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8 bit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about 3 GB</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Safe. Use when you have the memory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10896">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4 bit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about 1.7 GB</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The workhorse. Start here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10896">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3 bit and below</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about 1.2 GB</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Only with an eval that proves it holds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Fine-tuning: three ways, one you will use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Full, LoRA, and QLoRA</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2377440"/>
                <a:gridCol w="3931920"/>
                <a:gridCol w="1463040"/>
                <a:gridCol w="3136392"/>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updates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Memory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502920">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Full fine-tune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Every parameter</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Very high</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Rarely. You need a cluster and a reason</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502920">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LoRA</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Small adapter matrices added to some layers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Moderate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You have a GPU and full precision weights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502920">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QLoRA</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Same adapter, over a quantized base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Low</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The default. Runs on a laptop</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3977640"/>
            <a:ext cx="10543032" cy="160934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An adapter is a small set of extra weights. The base model is untouched and can be shared across adapters.</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Adapters are megabytes, not gigabytes, so you can keep one per task or per tenant.</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At the end you either merge the adapter into the base or load it alongside at serving time.</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Alignment: turning a base model into an assistant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Instruction tuning, then preference tuning</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Supervised instruction tuning teaches the format of helpful answers, using prompt and response pairs.</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Preference tuning then nudges the model toward answers humans rated better and away from ones they did not.</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This is what separates a base model from the instruct model you actually want to use.</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Your own fine-tuning is the same machinery, applied narrowly to one task rather than to general helpfulness.</a:t>
            </a:r>
            <a:endParaRPr lang="en-US" sz="1550" dirty="0"/>
          </a:p>
        </p:txBody>
      </p:sp>
      <p:sp>
        <p:nvSpPr>
          <p:cNvPr id="5" name="Text 3"/>
          <p:cNvSpPr txBox="1"/>
          <p:nvPr/>
        </p:nvSpPr>
        <p:spPr>
          <a:xfrm>
            <a:off x="640080" y="402336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Practical consequence: fine-tuning an instruct model on a narrow task can erode its general helpfulness. We will measure exactly that in part 7.</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05</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Running them</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Formats, runtimes, hardware, and what performance to expect.</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Formats and runtimes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Two file formats and four runtimes cover almost everything</a:t>
            </a:r>
            <a:endParaRPr lang="en-US" sz="15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103120"/>
                <a:gridCol w="4572000"/>
                <a:gridCol w="423367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You meet it when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safetensors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Full precision weights, the training format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Downloading a base model, fine-tuning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GGUF</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Quantized single file for local inference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Running locally on CPU or a laptop GPU</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llama.cpp</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C++ inference engine, CPU first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Local serving, laptops, edge, air gapped</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Ollama</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 friendly wrapper over local inference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Getting started, demos, teaching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vLLM</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High throughput GPU server</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Production serving with real concurrency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MLX</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Apple silicon training and inference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Fine-tuning on a Mac</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What performance to expect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Order of magnitude, so you can sanity check a vendor claim</a:t>
            </a:r>
            <a:endParaRPr lang="en-US" sz="15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4206240"/>
                <a:gridCol w="3840480"/>
                <a:gridCol w="2862072"/>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Setup</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Generation speed</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3B, 4 bit, modern laptop CPU</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roughly 30 to 60 tokens per second</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Comfortable for most work</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7B to 9B, 4 bit, laptop CPU</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roughly 10 to 25 tokens per second</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Usable, feels slow interactively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3B to 9B on a consumer GPU</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well over 100 tokens per second</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Comfortable for anything</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Below 5 tokens per second</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any setup</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Not tolerable for an interactive agent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069080"/>
            <a:ext cx="10543032" cy="160934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Always separate prompt processing speed from generation speed when comparing numbers.</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Benchmark on the hardware you will deploy on. Laptop numbers do not transfer to a shared server.</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Concurrency changes everything. A single stream number tells you very little about throughput under load.</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Self hosting is a separate decision from model size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These two get conflated constantly</a:t>
            </a:r>
            <a:endParaRPr lang="en-US" sz="1500" dirty="0"/>
          </a:p>
        </p:txBody>
      </p:sp>
      <p:sp>
        <p:nvSpPr>
          <p:cNvPr id="4" name="Shape 2"/>
          <p:cNvSpPr/>
          <p:nvPr/>
        </p:nvSpPr>
        <p:spPr>
          <a:xfrm>
            <a:off x="640080" y="1920240"/>
            <a:ext cx="5271516" cy="2651760"/>
          </a:xfrm>
          <a:prstGeom prst="roundRect">
            <a:avLst>
              <a:gd name="adj" fmla="val 2069"/>
            </a:avLst>
          </a:prstGeom>
          <a:solidFill>
            <a:srgbClr val="E7F2EE"/>
          </a:solidFill>
          <a:ln w="12700">
            <a:solidFill>
              <a:srgbClr val="E1E7ED"/>
            </a:solidFill>
            <a:prstDash val="solid"/>
          </a:ln>
        </p:spPr>
      </p:sp>
      <p:sp>
        <p:nvSpPr>
          <p:cNvPr id="5" name="Text 3"/>
          <p:cNvSpPr txBox="1"/>
          <p:nvPr/>
        </p:nvSpPr>
        <p:spPr>
          <a:xfrm>
            <a:off x="960120" y="2103120"/>
            <a:ext cx="3657600" cy="365760"/>
          </a:xfrm>
          <a:prstGeom prst="rect">
            <a:avLst/>
          </a:prstGeom>
          <a:noFill/>
          <a:ln/>
        </p:spPr>
        <p:txBody>
          <a:bodyPr wrap="square" lIns="0" tIns="0" rIns="0" bIns="0" rtlCol="0" anchor="ctr"/>
          <a:lstStyle/>
          <a:p>
            <a:pPr indent="0" marL="0">
              <a:buNone/>
            </a:pPr>
            <a:r>
              <a:rPr lang="en-US" sz="1400" b="1" dirty="0">
                <a:solidFill>
                  <a:srgbClr val="17513F"/>
                </a:solidFill>
                <a:latin typeface="Calibri" pitchFamily="34" charset="0"/>
                <a:ea typeface="Calibri" pitchFamily="34" charset="-122"/>
                <a:cs typeface="Calibri" pitchFamily="34" charset="-120"/>
              </a:rPr>
              <a:t>Small versus large</a:t>
            </a:r>
            <a:endParaRPr lang="en-US" sz="1400" dirty="0"/>
          </a:p>
        </p:txBody>
      </p:sp>
      <p:sp>
        <p:nvSpPr>
          <p:cNvPr id="6" name="Text 4"/>
          <p:cNvSpPr txBox="1"/>
          <p:nvPr/>
        </p:nvSpPr>
        <p:spPr>
          <a:xfrm>
            <a:off x="960120" y="2514600"/>
            <a:ext cx="4631436" cy="160934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Nearly always a win on a narrow task</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Decided by task shape and your eval</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Cheap to test: swap the model, rerun the golden set</a:t>
            </a:r>
            <a:endParaRPr lang="en-US" sz="1350" dirty="0"/>
          </a:p>
        </p:txBody>
      </p:sp>
      <p:sp>
        <p:nvSpPr>
          <p:cNvPr id="7" name="Shape 5"/>
          <p:cNvSpPr/>
          <p:nvPr/>
        </p:nvSpPr>
        <p:spPr>
          <a:xfrm>
            <a:off x="6277356" y="1920240"/>
            <a:ext cx="5271516" cy="2651760"/>
          </a:xfrm>
          <a:prstGeom prst="roundRect">
            <a:avLst>
              <a:gd name="adj" fmla="val 2069"/>
            </a:avLst>
          </a:prstGeom>
          <a:solidFill>
            <a:srgbClr val="FBF0E2"/>
          </a:solidFill>
          <a:ln w="12700">
            <a:solidFill>
              <a:srgbClr val="E1E7ED"/>
            </a:solidFill>
            <a:prstDash val="solid"/>
          </a:ln>
        </p:spPr>
      </p:sp>
      <p:sp>
        <p:nvSpPr>
          <p:cNvPr id="8" name="Text 6"/>
          <p:cNvSpPr txBox="1"/>
          <p:nvPr/>
        </p:nvSpPr>
        <p:spPr>
          <a:xfrm>
            <a:off x="6597396" y="2103120"/>
            <a:ext cx="3657600" cy="365760"/>
          </a:xfrm>
          <a:prstGeom prst="rect">
            <a:avLst/>
          </a:prstGeom>
          <a:noFill/>
          <a:ln/>
        </p:spPr>
        <p:txBody>
          <a:bodyPr wrap="square" lIns="0" tIns="0" rIns="0" bIns="0" rtlCol="0" anchor="ctr"/>
          <a:lstStyle/>
          <a:p>
            <a:pPr indent="0" marL="0">
              <a:buNone/>
            </a:pPr>
            <a:r>
              <a:rPr lang="en-US" sz="1400" b="1" dirty="0">
                <a:solidFill>
                  <a:srgbClr val="5A4415"/>
                </a:solidFill>
                <a:latin typeface="Calibri" pitchFamily="34" charset="0"/>
                <a:ea typeface="Calibri" pitchFamily="34" charset="-122"/>
                <a:cs typeface="Calibri" pitchFamily="34" charset="-120"/>
              </a:rPr>
              <a:t>Self host versus API</a:t>
            </a:r>
            <a:endParaRPr lang="en-US" sz="1400" dirty="0"/>
          </a:p>
        </p:txBody>
      </p:sp>
      <p:sp>
        <p:nvSpPr>
          <p:cNvPr id="9" name="Text 7"/>
          <p:cNvSpPr txBox="1"/>
          <p:nvPr/>
        </p:nvSpPr>
        <p:spPr>
          <a:xfrm>
            <a:off x="6597396" y="2514600"/>
            <a:ext cx="4631436" cy="160934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Almost never won on token price alone</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Won on sovereignty, latency guarantees, per tenant weights, air gap, deprecation risk</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Costs you an ops burden forever</a:t>
            </a:r>
            <a:endParaRPr lang="en-US" sz="1350" dirty="0"/>
          </a:p>
        </p:txBody>
      </p:sp>
      <p:sp>
        <p:nvSpPr>
          <p:cNvPr id="10" name="Text 8"/>
          <p:cNvSpPr txBox="1"/>
          <p:nvPr/>
        </p:nvSpPr>
        <p:spPr>
          <a:xfrm>
            <a:off x="640080" y="475488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A cheap hosted small model captures most of the win with none of the operational cost. Reach for self hosting when you have a reason that is not the token price.</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06</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Making them reliable</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The core of the class. Architecture beats parameters.</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A tool call succeeds 90 percent of the time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Your agent takes ten steps. What is the end to end success rate?</a:t>
            </a:r>
            <a:endParaRPr lang="en-US" sz="1500" dirty="0"/>
          </a:p>
        </p:txBody>
      </p:sp>
      <p:sp>
        <p:nvSpPr>
          <p:cNvPr id="4" name="Text 2"/>
          <p:cNvSpPr txBox="1"/>
          <p:nvPr/>
        </p:nvSpPr>
        <p:spPr>
          <a:xfrm>
            <a:off x="640080" y="2103120"/>
            <a:ext cx="3108960" cy="822960"/>
          </a:xfrm>
          <a:prstGeom prst="rect">
            <a:avLst/>
          </a:prstGeom>
          <a:noFill/>
          <a:ln/>
        </p:spPr>
        <p:txBody>
          <a:bodyPr wrap="square" lIns="0" tIns="0" rIns="0" bIns="0" rtlCol="0" anchor="ctr"/>
          <a:lstStyle/>
          <a:p>
            <a:pPr indent="0" marL="0">
              <a:buNone/>
            </a:pPr>
            <a:r>
              <a:rPr lang="en-US" sz="5200" b="1" dirty="0">
                <a:solidFill>
                  <a:srgbClr val="C0442E"/>
                </a:solidFill>
                <a:latin typeface="Courier New" pitchFamily="34" charset="0"/>
                <a:ea typeface="Courier New" pitchFamily="34" charset="-122"/>
                <a:cs typeface="Courier New" pitchFamily="34" charset="-120"/>
              </a:rPr>
              <a:t>34.9%</a:t>
            </a:r>
            <a:endParaRPr lang="en-US" sz="5200" dirty="0"/>
          </a:p>
        </p:txBody>
      </p:sp>
      <p:sp>
        <p:nvSpPr>
          <p:cNvPr id="5" name="Text 3"/>
          <p:cNvSpPr txBox="1"/>
          <p:nvPr/>
        </p:nvSpPr>
        <p:spPr>
          <a:xfrm>
            <a:off x="640080" y="2880360"/>
            <a:ext cx="3108960" cy="731520"/>
          </a:xfrm>
          <a:prstGeom prst="rect">
            <a:avLst/>
          </a:prstGeom>
          <a:noFill/>
          <a:ln/>
        </p:spPr>
        <p:txBody>
          <a:bodyPr wrap="square" lIns="0" tIns="0" rIns="0" bIns="0" rtlCol="0" anchor="ctr"/>
          <a:lstStyle/>
          <a:p>
            <a:pPr indent="0" marL="0">
              <a:buNone/>
            </a:pPr>
            <a:r>
              <a:rPr lang="en-US" sz="1250" dirty="0">
                <a:solidFill>
                  <a:srgbClr val="6B7A8C"/>
                </a:solidFill>
                <a:latin typeface="Calibri" pitchFamily="34" charset="0"/>
                <a:ea typeface="Calibri" pitchFamily="34" charset="-122"/>
                <a:cs typeface="Calibri" pitchFamily="34" charset="-120"/>
              </a:rPr>
              <a:t>ten steps at 0.90 each</a:t>
            </a:r>
            <a:endParaRPr lang="en-US" sz="1250" dirty="0"/>
          </a:p>
        </p:txBody>
      </p:sp>
      <p:sp>
        <p:nvSpPr>
          <p:cNvPr id="6" name="Shape 4"/>
          <p:cNvSpPr/>
          <p:nvPr/>
        </p:nvSpPr>
        <p:spPr>
          <a:xfrm>
            <a:off x="4663440" y="2057400"/>
            <a:ext cx="6885432" cy="2103120"/>
          </a:xfrm>
          <a:prstGeom prst="roundRect">
            <a:avLst>
              <a:gd name="adj" fmla="val 2609"/>
            </a:avLst>
          </a:prstGeom>
          <a:solidFill>
            <a:srgbClr val="F1F4F7"/>
          </a:solidFill>
          <a:ln w="12700">
            <a:solidFill>
              <a:srgbClr val="E1E7ED"/>
            </a:solidFill>
            <a:prstDash val="solid"/>
          </a:ln>
        </p:spPr>
      </p:sp>
      <p:sp>
        <p:nvSpPr>
          <p:cNvPr id="7" name="Text 5"/>
          <p:cNvSpPr txBox="1"/>
          <p:nvPr/>
        </p:nvSpPr>
        <p:spPr>
          <a:xfrm>
            <a:off x="5029200" y="2286000"/>
            <a:ext cx="615391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00" dirty="0">
                <a:solidFill>
                  <a:srgbClr val="2A3746"/>
                </a:solidFill>
                <a:latin typeface="Calibri" pitchFamily="34" charset="0"/>
                <a:ea typeface="Calibri" pitchFamily="34" charset="-122"/>
                <a:cs typeface="Calibri" pitchFamily="34" charset="-120"/>
              </a:rPr>
              <a:t>Errors compound multiplicatively. Ten good steps are not a good pipeline.</a:t>
            </a:r>
            <a:endParaRPr lang="en-US" sz="1400" dirty="0"/>
          </a:p>
          <a:p>
            <a:pPr marL="342900" indent="-342900">
              <a:lnSpc>
                <a:spcPts val="2100"/>
              </a:lnSpc>
              <a:spcAft>
                <a:spcPts val="700"/>
              </a:spcAft>
              <a:buSzPct val="100000"/>
              <a:buChar char="•"/>
            </a:pPr>
            <a:r>
              <a:rPr lang="en-US" sz="1400" dirty="0">
                <a:solidFill>
                  <a:srgbClr val="2A3746"/>
                </a:solidFill>
                <a:latin typeface="Calibri" pitchFamily="34" charset="0"/>
                <a:ea typeface="Calibri" pitchFamily="34" charset="-122"/>
                <a:cs typeface="Calibri" pitchFamily="34" charset="-120"/>
              </a:rPr>
              <a:t>To reach 90 percent over ten steps you need 0.990 per step.</a:t>
            </a:r>
            <a:endParaRPr lang="en-US" sz="1400" dirty="0"/>
          </a:p>
          <a:p>
            <a:pPr marL="342900" indent="-342900">
              <a:lnSpc>
                <a:spcPts val="2100"/>
              </a:lnSpc>
              <a:spcAft>
                <a:spcPts val="700"/>
              </a:spcAft>
              <a:buSzPct val="100000"/>
              <a:buChar char="•"/>
            </a:pPr>
            <a:r>
              <a:rPr lang="en-US" sz="1400" dirty="0">
                <a:solidFill>
                  <a:srgbClr val="2A3746"/>
                </a:solidFill>
                <a:latin typeface="Calibri" pitchFamily="34" charset="0"/>
                <a:ea typeface="Calibri" pitchFamily="34" charset="-122"/>
                <a:cs typeface="Calibri" pitchFamily="34" charset="-120"/>
              </a:rPr>
              <a:t>Nothing on any leaderboard reaches 0.990 reliably, frontier models included.</a:t>
            </a:r>
            <a:endParaRPr lang="en-US" sz="1400" dirty="0"/>
          </a:p>
          <a:p>
            <a:pPr marL="342900" indent="-342900">
              <a:lnSpc>
                <a:spcPts val="2100"/>
              </a:lnSpc>
              <a:spcAft>
                <a:spcPts val="700"/>
              </a:spcAft>
              <a:buSzPct val="100000"/>
              <a:buChar char="•"/>
            </a:pPr>
            <a:r>
              <a:rPr lang="en-US" sz="1400" dirty="0">
                <a:solidFill>
                  <a:srgbClr val="2A3746"/>
                </a:solidFill>
                <a:latin typeface="Calibri" pitchFamily="34" charset="0"/>
                <a:ea typeface="Calibri" pitchFamily="34" charset="-122"/>
                <a:cs typeface="Calibri" pitchFamily="34" charset="-120"/>
              </a:rPr>
              <a:t>So you have to engineer around this regardless of model size.</a:t>
            </a:r>
            <a:endParaRPr lang="en-US" sz="1400" dirty="0"/>
          </a:p>
        </p:txBody>
      </p:sp>
      <p:sp>
        <p:nvSpPr>
          <p:cNvPr id="8" name="Text 6"/>
          <p:cNvSpPr txBox="1"/>
          <p:nvPr/>
        </p:nvSpPr>
        <p:spPr>
          <a:xfrm>
            <a:off x="640080" y="443484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That reframes the whole question. It is not "is a small model good enough". It is "your architecture must tolerate imperfect steps", and once you accept that, small models become far more interesting.</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compounding table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Find your row before you choose a model</a:t>
            </a:r>
            <a:endParaRPr lang="en-US" sz="15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8508858" cy="914400"/>
        </p:xfrm>
        <a:graphic>
          <a:graphicData uri="http://schemas.openxmlformats.org/drawingml/2006/table">
            <a:tbl>
              <a:tblPr/>
              <a:tblGrid>
                <a:gridCol w="2926080"/>
                <a:gridCol w="2194560"/>
                <a:gridCol w="2194560"/>
                <a:gridCol w="1193658"/>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 step reliability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5 steps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10 steps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20 steps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84048">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32.8%</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10.7%</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59.0%</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34.9%</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12.2%</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77.4%</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59.9%</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35.8%</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95.1%</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90.4%</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81.8%</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0.999</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99.5%</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99.0%</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98.0%</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34340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Two ways to move right and down this table: raise per step reliability, which is hard and expensive, or cut the number of steps, which is architecture and is usually free.</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Four fixes, in the order you should apply them</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All four are cheaper than a bigger model</a:t>
            </a:r>
            <a:endParaRPr lang="en-US" sz="1500" dirty="0"/>
          </a:p>
        </p:txBody>
      </p:sp>
      <p:sp>
        <p:nvSpPr>
          <p:cNvPr id="4" name="Shape 2"/>
          <p:cNvSpPr/>
          <p:nvPr/>
        </p:nvSpPr>
        <p:spPr>
          <a:xfrm>
            <a:off x="640080" y="2011680"/>
            <a:ext cx="2521458" cy="1143000"/>
          </a:xfrm>
          <a:prstGeom prst="roundRect">
            <a:avLst>
              <a:gd name="adj" fmla="val 4000"/>
            </a:avLst>
          </a:prstGeom>
          <a:solidFill>
            <a:srgbClr val="F1F4F7"/>
          </a:solidFill>
          <a:ln w="12700">
            <a:solidFill>
              <a:srgbClr val="F1F4F7"/>
            </a:solidFill>
            <a:prstDash val="solid"/>
          </a:ln>
        </p:spPr>
      </p:sp>
      <p:sp>
        <p:nvSpPr>
          <p:cNvPr id="5" name="Text 3"/>
          <p:cNvSpPr txBox="1"/>
          <p:nvPr/>
        </p:nvSpPr>
        <p:spPr>
          <a:xfrm>
            <a:off x="640080" y="2103120"/>
            <a:ext cx="2521458"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1  DECOMPOSE</a:t>
            </a:r>
            <a:endParaRPr lang="en-US" sz="1300" dirty="0"/>
          </a:p>
        </p:txBody>
      </p:sp>
      <p:sp>
        <p:nvSpPr>
          <p:cNvPr id="6" name="Text 4"/>
          <p:cNvSpPr txBox="1"/>
          <p:nvPr/>
        </p:nvSpPr>
        <p:spPr>
          <a:xfrm>
            <a:off x="640080" y="2432304"/>
            <a:ext cx="2521458"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cut N, checkpoint between segments</a:t>
            </a:r>
            <a:endParaRPr lang="en-US" sz="1050" dirty="0"/>
          </a:p>
        </p:txBody>
      </p:sp>
      <p:sp>
        <p:nvSpPr>
          <p:cNvPr id="7" name="Shape 5"/>
          <p:cNvSpPr/>
          <p:nvPr/>
        </p:nvSpPr>
        <p:spPr>
          <a:xfrm>
            <a:off x="3435858" y="2011680"/>
            <a:ext cx="2521458" cy="1143000"/>
          </a:xfrm>
          <a:prstGeom prst="roundRect">
            <a:avLst>
              <a:gd name="adj" fmla="val 4000"/>
            </a:avLst>
          </a:prstGeom>
          <a:solidFill>
            <a:srgbClr val="F1F4F7"/>
          </a:solidFill>
          <a:ln w="12700">
            <a:solidFill>
              <a:srgbClr val="F1F4F7"/>
            </a:solidFill>
            <a:prstDash val="solid"/>
          </a:ln>
        </p:spPr>
      </p:sp>
      <p:sp>
        <p:nvSpPr>
          <p:cNvPr id="8" name="Text 6"/>
          <p:cNvSpPr txBox="1"/>
          <p:nvPr/>
        </p:nvSpPr>
        <p:spPr>
          <a:xfrm>
            <a:off x="3435858" y="2103120"/>
            <a:ext cx="2521458"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2  CONSTRAIN</a:t>
            </a:r>
            <a:endParaRPr lang="en-US" sz="1300" dirty="0"/>
          </a:p>
        </p:txBody>
      </p:sp>
      <p:sp>
        <p:nvSpPr>
          <p:cNvPr id="9" name="Text 7"/>
          <p:cNvSpPr txBox="1"/>
          <p:nvPr/>
        </p:nvSpPr>
        <p:spPr>
          <a:xfrm>
            <a:off x="3435858" y="2432304"/>
            <a:ext cx="2521458"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grammar or schema at decode time</a:t>
            </a:r>
            <a:endParaRPr lang="en-US" sz="1050" dirty="0"/>
          </a:p>
        </p:txBody>
      </p:sp>
      <p:sp>
        <p:nvSpPr>
          <p:cNvPr id="10" name="Shape 8"/>
          <p:cNvSpPr/>
          <p:nvPr/>
        </p:nvSpPr>
        <p:spPr>
          <a:xfrm>
            <a:off x="6231636" y="2011680"/>
            <a:ext cx="2521458" cy="1143000"/>
          </a:xfrm>
          <a:prstGeom prst="roundRect">
            <a:avLst>
              <a:gd name="adj" fmla="val 4000"/>
            </a:avLst>
          </a:prstGeom>
          <a:solidFill>
            <a:srgbClr val="F1F4F7"/>
          </a:solidFill>
          <a:ln w="12700">
            <a:solidFill>
              <a:srgbClr val="F1F4F7"/>
            </a:solidFill>
            <a:prstDash val="solid"/>
          </a:ln>
        </p:spPr>
      </p:sp>
      <p:sp>
        <p:nvSpPr>
          <p:cNvPr id="11" name="Text 9"/>
          <p:cNvSpPr txBox="1"/>
          <p:nvPr/>
        </p:nvSpPr>
        <p:spPr>
          <a:xfrm>
            <a:off x="6231636" y="2103120"/>
            <a:ext cx="2521458"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3  VERIFY</a:t>
            </a:r>
            <a:endParaRPr lang="en-US" sz="1300" dirty="0"/>
          </a:p>
        </p:txBody>
      </p:sp>
      <p:sp>
        <p:nvSpPr>
          <p:cNvPr id="12" name="Text 10"/>
          <p:cNvSpPr txBox="1"/>
          <p:nvPr/>
        </p:nvSpPr>
        <p:spPr>
          <a:xfrm>
            <a:off x="6231636" y="2432304"/>
            <a:ext cx="2521458"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validate every step mechanically</a:t>
            </a:r>
            <a:endParaRPr lang="en-US" sz="1050" dirty="0"/>
          </a:p>
        </p:txBody>
      </p:sp>
      <p:sp>
        <p:nvSpPr>
          <p:cNvPr id="13" name="Shape 11"/>
          <p:cNvSpPr/>
          <p:nvPr/>
        </p:nvSpPr>
        <p:spPr>
          <a:xfrm>
            <a:off x="9027414" y="2011680"/>
            <a:ext cx="2521458" cy="1143000"/>
          </a:xfrm>
          <a:prstGeom prst="roundRect">
            <a:avLst>
              <a:gd name="adj" fmla="val 4000"/>
            </a:avLst>
          </a:prstGeom>
          <a:solidFill>
            <a:srgbClr val="F1F4F7"/>
          </a:solidFill>
          <a:ln w="12700">
            <a:solidFill>
              <a:srgbClr val="F1F4F7"/>
            </a:solidFill>
            <a:prstDash val="solid"/>
          </a:ln>
        </p:spPr>
      </p:sp>
      <p:sp>
        <p:nvSpPr>
          <p:cNvPr id="14" name="Text 12"/>
          <p:cNvSpPr txBox="1"/>
          <p:nvPr/>
        </p:nvSpPr>
        <p:spPr>
          <a:xfrm>
            <a:off x="9027414" y="2103120"/>
            <a:ext cx="2521458"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4  ROUTE</a:t>
            </a:r>
            <a:endParaRPr lang="en-US" sz="1300" dirty="0"/>
          </a:p>
        </p:txBody>
      </p:sp>
      <p:sp>
        <p:nvSpPr>
          <p:cNvPr id="15" name="Text 13"/>
          <p:cNvSpPr txBox="1"/>
          <p:nvPr/>
        </p:nvSpPr>
        <p:spPr>
          <a:xfrm>
            <a:off x="9027414" y="2432304"/>
            <a:ext cx="2521458"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escalate only what fails</a:t>
            </a:r>
            <a:endParaRPr lang="en-US" sz="1050" dirty="0"/>
          </a:p>
        </p:txBody>
      </p:sp>
      <p:sp>
        <p:nvSpPr>
          <p:cNvPr id="16" name="Text 14"/>
          <p:cNvSpPr txBox="1"/>
          <p:nvPr/>
        </p:nvSpPr>
        <p:spPr>
          <a:xfrm>
            <a:off x="640080" y="342900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Decompose: four verified five step segments need 0.979 per step. One unverified twenty step run needs 0.995.</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Constrain: forcing valid JSON at decode time removes an entire class of failure without any training.</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Verify: a cheap deterministic validator after each step converts silent corruption into a retry.</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Route: send the easy majority to the small model, escalate the failures. Most traffic is easy.</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router pattern, drawn</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Small model first, escalate on a validator verdict</a:t>
            </a:r>
            <a:endParaRPr lang="en-US" sz="1500" dirty="0"/>
          </a:p>
        </p:txBody>
      </p:sp>
      <p:sp>
        <p:nvSpPr>
          <p:cNvPr id="4" name="Shape 2"/>
          <p:cNvSpPr/>
          <p:nvPr/>
        </p:nvSpPr>
        <p:spPr>
          <a:xfrm>
            <a:off x="640080" y="2194560"/>
            <a:ext cx="2194560" cy="914400"/>
          </a:xfrm>
          <a:prstGeom prst="roundRect">
            <a:avLst>
              <a:gd name="adj" fmla="val 5000"/>
            </a:avLst>
          </a:prstGeom>
          <a:solidFill>
            <a:srgbClr val="F1F4F7"/>
          </a:solidFill>
          <a:ln w="12700">
            <a:solidFill>
              <a:srgbClr val="F1F4F7"/>
            </a:solidFill>
            <a:prstDash val="solid"/>
          </a:ln>
        </p:spPr>
      </p:sp>
      <p:sp>
        <p:nvSpPr>
          <p:cNvPr id="5" name="Text 3"/>
          <p:cNvSpPr txBox="1"/>
          <p:nvPr/>
        </p:nvSpPr>
        <p:spPr>
          <a:xfrm>
            <a:off x="640080" y="2468880"/>
            <a:ext cx="219456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REQUEST</a:t>
            </a:r>
            <a:endParaRPr lang="en-US" sz="1300" dirty="0"/>
          </a:p>
        </p:txBody>
      </p:sp>
      <p:sp>
        <p:nvSpPr>
          <p:cNvPr id="6" name="Shape 4"/>
          <p:cNvSpPr/>
          <p:nvPr/>
        </p:nvSpPr>
        <p:spPr>
          <a:xfrm>
            <a:off x="3017520" y="2560320"/>
            <a:ext cx="502920" cy="164592"/>
          </a:xfrm>
          <a:prstGeom prst="rightArrow">
            <a:avLst/>
          </a:prstGeom>
          <a:solidFill>
            <a:srgbClr val="B9C6D2"/>
          </a:solidFill>
          <a:ln/>
        </p:spPr>
      </p:sp>
      <p:sp>
        <p:nvSpPr>
          <p:cNvPr id="7" name="Shape 5"/>
          <p:cNvSpPr/>
          <p:nvPr/>
        </p:nvSpPr>
        <p:spPr>
          <a:xfrm>
            <a:off x="3703320" y="2194560"/>
            <a:ext cx="2377440" cy="914400"/>
          </a:xfrm>
          <a:prstGeom prst="roundRect">
            <a:avLst>
              <a:gd name="adj" fmla="val 5000"/>
            </a:avLst>
          </a:prstGeom>
          <a:solidFill>
            <a:srgbClr val="E7F2EE"/>
          </a:solidFill>
          <a:ln w="12700">
            <a:solidFill>
              <a:srgbClr val="E7F2EE"/>
            </a:solidFill>
            <a:prstDash val="solid"/>
          </a:ln>
        </p:spPr>
      </p:sp>
      <p:sp>
        <p:nvSpPr>
          <p:cNvPr id="8" name="Text 6"/>
          <p:cNvSpPr txBox="1"/>
          <p:nvPr/>
        </p:nvSpPr>
        <p:spPr>
          <a:xfrm>
            <a:off x="3703320" y="2286000"/>
            <a:ext cx="237744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SMALL MODEL</a:t>
            </a:r>
            <a:endParaRPr lang="en-US" sz="1300" dirty="0"/>
          </a:p>
        </p:txBody>
      </p:sp>
      <p:sp>
        <p:nvSpPr>
          <p:cNvPr id="9" name="Text 7"/>
          <p:cNvSpPr txBox="1"/>
          <p:nvPr/>
        </p:nvSpPr>
        <p:spPr>
          <a:xfrm>
            <a:off x="3703320" y="2615184"/>
            <a:ext cx="237744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handles the majority</a:t>
            </a:r>
            <a:endParaRPr lang="en-US" sz="1050" dirty="0"/>
          </a:p>
        </p:txBody>
      </p:sp>
      <p:sp>
        <p:nvSpPr>
          <p:cNvPr id="10" name="Shape 8"/>
          <p:cNvSpPr/>
          <p:nvPr/>
        </p:nvSpPr>
        <p:spPr>
          <a:xfrm>
            <a:off x="6263640" y="2560320"/>
            <a:ext cx="502920" cy="164592"/>
          </a:xfrm>
          <a:prstGeom prst="rightArrow">
            <a:avLst/>
          </a:prstGeom>
          <a:solidFill>
            <a:srgbClr val="B9C6D2"/>
          </a:solidFill>
          <a:ln/>
        </p:spPr>
      </p:sp>
      <p:sp>
        <p:nvSpPr>
          <p:cNvPr id="11" name="Shape 9"/>
          <p:cNvSpPr/>
          <p:nvPr/>
        </p:nvSpPr>
        <p:spPr>
          <a:xfrm>
            <a:off x="6949440" y="2194560"/>
            <a:ext cx="2194560" cy="914400"/>
          </a:xfrm>
          <a:prstGeom prst="roundRect">
            <a:avLst>
              <a:gd name="adj" fmla="val 5000"/>
            </a:avLst>
          </a:prstGeom>
          <a:solidFill>
            <a:srgbClr val="F1F4F7"/>
          </a:solidFill>
          <a:ln w="12700">
            <a:solidFill>
              <a:srgbClr val="F1F4F7"/>
            </a:solidFill>
            <a:prstDash val="solid"/>
          </a:ln>
        </p:spPr>
      </p:sp>
      <p:sp>
        <p:nvSpPr>
          <p:cNvPr id="12" name="Text 10"/>
          <p:cNvSpPr txBox="1"/>
          <p:nvPr/>
        </p:nvSpPr>
        <p:spPr>
          <a:xfrm>
            <a:off x="6949440" y="2286000"/>
            <a:ext cx="219456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VALIDATOR</a:t>
            </a:r>
            <a:endParaRPr lang="en-US" sz="1300" dirty="0"/>
          </a:p>
        </p:txBody>
      </p:sp>
      <p:sp>
        <p:nvSpPr>
          <p:cNvPr id="13" name="Text 11"/>
          <p:cNvSpPr txBox="1"/>
          <p:nvPr/>
        </p:nvSpPr>
        <p:spPr>
          <a:xfrm>
            <a:off x="6949440" y="2615184"/>
            <a:ext cx="219456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schema and rules</a:t>
            </a:r>
            <a:endParaRPr lang="en-US" sz="1050" dirty="0"/>
          </a:p>
        </p:txBody>
      </p:sp>
      <p:sp>
        <p:nvSpPr>
          <p:cNvPr id="14" name="Shape 12"/>
          <p:cNvSpPr/>
          <p:nvPr/>
        </p:nvSpPr>
        <p:spPr>
          <a:xfrm>
            <a:off x="9326880" y="2560320"/>
            <a:ext cx="502920" cy="164592"/>
          </a:xfrm>
          <a:prstGeom prst="rightArrow">
            <a:avLst/>
          </a:prstGeom>
          <a:solidFill>
            <a:srgbClr val="B9C6D2"/>
          </a:solidFill>
          <a:ln/>
        </p:spPr>
      </p:sp>
      <p:sp>
        <p:nvSpPr>
          <p:cNvPr id="15" name="Shape 13"/>
          <p:cNvSpPr/>
          <p:nvPr/>
        </p:nvSpPr>
        <p:spPr>
          <a:xfrm>
            <a:off x="10012680" y="2194560"/>
            <a:ext cx="1737360" cy="914400"/>
          </a:xfrm>
          <a:prstGeom prst="roundRect">
            <a:avLst>
              <a:gd name="adj" fmla="val 5000"/>
            </a:avLst>
          </a:prstGeom>
          <a:solidFill>
            <a:srgbClr val="E7F2EE"/>
          </a:solidFill>
          <a:ln w="12700">
            <a:solidFill>
              <a:srgbClr val="E7F2EE"/>
            </a:solidFill>
            <a:prstDash val="solid"/>
          </a:ln>
        </p:spPr>
      </p:sp>
      <p:sp>
        <p:nvSpPr>
          <p:cNvPr id="16" name="Text 14"/>
          <p:cNvSpPr txBox="1"/>
          <p:nvPr/>
        </p:nvSpPr>
        <p:spPr>
          <a:xfrm>
            <a:off x="10012680" y="2468880"/>
            <a:ext cx="173736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ACCEPT</a:t>
            </a:r>
            <a:endParaRPr lang="en-US" sz="1300" dirty="0"/>
          </a:p>
        </p:txBody>
      </p:sp>
      <p:sp>
        <p:nvSpPr>
          <p:cNvPr id="17" name="Shape 15"/>
          <p:cNvSpPr/>
          <p:nvPr/>
        </p:nvSpPr>
        <p:spPr>
          <a:xfrm>
            <a:off x="6949440" y="3566160"/>
            <a:ext cx="2194560" cy="868680"/>
          </a:xfrm>
          <a:prstGeom prst="roundRect">
            <a:avLst>
              <a:gd name="adj" fmla="val 5263"/>
            </a:avLst>
          </a:prstGeom>
          <a:solidFill>
            <a:srgbClr val="FBF0E2"/>
          </a:solidFill>
          <a:ln w="12700">
            <a:solidFill>
              <a:srgbClr val="FBF0E2"/>
            </a:solidFill>
            <a:prstDash val="solid"/>
          </a:ln>
        </p:spPr>
      </p:sp>
      <p:sp>
        <p:nvSpPr>
          <p:cNvPr id="18" name="Text 16"/>
          <p:cNvSpPr txBox="1"/>
          <p:nvPr/>
        </p:nvSpPr>
        <p:spPr>
          <a:xfrm>
            <a:off x="6949440" y="3657600"/>
            <a:ext cx="219456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ESCALATE</a:t>
            </a:r>
            <a:endParaRPr lang="en-US" sz="1300" dirty="0"/>
          </a:p>
        </p:txBody>
      </p:sp>
      <p:sp>
        <p:nvSpPr>
          <p:cNvPr id="19" name="Text 17"/>
          <p:cNvSpPr txBox="1"/>
          <p:nvPr/>
        </p:nvSpPr>
        <p:spPr>
          <a:xfrm>
            <a:off x="6949440" y="3986784"/>
            <a:ext cx="219456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on failure only</a:t>
            </a:r>
            <a:endParaRPr lang="en-US" sz="1050" dirty="0"/>
          </a:p>
        </p:txBody>
      </p:sp>
      <p:sp>
        <p:nvSpPr>
          <p:cNvPr id="20" name="Shape 18"/>
          <p:cNvSpPr/>
          <p:nvPr/>
        </p:nvSpPr>
        <p:spPr>
          <a:xfrm>
            <a:off x="10012680" y="3566160"/>
            <a:ext cx="1737360" cy="868680"/>
          </a:xfrm>
          <a:prstGeom prst="roundRect">
            <a:avLst>
              <a:gd name="adj" fmla="val 5263"/>
            </a:avLst>
          </a:prstGeom>
          <a:solidFill>
            <a:srgbClr val="F1F4F7"/>
          </a:solidFill>
          <a:ln w="12700">
            <a:solidFill>
              <a:srgbClr val="F1F4F7"/>
            </a:solidFill>
            <a:prstDash val="solid"/>
          </a:ln>
        </p:spPr>
      </p:sp>
      <p:sp>
        <p:nvSpPr>
          <p:cNvPr id="21" name="Text 19"/>
          <p:cNvSpPr txBox="1"/>
          <p:nvPr/>
        </p:nvSpPr>
        <p:spPr>
          <a:xfrm>
            <a:off x="10012680" y="3817620"/>
            <a:ext cx="173736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BIG MODEL</a:t>
            </a:r>
            <a:endParaRPr lang="en-US" sz="1300" dirty="0"/>
          </a:p>
        </p:txBody>
      </p:sp>
      <p:sp>
        <p:nvSpPr>
          <p:cNvPr id="22" name="Shape 20"/>
          <p:cNvSpPr/>
          <p:nvPr/>
        </p:nvSpPr>
        <p:spPr>
          <a:xfrm>
            <a:off x="9326880" y="3931920"/>
            <a:ext cx="502920" cy="164592"/>
          </a:xfrm>
          <a:prstGeom prst="rightArrow">
            <a:avLst/>
          </a:prstGeom>
          <a:solidFill>
            <a:srgbClr val="B9C6D2"/>
          </a:solidFill>
          <a:ln/>
        </p:spPr>
      </p:sp>
      <p:sp>
        <p:nvSpPr>
          <p:cNvPr id="23" name="Text 21"/>
          <p:cNvSpPr txBox="1"/>
          <p:nvPr/>
        </p:nvSpPr>
        <p:spPr>
          <a:xfrm>
            <a:off x="640080" y="470916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You pay frontier prices only for the fraction that fails. If the small model clears 80 percent of traffic, you have cut the bill by roughly 80 percent while keeping a quality floor guaranteed by the validator.</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07</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Adapting a model</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A complete fine-tuning run, and the traps that come with it.</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First, classify the failure honestly</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Only two of these three are fine-tuning problems</a:t>
            </a:r>
            <a:endParaRPr lang="en-US" sz="15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2011680"/>
                <a:gridCol w="4937760"/>
                <a:gridCol w="3959352"/>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Failure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Looks like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Does fine-tuning fix it?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7548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Format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Invalid JSON, wrong fields, chatty preamble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Yes. Fast, on few examples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7548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Domain</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Well formed but wrong vocabulary or conventions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Partly. A few hundred examples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7548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Reasoning</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Cannot work the answer out at all</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No. Decompose or size up</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Shape 2"/>
          <p:cNvSpPr/>
          <p:nvPr/>
        </p:nvSpPr>
        <p:spPr>
          <a:xfrm>
            <a:off x="640080" y="3794760"/>
            <a:ext cx="10908792" cy="1234440"/>
          </a:xfrm>
          <a:prstGeom prst="roundRect">
            <a:avLst>
              <a:gd name="adj" fmla="val 4444"/>
            </a:avLst>
          </a:prstGeom>
          <a:solidFill>
            <a:srgbClr val="E7F2EE"/>
          </a:solidFill>
          <a:ln w="12700">
            <a:solidFill>
              <a:srgbClr val="E1E7ED"/>
            </a:solidFill>
            <a:prstDash val="solid"/>
          </a:ln>
        </p:spPr>
      </p:sp>
      <p:sp>
        <p:nvSpPr>
          <p:cNvPr id="6" name="Text 3"/>
          <p:cNvSpPr txBox="1"/>
          <p:nvPr/>
        </p:nvSpPr>
        <p:spPr>
          <a:xfrm>
            <a:off x="1005840" y="3950208"/>
            <a:ext cx="10177272" cy="365760"/>
          </a:xfrm>
          <a:prstGeom prst="rect">
            <a:avLst/>
          </a:prstGeom>
          <a:noFill/>
          <a:ln/>
        </p:spPr>
        <p:txBody>
          <a:bodyPr wrap="square" lIns="0" tIns="0" rIns="0" bIns="0" rtlCol="0" anchor="ctr"/>
          <a:lstStyle/>
          <a:p>
            <a:pPr indent="0" marL="0">
              <a:buNone/>
            </a:pPr>
            <a:r>
              <a:rPr lang="en-US" sz="1500" b="1" dirty="0">
                <a:solidFill>
                  <a:srgbClr val="17513F"/>
                </a:solidFill>
                <a:latin typeface="Calibri" pitchFamily="34" charset="0"/>
                <a:ea typeface="Calibri" pitchFamily="34" charset="-122"/>
                <a:cs typeface="Calibri" pitchFamily="34" charset="-120"/>
              </a:rPr>
              <a:t>The cheapest diagnostic: can a peer model of the same size do the task?</a:t>
            </a:r>
            <a:endParaRPr lang="en-US" sz="1500" dirty="0"/>
          </a:p>
        </p:txBody>
      </p:sp>
      <p:sp>
        <p:nvSpPr>
          <p:cNvPr id="7" name="Text 4"/>
          <p:cNvSpPr txBox="1"/>
          <p:nvPr/>
        </p:nvSpPr>
        <p:spPr>
          <a:xfrm>
            <a:off x="1005840" y="4315968"/>
            <a:ext cx="10177272" cy="640080"/>
          </a:xfrm>
          <a:prstGeom prst="rect">
            <a:avLst/>
          </a:prstGeom>
          <a:noFill/>
          <a:ln/>
        </p:spPr>
        <p:txBody>
          <a:bodyPr wrap="square" lIns="0" tIns="0" rIns="0" bIns="0" rtlCol="0" anchor="ctr"/>
          <a:lstStyle/>
          <a:p>
            <a:pPr indent="0" marL="0">
              <a:lnSpc>
                <a:spcPts val="1900"/>
              </a:lnSpc>
              <a:buNone/>
            </a:pPr>
            <a:r>
              <a:rPr lang="en-US" sz="1350" dirty="0">
                <a:solidFill>
                  <a:srgbClr val="17513F"/>
                </a:solidFill>
                <a:latin typeface="Calibri" pitchFamily="34" charset="0"/>
                <a:ea typeface="Calibri" pitchFamily="34" charset="-122"/>
                <a:cs typeface="Calibri" pitchFamily="34" charset="-120"/>
              </a:rPr>
              <a:t>If yes, the capability exists at that size and your problem is conformance, which trains well. If no model at that size can do it, you have a reasoning problem and training is the wrong lever.</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Your training data already exists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It is the output your current system has been producing</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Find where your system stores what the model produced. That is your gold.</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Ask whether it is the raw model output or a processed record. It is almost always processed.</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Field names get renamed, envelopes get added, values get validated and coerced on the way in.</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Train on the stored shape and you teach the model the database format, not the format your parser accepts.</a:t>
            </a:r>
            <a:endParaRPr lang="en-US" sz="1550" dirty="0"/>
          </a:p>
        </p:txBody>
      </p:sp>
      <p:sp>
        <p:nvSpPr>
          <p:cNvPr id="5" name="Shape 3"/>
          <p:cNvSpPr/>
          <p:nvPr/>
        </p:nvSpPr>
        <p:spPr>
          <a:xfrm>
            <a:off x="640080" y="3931920"/>
            <a:ext cx="10908792" cy="1143000"/>
          </a:xfrm>
          <a:prstGeom prst="roundRect">
            <a:avLst>
              <a:gd name="adj" fmla="val 4800"/>
            </a:avLst>
          </a:prstGeom>
          <a:solidFill>
            <a:srgbClr val="FBF0E2"/>
          </a:solidFill>
          <a:ln w="12700">
            <a:solidFill>
              <a:srgbClr val="E1E7ED"/>
            </a:solidFill>
            <a:prstDash val="solid"/>
          </a:ln>
        </p:spPr>
      </p:sp>
      <p:sp>
        <p:nvSpPr>
          <p:cNvPr id="6" name="Text 4"/>
          <p:cNvSpPr txBox="1"/>
          <p:nvPr/>
        </p:nvSpPr>
        <p:spPr>
          <a:xfrm>
            <a:off x="1005840" y="4114800"/>
            <a:ext cx="10177272" cy="822960"/>
          </a:xfrm>
          <a:prstGeom prst="rect">
            <a:avLst/>
          </a:prstGeom>
          <a:noFill/>
          <a:ln/>
        </p:spPr>
        <p:txBody>
          <a:bodyPr wrap="square" lIns="0" tIns="0" rIns="0" bIns="0" rtlCol="0" anchor="ctr"/>
          <a:lstStyle/>
          <a:p>
            <a:pPr indent="0" marL="0">
              <a:lnSpc>
                <a:spcPts val="1900"/>
              </a:lnSpc>
              <a:buNone/>
            </a:pPr>
            <a:r>
              <a:rPr lang="en-US" sz="1350" dirty="0">
                <a:solidFill>
                  <a:srgbClr val="5A4415"/>
                </a:solidFill>
                <a:latin typeface="Calibri" pitchFamily="34" charset="0"/>
                <a:ea typeface="Calibri" pitchFamily="34" charset="-122"/>
                <a:cs typeface="Calibri" pitchFamily="34" charset="-120"/>
              </a:rPr>
              <a:t>The rule: find the exact function where raw model text is parsed. Whatever goes into that function is your training target. Write the transform back from stored shape to emitted shape, and check one example by hand.</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hard part is recovering the prompts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Systems log what they produced, never what they asked</a:t>
            </a:r>
            <a:endParaRPr lang="en-US" sz="1500" dirty="0"/>
          </a:p>
        </p:txBody>
      </p:sp>
      <p:sp>
        <p:nvSpPr>
          <p:cNvPr id="4" name="Shape 2"/>
          <p:cNvSpPr/>
          <p:nvPr/>
        </p:nvSpPr>
        <p:spPr>
          <a:xfrm>
            <a:off x="640080" y="2057400"/>
            <a:ext cx="3383280" cy="1280160"/>
          </a:xfrm>
          <a:prstGeom prst="roundRect">
            <a:avLst>
              <a:gd name="adj" fmla="val 3571"/>
            </a:avLst>
          </a:prstGeom>
          <a:solidFill>
            <a:srgbClr val="F7E7E2"/>
          </a:solidFill>
          <a:ln w="12700">
            <a:solidFill>
              <a:srgbClr val="F7E7E2"/>
            </a:solidFill>
            <a:prstDash val="solid"/>
          </a:ln>
        </p:spPr>
      </p:sp>
      <p:sp>
        <p:nvSpPr>
          <p:cNvPr id="5" name="Text 3"/>
          <p:cNvSpPr txBox="1"/>
          <p:nvPr/>
        </p:nvSpPr>
        <p:spPr>
          <a:xfrm>
            <a:off x="640080" y="2148840"/>
            <a:ext cx="33832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A  REBUILD BY HAND</a:t>
            </a:r>
            <a:endParaRPr lang="en-US" sz="1300" dirty="0"/>
          </a:p>
        </p:txBody>
      </p:sp>
      <p:sp>
        <p:nvSpPr>
          <p:cNvPr id="6" name="Text 4"/>
          <p:cNvSpPr txBox="1"/>
          <p:nvPr/>
        </p:nvSpPr>
        <p:spPr>
          <a:xfrm>
            <a:off x="640080" y="2478024"/>
            <a:ext cx="33832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approximate, drifts from reality</a:t>
            </a:r>
            <a:endParaRPr lang="en-US" sz="1050" dirty="0"/>
          </a:p>
        </p:txBody>
      </p:sp>
      <p:sp>
        <p:nvSpPr>
          <p:cNvPr id="7" name="Shape 5"/>
          <p:cNvSpPr/>
          <p:nvPr/>
        </p:nvSpPr>
        <p:spPr>
          <a:xfrm>
            <a:off x="4389120" y="2057400"/>
            <a:ext cx="3383280" cy="1280160"/>
          </a:xfrm>
          <a:prstGeom prst="roundRect">
            <a:avLst>
              <a:gd name="adj" fmla="val 3571"/>
            </a:avLst>
          </a:prstGeom>
          <a:solidFill>
            <a:srgbClr val="F7E7E2"/>
          </a:solidFill>
          <a:ln w="12700">
            <a:solidFill>
              <a:srgbClr val="F7E7E2"/>
            </a:solidFill>
            <a:prstDash val="solid"/>
          </a:ln>
        </p:spPr>
      </p:sp>
      <p:sp>
        <p:nvSpPr>
          <p:cNvPr id="8" name="Text 6"/>
          <p:cNvSpPr txBox="1"/>
          <p:nvPr/>
        </p:nvSpPr>
        <p:spPr>
          <a:xfrm>
            <a:off x="4389120" y="2148840"/>
            <a:ext cx="33832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B  REPLAY LIVE</a:t>
            </a:r>
            <a:endParaRPr lang="en-US" sz="1300" dirty="0"/>
          </a:p>
        </p:txBody>
      </p:sp>
      <p:sp>
        <p:nvSpPr>
          <p:cNvPr id="9" name="Text 7"/>
          <p:cNvSpPr txBox="1"/>
          <p:nvPr/>
        </p:nvSpPr>
        <p:spPr>
          <a:xfrm>
            <a:off x="4389120" y="2478024"/>
            <a:ext cx="33832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you get the student answer, slowly</a:t>
            </a:r>
            <a:endParaRPr lang="en-US" sz="1050" dirty="0"/>
          </a:p>
        </p:txBody>
      </p:sp>
      <p:sp>
        <p:nvSpPr>
          <p:cNvPr id="10" name="Shape 8"/>
          <p:cNvSpPr/>
          <p:nvPr/>
        </p:nvSpPr>
        <p:spPr>
          <a:xfrm>
            <a:off x="8138160" y="2057400"/>
            <a:ext cx="3383280" cy="1280160"/>
          </a:xfrm>
          <a:prstGeom prst="roundRect">
            <a:avLst>
              <a:gd name="adj" fmla="val 3571"/>
            </a:avLst>
          </a:prstGeom>
          <a:solidFill>
            <a:srgbClr val="E7F2EE"/>
          </a:solidFill>
          <a:ln w="12700">
            <a:solidFill>
              <a:srgbClr val="E7F2EE"/>
            </a:solidFill>
            <a:prstDash val="solid"/>
          </a:ln>
        </p:spPr>
      </p:sp>
      <p:sp>
        <p:nvSpPr>
          <p:cNvPr id="11" name="Text 9"/>
          <p:cNvSpPr txBox="1"/>
          <p:nvPr/>
        </p:nvSpPr>
        <p:spPr>
          <a:xfrm>
            <a:off x="8138160" y="2148840"/>
            <a:ext cx="33832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C  TEACHER FORCED</a:t>
            </a:r>
            <a:endParaRPr lang="en-US" sz="1300" dirty="0"/>
          </a:p>
        </p:txBody>
      </p:sp>
      <p:sp>
        <p:nvSpPr>
          <p:cNvPr id="12" name="Text 10"/>
          <p:cNvSpPr txBox="1"/>
          <p:nvPr/>
        </p:nvSpPr>
        <p:spPr>
          <a:xfrm>
            <a:off x="8138160" y="2478024"/>
            <a:ext cx="33832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real prompt, true gold, minutes</a:t>
            </a:r>
            <a:endParaRPr lang="en-US" sz="1050" dirty="0"/>
          </a:p>
        </p:txBody>
      </p:sp>
      <p:sp>
        <p:nvSpPr>
          <p:cNvPr id="13" name="Text 11"/>
          <p:cNvSpPr txBox="1"/>
          <p:nvPr/>
        </p:nvSpPr>
        <p:spPr>
          <a:xfrm>
            <a:off x="640080" y="361188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Run the real system, but intercept the single function that calls the model.</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Instead of calling out, return the recorded answer and log the prompt the system just built.</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You get byte exact prompts with genuine gold answers, and no inference cost at all.</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Because the injected answer drives the next decision, a branching agent walks its original path.</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Turning pairs into a dataset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Five transforms, and skipping one gives you a model that scores well and behaves badly</a:t>
            </a:r>
            <a:endParaRPr lang="en-US" sz="1500" dirty="0"/>
          </a:p>
        </p:txBody>
      </p:sp>
      <p:sp>
        <p:nvSpPr>
          <p:cNvPr id="4" name="Text 2"/>
          <p:cNvSpPr txBox="1"/>
          <p:nvPr/>
        </p:nvSpPr>
        <p:spPr>
          <a:xfrm>
            <a:off x="640080" y="1874520"/>
            <a:ext cx="10543032"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Validate against the real schema, not just "does it parse". Import the actual validators from your application.</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Strip code fences before validating, or you reject everything and conclude your gold is garbage.</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Deduplicate. Replays and retries produce near identical pairs that inflate size and leak across the split.</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Balance the class mix, but do not over correct and throw away most of your data.</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Split by episode and never by row, then scrub anything sensitive before it becomes weights.</a:t>
            </a:r>
            <a:endParaRPr lang="en-US" sz="1500" dirty="0"/>
          </a:p>
        </p:txBody>
      </p:sp>
      <p:sp>
        <p:nvSpPr>
          <p:cNvPr id="5" name="Shape 3"/>
          <p:cNvSpPr/>
          <p:nvPr/>
        </p:nvSpPr>
        <p:spPr>
          <a:xfrm>
            <a:off x="640080" y="4114800"/>
            <a:ext cx="10908792" cy="960120"/>
          </a:xfrm>
          <a:prstGeom prst="roundRect">
            <a:avLst>
              <a:gd name="adj" fmla="val 5714"/>
            </a:avLst>
          </a:prstGeom>
          <a:solidFill>
            <a:srgbClr val="F7E7E2"/>
          </a:solidFill>
          <a:ln w="12700">
            <a:solidFill>
              <a:srgbClr val="E1E7ED"/>
            </a:solidFill>
            <a:prstDash val="solid"/>
          </a:ln>
        </p:spPr>
      </p:sp>
      <p:sp>
        <p:nvSpPr>
          <p:cNvPr id="6" name="Text 4"/>
          <p:cNvSpPr txBox="1"/>
          <p:nvPr/>
        </p:nvSpPr>
        <p:spPr>
          <a:xfrm>
            <a:off x="1005840" y="4279392"/>
            <a:ext cx="10177272" cy="685800"/>
          </a:xfrm>
          <a:prstGeom prst="rect">
            <a:avLst/>
          </a:prstGeom>
          <a:noFill/>
          <a:ln/>
        </p:spPr>
        <p:txBody>
          <a:bodyPr wrap="square" lIns="0" tIns="0" rIns="0" bIns="0" rtlCol="0" anchor="ctr"/>
          <a:lstStyle/>
          <a:p>
            <a:pPr indent="0" marL="0">
              <a:lnSpc>
                <a:spcPts val="1800"/>
              </a:lnSpc>
              <a:buNone/>
            </a:pPr>
            <a:r>
              <a:rPr lang="en-US" sz="1300" dirty="0">
                <a:solidFill>
                  <a:srgbClr val="7A2E1C"/>
                </a:solidFill>
                <a:latin typeface="Calibri" pitchFamily="34" charset="0"/>
                <a:ea typeface="Calibri" pitchFamily="34" charset="-122"/>
                <a:cs typeface="Calibri" pitchFamily="34" charset="-120"/>
              </a:rPr>
              <a:t>Row level splitting is the most commonly botched step in the whole process. Rows from the same episode share context, so random splitting puts near identical content on both sides and your validation set measures memorisation.</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training run is the easy part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 recipe that works on a laptop</a:t>
            </a:r>
            <a:endParaRPr lang="en-US" sz="15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2743200"/>
                <a:gridCol w="3291840"/>
                <a:gridCol w="4873752"/>
              </a:tblGrid>
              <a:tr h="3383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3832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QLoRA over a 4 bit base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Fits consumer memory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3832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Rank</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32</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Ample for format learning</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3832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Layers adapted</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Full depth exhausted memory for no gain</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3832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Loss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Answer tokens only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Otherwise capacity memorises the input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3832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Steps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2000, batch of 1</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About two passes over 1000 examples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3832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Peak memory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24.4 GB</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On a 36 GB laptop</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25196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Validation loss fell from 1.15 to 0.31. For conformance work loss is only a proxy. The number that matters is the share of held out outputs that actually validate.</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trap that nearly stopped the project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Loss reported as nan before anything trained</a:t>
            </a:r>
            <a:endParaRPr lang="en-US" sz="1500" dirty="0"/>
          </a:p>
        </p:txBody>
      </p:sp>
      <p:sp>
        <p:nvSpPr>
          <p:cNvPr id="4" name="Text 2"/>
          <p:cNvSpPr txBox="1"/>
          <p:nvPr/>
        </p:nvSpPr>
        <p:spPr>
          <a:xfrm>
            <a:off x="640080" y="1874520"/>
            <a:ext cx="10543032"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The prompts were evidence heavy, some over 5700 tokens long.</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The trainer truncates from the end of the sequence.</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The end of the sequence is exactly where the answer lives, so the answer was cut off.</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Masking the prompt then masked everything that remained, leaving zero trainable tokens.</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Zero trainable tokens is a division by zero. Loss becomes nan and nothing learns.</a:t>
            </a:r>
            <a:endParaRPr lang="en-US" sz="1500" dirty="0"/>
          </a:p>
        </p:txBody>
      </p:sp>
      <p:sp>
        <p:nvSpPr>
          <p:cNvPr id="5" name="Shape 3"/>
          <p:cNvSpPr/>
          <p:nvPr/>
        </p:nvSpPr>
        <p:spPr>
          <a:xfrm>
            <a:off x="640080" y="4114800"/>
            <a:ext cx="10908792" cy="1005840"/>
          </a:xfrm>
          <a:prstGeom prst="roundRect">
            <a:avLst>
              <a:gd name="adj" fmla="val 5455"/>
            </a:avLst>
          </a:prstGeom>
          <a:solidFill>
            <a:srgbClr val="E7F2EE"/>
          </a:solidFill>
          <a:ln w="12700">
            <a:solidFill>
              <a:srgbClr val="E1E7ED"/>
            </a:solidFill>
            <a:prstDash val="solid"/>
          </a:ln>
        </p:spPr>
      </p:sp>
      <p:sp>
        <p:nvSpPr>
          <p:cNvPr id="6" name="Text 4"/>
          <p:cNvSpPr txBox="1"/>
          <p:nvPr/>
        </p:nvSpPr>
        <p:spPr>
          <a:xfrm>
            <a:off x="1005840" y="4279392"/>
            <a:ext cx="10177272" cy="731520"/>
          </a:xfrm>
          <a:prstGeom prst="rect">
            <a:avLst/>
          </a:prstGeom>
          <a:noFill/>
          <a:ln/>
        </p:spPr>
        <p:txBody>
          <a:bodyPr wrap="square" lIns="0" tIns="0" rIns="0" bIns="0" rtlCol="0" anchor="ctr"/>
          <a:lstStyle/>
          <a:p>
            <a:pPr indent="0" marL="0">
              <a:lnSpc>
                <a:spcPts val="1800"/>
              </a:lnSpc>
              <a:buNone/>
            </a:pPr>
            <a:r>
              <a:rPr lang="en-US" sz="1300" dirty="0">
                <a:solidFill>
                  <a:srgbClr val="17513F"/>
                </a:solidFill>
                <a:latin typeface="Calibri" pitchFamily="34" charset="0"/>
                <a:ea typeface="Calibri" pitchFamily="34" charset="-122"/>
                <a:cs typeface="Calibri" pitchFamily="34" charset="-120"/>
              </a:rPr>
              <a:t>Fix: trim the middle of the input when building the dataset so the system prompt and the answer always survive. Rule: if you mask prompts, guarantee every example keeps answer tokens, and check the first validation loss is a real number before committing to a long run.</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result, and the column that makes it honest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Always measure the base model on the identical set</a:t>
            </a:r>
            <a:endParaRPr lang="en-US" sz="15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7854330" cy="914400"/>
        </p:xfrm>
        <a:graphic>
          <a:graphicData uri="http://schemas.openxmlformats.org/drawingml/2006/table">
            <a:tbl>
              <a:tblPr/>
              <a:tblGrid>
                <a:gridCol w="4206240"/>
                <a:gridCol w="1554480"/>
                <a:gridCol w="1554480"/>
                <a:gridCol w="53913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Task A</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Task B</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Overall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02336">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Smaller model, base</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Smaller model, fine-tuned</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98%</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97%</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Larger model, fine-tuned</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98%</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97%</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3794760"/>
            <a:ext cx="10543032" cy="160934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Without the base row you cannot tell what you achieved from what the model could already do.</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Both fine-tunes landing on identical numbers says the dataset, not the base model, did the work.</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When quality ties, decide on size, speed and fit. The smaller model won every remaining axis.</a:t>
            </a:r>
            <a:endParaRPr lang="en-US" sz="14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Then test what you did not train</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One dataset buys exactly one capability</a:t>
            </a:r>
            <a:endParaRPr lang="en-US" sz="1500" dirty="0"/>
          </a:p>
        </p:txBody>
      </p:sp>
      <p:sp>
        <p:nvSpPr>
          <p:cNvPr id="4" name="Text 2"/>
          <p:cNvSpPr txBox="1"/>
          <p:nvPr/>
        </p:nvSpPr>
        <p:spPr>
          <a:xfrm>
            <a:off x="640080" y="2148840"/>
            <a:ext cx="3291840" cy="822960"/>
          </a:xfrm>
          <a:prstGeom prst="rect">
            <a:avLst/>
          </a:prstGeom>
          <a:noFill/>
          <a:ln/>
        </p:spPr>
        <p:txBody>
          <a:bodyPr wrap="square" lIns="0" tIns="0" rIns="0" bIns="0" rtlCol="0" anchor="ctr"/>
          <a:lstStyle/>
          <a:p>
            <a:pPr indent="0" marL="0">
              <a:buNone/>
            </a:pPr>
            <a:r>
              <a:rPr lang="en-US" sz="3400" b="1" dirty="0">
                <a:solidFill>
                  <a:srgbClr val="C0442E"/>
                </a:solidFill>
                <a:latin typeface="Courier New" pitchFamily="34" charset="0"/>
                <a:ea typeface="Courier New" pitchFamily="34" charset="-122"/>
                <a:cs typeface="Courier New" pitchFamily="34" charset="-120"/>
              </a:rPr>
              <a:t>36 to 48%</a:t>
            </a:r>
            <a:endParaRPr lang="en-US" sz="3400" dirty="0"/>
          </a:p>
        </p:txBody>
      </p:sp>
      <p:sp>
        <p:nvSpPr>
          <p:cNvPr id="5" name="Text 3"/>
          <p:cNvSpPr txBox="1"/>
          <p:nvPr/>
        </p:nvSpPr>
        <p:spPr>
          <a:xfrm>
            <a:off x="640080" y="2926080"/>
            <a:ext cx="3291840" cy="731520"/>
          </a:xfrm>
          <a:prstGeom prst="rect">
            <a:avLst/>
          </a:prstGeom>
          <a:noFill/>
          <a:ln/>
        </p:spPr>
        <p:txBody>
          <a:bodyPr wrap="square" lIns="0" tIns="0" rIns="0" bIns="0" rtlCol="0" anchor="ctr"/>
          <a:lstStyle/>
          <a:p>
            <a:pPr indent="0" marL="0">
              <a:buNone/>
            </a:pPr>
            <a:r>
              <a:rPr lang="en-US" sz="1250" dirty="0">
                <a:solidFill>
                  <a:srgbClr val="6B7A8C"/>
                </a:solidFill>
                <a:latin typeface="Calibri" pitchFamily="34" charset="0"/>
                <a:ea typeface="Calibri" pitchFamily="34" charset="-122"/>
                <a:cs typeface="Calibri" pitchFamily="34" charset="-120"/>
              </a:rPr>
              <a:t>fabricated detail rate on summarisation, a task never trained</a:t>
            </a:r>
            <a:endParaRPr lang="en-US" sz="1250" dirty="0"/>
          </a:p>
        </p:txBody>
      </p:sp>
      <p:sp>
        <p:nvSpPr>
          <p:cNvPr id="6" name="Shape 4"/>
          <p:cNvSpPr/>
          <p:nvPr/>
        </p:nvSpPr>
        <p:spPr>
          <a:xfrm>
            <a:off x="4846320" y="2103120"/>
            <a:ext cx="6702552" cy="2194560"/>
          </a:xfrm>
          <a:prstGeom prst="roundRect">
            <a:avLst>
              <a:gd name="adj" fmla="val 2500"/>
            </a:avLst>
          </a:prstGeom>
          <a:solidFill>
            <a:srgbClr val="F1F4F7"/>
          </a:solidFill>
          <a:ln w="12700">
            <a:solidFill>
              <a:srgbClr val="E1E7ED"/>
            </a:solidFill>
            <a:prstDash val="solid"/>
          </a:ln>
        </p:spPr>
      </p:sp>
      <p:sp>
        <p:nvSpPr>
          <p:cNvPr id="7" name="Text 5"/>
          <p:cNvSpPr txBox="1"/>
          <p:nvPr/>
        </p:nvSpPr>
        <p:spPr>
          <a:xfrm>
            <a:off x="5212080" y="2331720"/>
            <a:ext cx="5971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Specialising on one task measurably degraded a capability the training never touched.</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If a second capability matters, it needs its own data and its own gate.</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Name your proxy metric honestly. This one over counts, so only the relative movement is trustworthy.</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Hold every model to identical harness conditions or you will report artifacts as results.</a:t>
            </a:r>
            <a:endParaRPr lang="en-US" sz="1350" dirty="0"/>
          </a:p>
        </p:txBody>
      </p:sp>
      <p:sp>
        <p:nvSpPr>
          <p:cNvPr id="8" name="Text 6"/>
          <p:cNvSpPr txBox="1"/>
          <p:nvPr/>
        </p:nvSpPr>
        <p:spPr>
          <a:xfrm>
            <a:off x="640080" y="457200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This finding is worth as much as the headline. A regression check is not optional politeness, it is how you find out what your fine-tune cost you.</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08</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Evaluating</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Without a golden set you are guessing, expensively.</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Build the golden set before anything else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It answers every other question in this deck</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Fifty to one hundred cases drawn from real production traffic, not invented examples.</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Around twenty percent deliberately nasty: malformed inputs, edge cases, the things that actually break.</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Each case needs an input and a known good output, or at minimum a mechanical pass condition.</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Version it, keep it in the repository, and run it in continuous integration.</a:t>
            </a:r>
            <a:endParaRPr lang="en-US" sz="1550" dirty="0"/>
          </a:p>
        </p:txBody>
      </p:sp>
      <p:sp>
        <p:nvSpPr>
          <p:cNvPr id="5" name="Shape 3"/>
          <p:cNvSpPr/>
          <p:nvPr/>
        </p:nvSpPr>
        <p:spPr>
          <a:xfrm>
            <a:off x="640080" y="3977640"/>
            <a:ext cx="10908792" cy="1097280"/>
          </a:xfrm>
          <a:prstGeom prst="roundRect">
            <a:avLst>
              <a:gd name="adj" fmla="val 5000"/>
            </a:avLst>
          </a:prstGeom>
          <a:solidFill>
            <a:srgbClr val="E7F2EE"/>
          </a:solidFill>
          <a:ln w="12700">
            <a:solidFill>
              <a:srgbClr val="E1E7ED"/>
            </a:solidFill>
            <a:prstDash val="solid"/>
          </a:ln>
        </p:spPr>
      </p:sp>
      <p:sp>
        <p:nvSpPr>
          <p:cNvPr id="6" name="Text 4"/>
          <p:cNvSpPr txBox="1"/>
          <p:nvPr/>
        </p:nvSpPr>
        <p:spPr>
          <a:xfrm>
            <a:off x="1005840" y="4160520"/>
            <a:ext cx="10177272" cy="777240"/>
          </a:xfrm>
          <a:prstGeom prst="rect">
            <a:avLst/>
          </a:prstGeom>
          <a:noFill/>
          <a:ln/>
        </p:spPr>
        <p:txBody>
          <a:bodyPr wrap="square" lIns="0" tIns="0" rIns="0" bIns="0" rtlCol="0" anchor="ctr"/>
          <a:lstStyle/>
          <a:p>
            <a:pPr indent="0" marL="0">
              <a:lnSpc>
                <a:spcPts val="1900"/>
              </a:lnSpc>
              <a:buNone/>
            </a:pPr>
            <a:r>
              <a:rPr lang="en-US" sz="1350" dirty="0">
                <a:solidFill>
                  <a:srgbClr val="17513F"/>
                </a:solidFill>
                <a:latin typeface="Calibri" pitchFamily="34" charset="0"/>
                <a:ea typeface="Calibri" pitchFamily="34" charset="-122"/>
                <a:cs typeface="Calibri" pitchFamily="34" charset="-120"/>
              </a:rPr>
              <a:t>Without it you cannot size a model, justify self hosting, decide whether to fine-tune, or notice when a prompt change made things worse. Every decision in this class routes through the golden set.</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Measure the things that decide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Four metrics carry most decisions</a:t>
            </a:r>
            <a:endParaRPr lang="en-US" sz="15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2926080"/>
                <a:gridCol w="4754880"/>
                <a:gridCol w="3227832"/>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to get it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Task success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Golden set pass rate, mechanical where possible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Is this model sufficient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Schema validity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Share of outputs that pass the real validator</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Is it safe in a pipeline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Latency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Prefill and decode measured separately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Is it usable interactively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Cost per unit of work</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Tokens in and out, times price or amortised hardware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Does self hosting pay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114800"/>
            <a:ext cx="10543032" cy="1225296"/>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Prefer mechanical checks over model graded ones wherever the task allows it.</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When you must use a model as judge, fix the judge and the conditions, and report the proxy openly.</a:t>
            </a:r>
            <a:endParaRPr lang="en-US" sz="14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09</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Deciding</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The sequence, and the page you keep.</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decision sequence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Answer in order. Do not skip ahead.</a:t>
            </a:r>
            <a:endParaRPr lang="en-US" sz="15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548640"/>
                <a:gridCol w="4206240"/>
                <a:gridCol w="6153912"/>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If the answer is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What is the task shape?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Extraction or routing, a small model is fine. Agentic, 7B floor</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How many steps between checkpoints?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Above about ten unverified, decompose before anything else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What is your volume?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Low volume, use a hosted model and revisit later</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Is there a non cost reason to self host?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If not, a cheap hosted small model wins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Do you have a golden set?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If not, build it first. Nothing above is answerable without it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20624">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Is the residual failure format or reasoning?</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Format, fine-tune. Reasoning, decompose or size up</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When a small model is the wrong choice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Say this out loud in your own design reviews</a:t>
            </a:r>
            <a:endParaRPr lang="en-US" sz="1500" dirty="0"/>
          </a:p>
        </p:txBody>
      </p:sp>
      <p:sp>
        <p:nvSpPr>
          <p:cNvPr id="4" name="Text 2"/>
          <p:cNvSpPr txBox="1"/>
          <p:nvPr/>
        </p:nvSpPr>
        <p:spPr>
          <a:xfrm>
            <a:off x="640080" y="1874520"/>
            <a:ext cx="10543032"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The task needs novel reasoning or long horizon planning that you cannot decompose.</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Your volume is low, so engineering effort dwarfs any token saving.</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You have no golden set and no appetite to build one.</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Quality requirements are absolute and there is no acceptable escalation path.</a:t>
            </a:r>
            <a:endParaRPr lang="en-US" sz="1550" dirty="0"/>
          </a:p>
          <a:p>
            <a:pPr marL="342900" indent="-342900">
              <a:lnSpc>
                <a:spcPts val="2100"/>
              </a:lnSpc>
              <a:spcAft>
                <a:spcPts val="700"/>
              </a:spcAft>
              <a:buSzPct val="100000"/>
              <a:buChar char="•"/>
            </a:pPr>
            <a:r>
              <a:rPr lang="en-US" sz="1550" dirty="0">
                <a:solidFill>
                  <a:srgbClr val="2A3746"/>
                </a:solidFill>
                <a:latin typeface="Calibri" pitchFamily="34" charset="0"/>
                <a:ea typeface="Calibri" pitchFamily="34" charset="-122"/>
                <a:cs typeface="Calibri" pitchFamily="34" charset="-120"/>
              </a:rPr>
              <a:t>Nobody will own the model, the dataset, the evaluation harness and the retraining, permanently.</a:t>
            </a:r>
            <a:endParaRPr lang="en-US" sz="1550" dirty="0"/>
          </a:p>
        </p:txBody>
      </p:sp>
      <p:sp>
        <p:nvSpPr>
          <p:cNvPr id="5" name="Shape 3"/>
          <p:cNvSpPr/>
          <p:nvPr/>
        </p:nvSpPr>
        <p:spPr>
          <a:xfrm>
            <a:off x="640080" y="4206240"/>
            <a:ext cx="10908792" cy="914400"/>
          </a:xfrm>
          <a:prstGeom prst="roundRect">
            <a:avLst>
              <a:gd name="adj" fmla="val 6000"/>
            </a:avLst>
          </a:prstGeom>
          <a:solidFill>
            <a:srgbClr val="F7E7E2"/>
          </a:solidFill>
          <a:ln w="12700">
            <a:solidFill>
              <a:srgbClr val="E1E7ED"/>
            </a:solidFill>
            <a:prstDash val="solid"/>
          </a:ln>
        </p:spPr>
      </p:sp>
      <p:sp>
        <p:nvSpPr>
          <p:cNvPr id="6" name="Text 4"/>
          <p:cNvSpPr txBox="1"/>
          <p:nvPr/>
        </p:nvSpPr>
        <p:spPr>
          <a:xfrm>
            <a:off x="1005840" y="4389120"/>
            <a:ext cx="10177272" cy="594360"/>
          </a:xfrm>
          <a:prstGeom prst="rect">
            <a:avLst/>
          </a:prstGeom>
          <a:noFill/>
          <a:ln/>
        </p:spPr>
        <p:txBody>
          <a:bodyPr wrap="square" lIns="0" tIns="0" rIns="0" bIns="0" rtlCol="0" anchor="ctr"/>
          <a:lstStyle/>
          <a:p>
            <a:pPr indent="0" marL="0">
              <a:lnSpc>
                <a:spcPts val="1900"/>
              </a:lnSpc>
              <a:buNone/>
            </a:pPr>
            <a:r>
              <a:rPr lang="en-US" sz="1400" dirty="0">
                <a:solidFill>
                  <a:srgbClr val="7A2E1C"/>
                </a:solidFill>
                <a:latin typeface="Calibri" pitchFamily="34" charset="0"/>
                <a:ea typeface="Calibri" pitchFamily="34" charset="-122"/>
                <a:cs typeface="Calibri" pitchFamily="34" charset="-120"/>
              </a:rPr>
              <a:t>Recommending against a small model when these hold is what makes your recommendation credible when it goes the other way.</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The five habits worth keeping</a:t>
            </a:r>
            <a:endParaRPr lang="en-US" sz="3300" dirty="0"/>
          </a:p>
        </p:txBody>
      </p:sp>
      <p:sp>
        <p:nvSpPr>
          <p:cNvPr id="3" name="Text 1"/>
          <p:cNvSpPr txBox="1"/>
          <p:nvPr/>
        </p:nvSpPr>
        <p:spPr>
          <a:xfrm>
            <a:off x="640080" y="2011680"/>
            <a:ext cx="10360152"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700" dirty="0">
                <a:solidFill>
                  <a:srgbClr val="DCE4EC"/>
                </a:solidFill>
                <a:latin typeface="Calibri" pitchFamily="34" charset="0"/>
                <a:ea typeface="Calibri" pitchFamily="34" charset="-122"/>
                <a:cs typeface="Calibri" pitchFamily="34" charset="-120"/>
              </a:rPr>
              <a:t>Build the golden set first. Everything else is guessing until you have it.</a:t>
            </a:r>
            <a:endParaRPr lang="en-US" sz="1700" dirty="0"/>
          </a:p>
          <a:p>
            <a:pPr marL="342900" indent="-342900">
              <a:lnSpc>
                <a:spcPts val="2100"/>
              </a:lnSpc>
              <a:spcAft>
                <a:spcPts val="700"/>
              </a:spcAft>
              <a:buSzPct val="100000"/>
              <a:buChar char="•"/>
            </a:pPr>
            <a:r>
              <a:rPr lang="en-US" sz="1700" dirty="0">
                <a:solidFill>
                  <a:srgbClr val="DCE4EC"/>
                </a:solidFill>
                <a:latin typeface="Calibri" pitchFamily="34" charset="0"/>
                <a:ea typeface="Calibri" pitchFamily="34" charset="-122"/>
                <a:cs typeface="Calibri" pitchFamily="34" charset="-120"/>
              </a:rPr>
              <a:t>Cut the number of steps before you reach for more parameters.</a:t>
            </a:r>
            <a:endParaRPr lang="en-US" sz="1700" dirty="0"/>
          </a:p>
          <a:p>
            <a:pPr marL="342900" indent="-342900">
              <a:lnSpc>
                <a:spcPts val="2100"/>
              </a:lnSpc>
              <a:spcAft>
                <a:spcPts val="700"/>
              </a:spcAft>
              <a:buSzPct val="100000"/>
              <a:buChar char="•"/>
            </a:pPr>
            <a:r>
              <a:rPr lang="en-US" sz="1700" dirty="0">
                <a:solidFill>
                  <a:srgbClr val="DCE4EC"/>
                </a:solidFill>
                <a:latin typeface="Calibri" pitchFamily="34" charset="0"/>
                <a:ea typeface="Calibri" pitchFamily="34" charset="-122"/>
                <a:cs typeface="Calibri" pitchFamily="34" charset="-120"/>
              </a:rPr>
              <a:t>Constrain and verify at every boundary, so failure becomes a retry instead of corruption.</a:t>
            </a:r>
            <a:endParaRPr lang="en-US" sz="1700" dirty="0"/>
          </a:p>
          <a:p>
            <a:pPr marL="342900" indent="-342900">
              <a:lnSpc>
                <a:spcPts val="2100"/>
              </a:lnSpc>
              <a:spcAft>
                <a:spcPts val="700"/>
              </a:spcAft>
              <a:buSzPct val="100000"/>
              <a:buChar char="•"/>
            </a:pPr>
            <a:r>
              <a:rPr lang="en-US" sz="1700" dirty="0">
                <a:solidFill>
                  <a:srgbClr val="DCE4EC"/>
                </a:solidFill>
                <a:latin typeface="Calibri" pitchFamily="34" charset="0"/>
                <a:ea typeface="Calibri" pitchFamily="34" charset="-122"/>
                <a:cs typeface="Calibri" pitchFamily="34" charset="-120"/>
              </a:rPr>
              <a:t>Measure the base model on the identical set before claiming any improvement.</a:t>
            </a:r>
            <a:endParaRPr lang="en-US" sz="1700" dirty="0"/>
          </a:p>
          <a:p>
            <a:pPr marL="342900" indent="-342900">
              <a:lnSpc>
                <a:spcPts val="2100"/>
              </a:lnSpc>
              <a:spcAft>
                <a:spcPts val="700"/>
              </a:spcAft>
              <a:buSzPct val="100000"/>
              <a:buChar char="•"/>
            </a:pPr>
            <a:r>
              <a:rPr lang="en-US" sz="1700" dirty="0">
                <a:solidFill>
                  <a:srgbClr val="DCE4EC"/>
                </a:solidFill>
                <a:latin typeface="Calibri" pitchFamily="34" charset="0"/>
                <a:ea typeface="Calibri" pitchFamily="34" charset="-122"/>
                <a:cs typeface="Calibri" pitchFamily="34" charset="-120"/>
              </a:rPr>
              <a:t>Check what you broke, not only what you improved.</a:t>
            </a:r>
            <a:endParaRPr lang="en-US" sz="17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468880"/>
            <a:ext cx="10908792"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Go and measure something</a:t>
            </a:r>
            <a:endParaRPr lang="en-US" sz="4200" dirty="0"/>
          </a:p>
        </p:txBody>
      </p:sp>
      <p:sp>
        <p:nvSpPr>
          <p:cNvPr id="3" name="Text 1"/>
          <p:cNvSpPr txBox="1"/>
          <p:nvPr/>
        </p:nvSpPr>
        <p:spPr>
          <a:xfrm>
            <a:off x="640080" y="3474720"/>
            <a:ext cx="8727034" cy="914400"/>
          </a:xfrm>
          <a:prstGeom prst="rect">
            <a:avLst/>
          </a:prstGeom>
          <a:noFill/>
          <a:ln/>
        </p:spPr>
        <p:txBody>
          <a:bodyPr wrap="square" lIns="0" tIns="0" rIns="0" bIns="0" rtlCol="0" anchor="ctr"/>
          <a:lstStyle/>
          <a:p>
            <a:pPr indent="0" marL="0">
              <a:lnSpc>
                <a:spcPts val="2600"/>
              </a:lnSpc>
              <a:buNone/>
            </a:pPr>
            <a:r>
              <a:rPr lang="en-US" sz="1700" dirty="0">
                <a:solidFill>
                  <a:srgbClr val="A9B6C4"/>
                </a:solidFill>
                <a:latin typeface="Calibri" pitchFamily="34" charset="0"/>
                <a:ea typeface="Calibri" pitchFamily="34" charset="-122"/>
                <a:cs typeface="Calibri" pitchFamily="34" charset="-120"/>
              </a:rPr>
              <a:t>The field card and the fine-tuning deep dive are yours to keep. Model names, prices and leaderboard positions will move. The decision sequence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 Language Models: From First Principles</dc:title>
  <dc:subject>PptxGenJS Presentation</dc:subject>
  <dc:creator>SLM Class</dc:creator>
  <cp:lastModifiedBy>SLM Class</cp:lastModifiedBy>
  <cp:revision>1</cp:revision>
  <dcterms:created xsi:type="dcterms:W3CDTF">2026-09-05T05:23:19Z</dcterms:created>
  <dcterms:modified xsi:type="dcterms:W3CDTF">2026-09-05T05:23:19Z</dcterms:modified>
</cp:coreProperties>
</file>