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everyone is running in production right now and on what hardware. Pitch the depth to the answers, and reference their stack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download point out loud. Experienced rooms have been burned by workshop prerequisites.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show of hands on who has been bitten by leakage. Usually most of the room, once they realise what it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slice is the one people forget and the one that catches the most dangerous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people down the ladder. Most teams reach for a judge when rung three would have been free and deterministic.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 preference is well documented and surprises people. Spend a moment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7 has them compute this on their own results, so the point is earned rather than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changes are the most common regression source and the least gated. Emphasise that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asymmetry explicitly: compute follows active, memory follows total. Everything else derives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people photograph. Give them a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back to the field card: task shape decides, and here memory decides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anyone in the room serves one today, hand them the floor for two minutes. War stories land better than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who has hit an out of memory error mid conversation rather than at load. That is the KV 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arithmetic live for the model the room actually runs. It is the most immediately useful slide in the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lever is a prompt engineering task disguised as an infrastructure task. That reframe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timestamp mistake is extremely common. Mention it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lands hard with experienced teams because most of them have exactly this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Redacted sampling is the compromise most teams land on eventually. Save them the detour.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unbounded generation point ties directly to the lab fix in the two hour class. Call that back if they were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is where the value is. Aggregate comparison hides exactly the regressions that hurt.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blunt that this is a summary, not a security curriculum, and point them at a real threat modelling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the practices card here. It is the same list in a form they can pin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here, then straight into whichever lab the room most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A"/>
        </a:solidFill>
      </p:bgPr>
    </p:bg>
    <p:spTree>
      <p:nvGrpSpPr>
        <p:cNvPr id="1" name=""/>
        <p:cNvGrpSpPr/>
        <p:nvPr/>
      </p:nvGrpSpPr>
      <p:grpSpPr>
        <a:xfrm>
          <a:off x="0" y="0"/>
          <a:ext cx="0" cy="0"/>
          <a:chOff x="0" y="0"/>
          <a:chExt cx="0" cy="0"/>
        </a:xfrm>
      </p:grpSpPr>
      <p:sp>
        <p:nvSpPr>
          <p:cNvPr id="2" name="Text 0"/>
          <p:cNvSpPr txBox="1"/>
          <p:nvPr/>
        </p:nvSpPr>
        <p:spPr>
          <a:xfrm>
            <a:off x="640080" y="1783080"/>
            <a:ext cx="10908792" cy="8686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Small Language Models</a:t>
            </a:r>
            <a:endParaRPr lang="en-US" sz="4800" dirty="0"/>
          </a:p>
        </p:txBody>
      </p:sp>
      <p:sp>
        <p:nvSpPr>
          <p:cNvPr id="3" name="Text 1"/>
          <p:cNvSpPr txBox="1"/>
          <p:nvPr/>
        </p:nvSpPr>
        <p:spPr>
          <a:xfrm>
            <a:off x="640080" y="2606040"/>
            <a:ext cx="10908792" cy="868680"/>
          </a:xfrm>
          <a:prstGeom prst="rect">
            <a:avLst/>
          </a:prstGeom>
          <a:noFill/>
          <a:ln/>
        </p:spPr>
        <p:txBody>
          <a:bodyPr wrap="square" lIns="0" tIns="0" rIns="0" bIns="0" rtlCol="0" anchor="ctr"/>
          <a:lstStyle/>
          <a:p>
            <a:pPr indent="0" marL="0">
              <a:buNone/>
            </a:pPr>
            <a:r>
              <a:rPr lang="en-US" sz="4800" b="1" dirty="0">
                <a:solidFill>
                  <a:srgbClr val="FF6B35"/>
                </a:solidFill>
                <a:latin typeface="Cambria" pitchFamily="34" charset="0"/>
                <a:ea typeface="Cambria" pitchFamily="34" charset="-122"/>
                <a:cs typeface="Cambria" pitchFamily="34" charset="-120"/>
              </a:rPr>
              <a:t>Advanced Track</a:t>
            </a:r>
            <a:endParaRPr lang="en-US" sz="4800" dirty="0"/>
          </a:p>
        </p:txBody>
      </p:sp>
      <p:sp>
        <p:nvSpPr>
          <p:cNvPr id="4" name="Text 2"/>
          <p:cNvSpPr txBox="1"/>
          <p:nvPr/>
        </p:nvSpPr>
        <p:spPr>
          <a:xfrm>
            <a:off x="640080" y="3657600"/>
            <a:ext cx="10908792" cy="457200"/>
          </a:xfrm>
          <a:prstGeom prst="rect">
            <a:avLst/>
          </a:prstGeom>
          <a:noFill/>
          <a:ln/>
        </p:spPr>
        <p:txBody>
          <a:bodyPr wrap="square" lIns="0" tIns="0" rIns="0" bIns="0" rtlCol="0" anchor="ctr"/>
          <a:lstStyle/>
          <a:p>
            <a:pPr indent="0" marL="0">
              <a:buNone/>
            </a:pPr>
            <a:r>
              <a:rPr lang="en-US" sz="1700" dirty="0">
                <a:solidFill>
                  <a:srgbClr val="A9B6C4"/>
                </a:solidFill>
                <a:latin typeface="Calibri" pitchFamily="34" charset="0"/>
                <a:ea typeface="Calibri" pitchFamily="34" charset="-122"/>
                <a:cs typeface="Calibri" pitchFamily="34" charset="-120"/>
              </a:rPr>
              <a:t>Evaluation that holds up  ·  mixture of experts  ·  memory management  ·  production practice</a:t>
            </a:r>
            <a:endParaRPr lang="en-US" sz="1700" dirty="0"/>
          </a:p>
        </p:txBody>
      </p:sp>
      <p:sp>
        <p:nvSpPr>
          <p:cNvPr id="5" name="Shape 3"/>
          <p:cNvSpPr/>
          <p:nvPr/>
        </p:nvSpPr>
        <p:spPr>
          <a:xfrm>
            <a:off x="640080" y="4754880"/>
            <a:ext cx="118872" cy="118872"/>
          </a:xfrm>
          <a:prstGeom prst="ellipse">
            <a:avLst/>
          </a:prstGeom>
          <a:solidFill>
            <a:srgbClr val="FF6B35"/>
          </a:solidFill>
          <a:ln/>
        </p:spPr>
      </p:sp>
      <p:sp>
        <p:nvSpPr>
          <p:cNvPr id="6" name="Text 4"/>
          <p:cNvSpPr txBox="1"/>
          <p:nvPr/>
        </p:nvSpPr>
        <p:spPr>
          <a:xfrm>
            <a:off x="896112" y="4645152"/>
            <a:ext cx="10634472" cy="365760"/>
          </a:xfrm>
          <a:prstGeom prst="rect">
            <a:avLst/>
          </a:prstGeom>
          <a:noFill/>
          <a:ln/>
        </p:spPr>
        <p:txBody>
          <a:bodyPr wrap="square" lIns="0" tIns="0" rIns="0" bIns="0" rtlCol="0" anchor="ctr"/>
          <a:lstStyle/>
          <a:p>
            <a:pPr indent="0" marL="0">
              <a:buNone/>
            </a:pPr>
            <a:r>
              <a:rPr lang="en-US" sz="1300" dirty="0">
                <a:solidFill>
                  <a:srgbClr val="A9B6C4"/>
                </a:solidFill>
                <a:latin typeface="Courier New" pitchFamily="34" charset="0"/>
                <a:ea typeface="Courier New" pitchFamily="34" charset="-122"/>
                <a:cs typeface="Courier New" pitchFamily="34" charset="-120"/>
              </a:rPr>
              <a:t>For teams already shipping models. No foundations, no vocabulary detour.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What this track assumes and what it adds</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The two hour class answered "should we". This one answers "how well".</a:t>
            </a:r>
            <a:endParaRPr lang="en-US" sz="1500" dirty="0"/>
          </a:p>
        </p:txBody>
      </p:sp>
      <p:sp>
        <p:nvSpPr>
          <p:cNvPr id="4" name="Shape 2"/>
          <p:cNvSpPr/>
          <p:nvPr/>
        </p:nvSpPr>
        <p:spPr>
          <a:xfrm>
            <a:off x="640080" y="1828800"/>
            <a:ext cx="5271516" cy="2651760"/>
          </a:xfrm>
          <a:prstGeom prst="roundRect">
            <a:avLst>
              <a:gd name="adj" fmla="val 2069"/>
            </a:avLst>
          </a:prstGeom>
          <a:solidFill>
            <a:srgbClr val="F1F4F7"/>
          </a:solidFill>
          <a:ln w="12700">
            <a:solidFill>
              <a:srgbClr val="E1E7ED"/>
            </a:solidFill>
            <a:prstDash val="solid"/>
          </a:ln>
        </p:spPr>
      </p:sp>
      <p:sp>
        <p:nvSpPr>
          <p:cNvPr id="5" name="Text 3"/>
          <p:cNvSpPr txBox="1"/>
          <p:nvPr/>
        </p:nvSpPr>
        <p:spPr>
          <a:xfrm>
            <a:off x="960120" y="1993392"/>
            <a:ext cx="3657600" cy="365760"/>
          </a:xfrm>
          <a:prstGeom prst="rect">
            <a:avLst/>
          </a:prstGeom>
          <a:noFill/>
          <a:ln/>
        </p:spPr>
        <p:txBody>
          <a:bodyPr wrap="square" lIns="0" tIns="0" rIns="0" bIns="0" rtlCol="0" anchor="ctr"/>
          <a:lstStyle/>
          <a:p>
            <a:pPr indent="0" marL="0">
              <a:buNone/>
            </a:pPr>
            <a:r>
              <a:rPr lang="en-US" sz="1400" b="1" dirty="0">
                <a:solidFill>
                  <a:srgbClr val="16202A"/>
                </a:solidFill>
                <a:latin typeface="Calibri" pitchFamily="34" charset="0"/>
                <a:ea typeface="Calibri" pitchFamily="34" charset="-122"/>
                <a:cs typeface="Calibri" pitchFamily="34" charset="-120"/>
              </a:rPr>
              <a:t>Assumed</a:t>
            </a:r>
            <a:endParaRPr lang="en-US" sz="1400" dirty="0"/>
          </a:p>
        </p:txBody>
      </p:sp>
      <p:sp>
        <p:nvSpPr>
          <p:cNvPr id="6" name="Text 4"/>
          <p:cNvSpPr txBox="1"/>
          <p:nvPr/>
        </p:nvSpPr>
        <p:spPr>
          <a:xfrm>
            <a:off x="960120" y="2377440"/>
            <a:ext cx="4631436" cy="1993392"/>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Tokens, parameters, context, quantization</a:t>
            </a:r>
            <a:endParaRPr lang="en-US" sz="1350" dirty="0"/>
          </a:p>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The compounding argument and per-step p</a:t>
            </a:r>
            <a:endParaRPr lang="en-US" sz="1350" dirty="0"/>
          </a:p>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Decompose, constrain, verify, route</a:t>
            </a:r>
            <a:endParaRPr lang="en-US" sz="1350" dirty="0"/>
          </a:p>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You have shipped at least one model</a:t>
            </a:r>
            <a:endParaRPr lang="en-US" sz="1350" dirty="0"/>
          </a:p>
        </p:txBody>
      </p:sp>
      <p:sp>
        <p:nvSpPr>
          <p:cNvPr id="7" name="Shape 5"/>
          <p:cNvSpPr/>
          <p:nvPr/>
        </p:nvSpPr>
        <p:spPr>
          <a:xfrm>
            <a:off x="6277356" y="1828800"/>
            <a:ext cx="5271516" cy="2651760"/>
          </a:xfrm>
          <a:prstGeom prst="roundRect">
            <a:avLst>
              <a:gd name="adj" fmla="val 2069"/>
            </a:avLst>
          </a:prstGeom>
          <a:solidFill>
            <a:srgbClr val="FDE3D6"/>
          </a:solidFill>
          <a:ln w="12700">
            <a:solidFill>
              <a:srgbClr val="E1E7ED"/>
            </a:solidFill>
            <a:prstDash val="solid"/>
          </a:ln>
        </p:spPr>
      </p:sp>
      <p:sp>
        <p:nvSpPr>
          <p:cNvPr id="8" name="Text 6"/>
          <p:cNvSpPr txBox="1"/>
          <p:nvPr/>
        </p:nvSpPr>
        <p:spPr>
          <a:xfrm>
            <a:off x="6597396" y="1993392"/>
            <a:ext cx="3657600" cy="365760"/>
          </a:xfrm>
          <a:prstGeom prst="rect">
            <a:avLst/>
          </a:prstGeom>
          <a:noFill/>
          <a:ln/>
        </p:spPr>
        <p:txBody>
          <a:bodyPr wrap="square" lIns="0" tIns="0" rIns="0" bIns="0" rtlCol="0" anchor="ctr"/>
          <a:lstStyle/>
          <a:p>
            <a:pPr indent="0" marL="0">
              <a:buNone/>
            </a:pPr>
            <a:r>
              <a:rPr lang="en-US" sz="1400" b="1" dirty="0">
                <a:solidFill>
                  <a:srgbClr val="8A3A15"/>
                </a:solidFill>
                <a:latin typeface="Calibri" pitchFamily="34" charset="0"/>
                <a:ea typeface="Calibri" pitchFamily="34" charset="-122"/>
                <a:cs typeface="Calibri" pitchFamily="34" charset="-120"/>
              </a:rPr>
              <a:t>Added here</a:t>
            </a:r>
            <a:endParaRPr lang="en-US" sz="1400" dirty="0"/>
          </a:p>
        </p:txBody>
      </p:sp>
      <p:sp>
        <p:nvSpPr>
          <p:cNvPr id="9" name="Text 7"/>
          <p:cNvSpPr txBox="1"/>
          <p:nvPr/>
        </p:nvSpPr>
        <p:spPr>
          <a:xfrm>
            <a:off x="6597396" y="2377440"/>
            <a:ext cx="4631436" cy="1993392"/>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Evaluation you can defend in a review</a:t>
            </a:r>
            <a:endParaRPr lang="en-US" sz="1350" dirty="0"/>
          </a:p>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Mixture of experts, and when it pays</a:t>
            </a:r>
            <a:endParaRPr lang="en-US" sz="1350" dirty="0"/>
          </a:p>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Memory management as a first class design input</a:t>
            </a:r>
            <a:endParaRPr lang="en-US" sz="1350" dirty="0"/>
          </a:p>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The operational practices that decide outcomes</a:t>
            </a:r>
            <a:endParaRPr lang="en-US" sz="1350" dirty="0"/>
          </a:p>
        </p:txBody>
      </p:sp>
      <p:sp>
        <p:nvSpPr>
          <p:cNvPr id="10" name="Text 8"/>
          <p:cNvSpPr txBox="1"/>
          <p:nvPr/>
        </p:nvSpPr>
        <p:spPr>
          <a:xfrm>
            <a:off x="640080" y="4663440"/>
            <a:ext cx="10543032" cy="1097280"/>
          </a:xfrm>
          <a:prstGeom prst="rect">
            <a:avLst/>
          </a:prstGeom>
          <a:noFill/>
          <a:ln/>
        </p:spPr>
        <p:txBody>
          <a:bodyPr wrap="square" lIns="0" tIns="0" rIns="0" bIns="0" rtlCol="0" anchor="t"/>
          <a:lstStyle/>
          <a:p>
            <a:pPr indent="0" marL="0">
              <a:lnSpc>
                <a:spcPts val="2200"/>
              </a:lnSpc>
              <a:buNone/>
            </a:pPr>
            <a:r>
              <a:rPr lang="en-US" sz="1450" dirty="0">
                <a:solidFill>
                  <a:srgbClr val="2A3746"/>
                </a:solidFill>
                <a:latin typeface="Calibri" pitchFamily="34" charset="0"/>
                <a:ea typeface="Calibri" pitchFamily="34" charset="-122"/>
                <a:cs typeface="Calibri" pitchFamily="34" charset="-120"/>
              </a:rPr>
              <a:t>Three new labs. Nothing to download beyond what you already have, because the mixture of experts lab works from a recorded measurement set rather than an eighteen gigabyte pull.</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202A"/>
        </a:solidFill>
      </p:bgPr>
    </p:bg>
    <p:spTree>
      <p:nvGrpSpPr>
        <p:cNvPr id="1" name=""/>
        <p:cNvGrpSpPr/>
        <p:nvPr/>
      </p:nvGrpSpPr>
      <p:grpSpPr>
        <a:xfrm>
          <a:off x="0" y="0"/>
          <a:ext cx="0" cy="0"/>
          <a:chOff x="0" y="0"/>
          <a:chExt cx="0" cy="0"/>
        </a:xfrm>
      </p:grpSpPr>
      <p:sp>
        <p:nvSpPr>
          <p:cNvPr id="2" name="Text 0"/>
          <p:cNvSpPr txBox="1"/>
          <p:nvPr/>
        </p:nvSpPr>
        <p:spPr>
          <a:xfrm>
            <a:off x="640080" y="2057400"/>
            <a:ext cx="2743200" cy="731520"/>
          </a:xfrm>
          <a:prstGeom prst="rect">
            <a:avLst/>
          </a:prstGeom>
          <a:noFill/>
          <a:ln/>
        </p:spPr>
        <p:txBody>
          <a:bodyPr wrap="square" lIns="0" tIns="0" rIns="0" bIns="0" rtlCol="0" anchor="ctr"/>
          <a:lstStyle/>
          <a:p>
            <a:pPr indent="0" marL="0">
              <a:buNone/>
            </a:pPr>
            <a:r>
              <a:rPr lang="en-US" sz="4400" b="1" dirty="0">
                <a:solidFill>
                  <a:srgbClr val="FF6B35"/>
                </a:solidFill>
                <a:latin typeface="Courier New" pitchFamily="34" charset="0"/>
                <a:ea typeface="Courier New" pitchFamily="34" charset="-122"/>
                <a:cs typeface="Courier New" pitchFamily="34" charset="-120"/>
              </a:rPr>
              <a:t>A</a:t>
            </a:r>
            <a:endParaRPr lang="en-US" sz="4400" dirty="0"/>
          </a:p>
        </p:txBody>
      </p:sp>
      <p:sp>
        <p:nvSpPr>
          <p:cNvPr id="3" name="Text 1"/>
          <p:cNvSpPr txBox="1"/>
          <p:nvPr/>
        </p:nvSpPr>
        <p:spPr>
          <a:xfrm>
            <a:off x="640080" y="2788920"/>
            <a:ext cx="10908792"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Evaluation that holds up</a:t>
            </a:r>
            <a:endParaRPr lang="en-US" sz="3800" dirty="0"/>
          </a:p>
        </p:txBody>
      </p:sp>
      <p:sp>
        <p:nvSpPr>
          <p:cNvPr id="4" name="Text 2"/>
          <p:cNvSpPr txBox="1"/>
          <p:nvPr/>
        </p:nvSpPr>
        <p:spPr>
          <a:xfrm>
            <a:off x="640080" y="3794760"/>
            <a:ext cx="8727034" cy="822960"/>
          </a:xfrm>
          <a:prstGeom prst="rect">
            <a:avLst/>
          </a:prstGeom>
          <a:noFill/>
          <a:ln/>
        </p:spPr>
        <p:txBody>
          <a:bodyPr wrap="square" lIns="0" tIns="0" rIns="0" bIns="0" rtlCol="0" anchor="ctr"/>
          <a:lstStyle/>
          <a:p>
            <a:pPr indent="0" marL="0">
              <a:lnSpc>
                <a:spcPts val="2400"/>
              </a:lnSpc>
              <a:buNone/>
            </a:pPr>
            <a:r>
              <a:rPr lang="en-US" sz="1600" dirty="0">
                <a:solidFill>
                  <a:srgbClr val="A9B6C4"/>
                </a:solidFill>
                <a:latin typeface="Calibri" pitchFamily="34" charset="0"/>
                <a:ea typeface="Calibri" pitchFamily="34" charset="-122"/>
                <a:cs typeface="Calibri" pitchFamily="34" charset="-120"/>
              </a:rPr>
              <a:t>Most evaluation suites are a comfort blanket. Here is how to build one that can lose.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The four ways an eval quietly lies to you</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Every one of these has shipped a bad model into production</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920240"/>
          <a:ext cx="10908792" cy="914400"/>
        </p:xfrm>
        <a:graphic>
          <a:graphicData uri="http://schemas.openxmlformats.org/drawingml/2006/table">
            <a:tbl>
              <a:tblPr/>
              <a:tblGrid>
                <a:gridCol w="2103120"/>
                <a:gridCol w="4023360"/>
                <a:gridCol w="4782312"/>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Failure</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How it looks</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The fix</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r>
              <a:tr h="475488">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Leakage</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Scores climb, production does not improve</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Split by episode, hold out whole units, check for near duplicates</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475488">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Easy set</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Everything passes, no signal between models</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Stratify by difficulty, keep a deliberately nasty fifth</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475488">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Proxy drift</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The metric improves while the product gets worse</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State what the proxy misses, review examples by hand regularly</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475488">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Unequal conditions</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One model handicapped by the harness</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Fix decoding params, template, and token budget across models</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bl>
          </a:graphicData>
        </a:graphic>
      </p:graphicFrame>
      <p:sp>
        <p:nvSpPr>
          <p:cNvPr id="5" name="Text 2"/>
          <p:cNvSpPr txBox="1"/>
          <p:nvPr/>
        </p:nvSpPr>
        <p:spPr>
          <a:xfrm>
            <a:off x="640080" y="4206240"/>
            <a:ext cx="10543032" cy="1097280"/>
          </a:xfrm>
          <a:prstGeom prst="rect">
            <a:avLst/>
          </a:prstGeom>
          <a:noFill/>
          <a:ln/>
        </p:spPr>
        <p:txBody>
          <a:bodyPr wrap="square" lIns="0" tIns="0" rIns="0" bIns="0" rtlCol="0" anchor="t"/>
          <a:lstStyle/>
          <a:p>
            <a:pPr indent="0" marL="0">
              <a:lnSpc>
                <a:spcPts val="2200"/>
              </a:lnSpc>
              <a:buNone/>
            </a:pPr>
            <a:r>
              <a:rPr lang="en-US" sz="1450" dirty="0">
                <a:solidFill>
                  <a:srgbClr val="2A3746"/>
                </a:solidFill>
                <a:latin typeface="Calibri" pitchFamily="34" charset="0"/>
                <a:ea typeface="Calibri" pitchFamily="34" charset="-122"/>
                <a:cs typeface="Calibri" pitchFamily="34" charset="-120"/>
              </a:rPr>
              <a:t>The last one is the most embarrassing in a review, because it usually favours whichever model you already preferred.</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Building a golden set that can actually fail</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Composition matters more than size</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908792" cy="914400"/>
        </p:xfrm>
        <a:graphic>
          <a:graphicData uri="http://schemas.openxmlformats.org/drawingml/2006/table">
            <a:tbl>
              <a:tblPr/>
              <a:tblGrid>
                <a:gridCol w="3108960"/>
                <a:gridCol w="1280160"/>
                <a:gridCol w="6519672"/>
              </a:tblGrid>
              <a:tr h="40233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Slice</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Share</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Purpose</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r>
              <a:tr h="402336">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Representative traffic</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50%</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Sampled from real logs, weighted like production</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402336">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Known hard cases</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20%</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Anything that has broken before. Every incident adds one</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402336">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Adversarial</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15%</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Malformed input, injection attempts, contradictions, empty fields</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402336">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Boundary</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Longest realistic input, smallest, rarest category</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402336">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Should refuse or escalate</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Cases where the correct answer is to not answer</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bl>
          </a:graphicData>
        </a:graphic>
      </p:graphicFrame>
      <p:sp>
        <p:nvSpPr>
          <p:cNvPr id="5" name="Text 2"/>
          <p:cNvSpPr txBox="1"/>
          <p:nvPr/>
        </p:nvSpPr>
        <p:spPr>
          <a:xfrm>
            <a:off x="640080" y="4114800"/>
            <a:ext cx="10543032" cy="1609344"/>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450" dirty="0">
                <a:solidFill>
                  <a:srgbClr val="2A3746"/>
                </a:solidFill>
                <a:latin typeface="Calibri" pitchFamily="34" charset="0"/>
                <a:ea typeface="Calibri" pitchFamily="34" charset="-122"/>
                <a:cs typeface="Calibri" pitchFamily="34" charset="-120"/>
              </a:rPr>
              <a:t>One hundred cases composed like this beats a thousand sampled uniformly.</a:t>
            </a:r>
            <a:endParaRPr lang="en-US" sz="1450" dirty="0"/>
          </a:p>
          <a:p>
            <a:pPr marL="342900" indent="-342900">
              <a:lnSpc>
                <a:spcPts val="2100"/>
              </a:lnSpc>
              <a:spcAft>
                <a:spcPts val="700"/>
              </a:spcAft>
              <a:buSzPct val="100000"/>
              <a:buChar char="•"/>
            </a:pPr>
            <a:r>
              <a:rPr lang="en-US" sz="1450" dirty="0">
                <a:solidFill>
                  <a:srgbClr val="2A3746"/>
                </a:solidFill>
                <a:latin typeface="Calibri" pitchFamily="34" charset="0"/>
                <a:ea typeface="Calibri" pitchFamily="34" charset="-122"/>
                <a:cs typeface="Calibri" pitchFamily="34" charset="-120"/>
              </a:rPr>
              <a:t>Record provenance per case, where it came from and why it is in the set.</a:t>
            </a:r>
            <a:endParaRPr lang="en-US" sz="1450" dirty="0"/>
          </a:p>
          <a:p>
            <a:pPr marL="342900" indent="-342900">
              <a:lnSpc>
                <a:spcPts val="2100"/>
              </a:lnSpc>
              <a:spcAft>
                <a:spcPts val="700"/>
              </a:spcAft>
              <a:buSzPct val="100000"/>
              <a:buChar char="•"/>
            </a:pPr>
            <a:r>
              <a:rPr lang="en-US" sz="1450" dirty="0">
                <a:solidFill>
                  <a:srgbClr val="2A3746"/>
                </a:solidFill>
                <a:latin typeface="Calibri" pitchFamily="34" charset="0"/>
                <a:ea typeface="Calibri" pitchFamily="34" charset="-122"/>
                <a:cs typeface="Calibri" pitchFamily="34" charset="-120"/>
              </a:rPr>
              <a:t>Every production incident becomes a permanent case. That is how the set earns its keep.</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Prefer mechanical checks. Judge only what you must.</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A ladder, cheapest and most stable first</a:t>
            </a:r>
            <a:endParaRPr lang="en-US" sz="1500" dirty="0"/>
          </a:p>
        </p:txBody>
      </p:sp>
      <p:sp>
        <p:nvSpPr>
          <p:cNvPr id="4" name="Shape 2"/>
          <p:cNvSpPr/>
          <p:nvPr/>
        </p:nvSpPr>
        <p:spPr>
          <a:xfrm>
            <a:off x="640080" y="1965960"/>
            <a:ext cx="10908792" cy="658368"/>
          </a:xfrm>
          <a:prstGeom prst="roundRect">
            <a:avLst>
              <a:gd name="adj" fmla="val 8333"/>
            </a:avLst>
          </a:prstGeom>
          <a:solidFill>
            <a:srgbClr val="F1F4F7"/>
          </a:solidFill>
          <a:ln w="12700">
            <a:solidFill>
              <a:srgbClr val="E1E7ED"/>
            </a:solidFill>
            <a:prstDash val="solid"/>
          </a:ln>
        </p:spPr>
      </p:sp>
      <p:sp>
        <p:nvSpPr>
          <p:cNvPr id="5" name="Text 3"/>
          <p:cNvSpPr txBox="1"/>
          <p:nvPr/>
        </p:nvSpPr>
        <p:spPr>
          <a:xfrm>
            <a:off x="914400" y="2020824"/>
            <a:ext cx="4206240" cy="274320"/>
          </a:xfrm>
          <a:prstGeom prst="rect">
            <a:avLst/>
          </a:prstGeom>
          <a:noFill/>
          <a:ln/>
        </p:spPr>
        <p:txBody>
          <a:bodyPr wrap="square" lIns="0" tIns="0" rIns="0" bIns="0" rtlCol="0" anchor="ctr"/>
          <a:lstStyle/>
          <a:p>
            <a:pPr indent="0" marL="0">
              <a:buNone/>
            </a:pPr>
            <a:r>
              <a:rPr lang="en-US" sz="1350" b="1" dirty="0">
                <a:solidFill>
                  <a:srgbClr val="16202A"/>
                </a:solidFill>
                <a:latin typeface="Calibri" pitchFamily="34" charset="0"/>
                <a:ea typeface="Calibri" pitchFamily="34" charset="-122"/>
                <a:cs typeface="Calibri" pitchFamily="34" charset="-120"/>
              </a:rPr>
              <a:t>1  Schema and type checks</a:t>
            </a:r>
            <a:endParaRPr lang="en-US" sz="1350" dirty="0"/>
          </a:p>
        </p:txBody>
      </p:sp>
      <p:sp>
        <p:nvSpPr>
          <p:cNvPr id="6" name="Text 4"/>
          <p:cNvSpPr txBox="1"/>
          <p:nvPr/>
        </p:nvSpPr>
        <p:spPr>
          <a:xfrm>
            <a:off x="5212080" y="2020824"/>
            <a:ext cx="5971032" cy="457200"/>
          </a:xfrm>
          <a:prstGeom prst="rect">
            <a:avLst/>
          </a:prstGeom>
          <a:noFill/>
          <a:ln/>
        </p:spPr>
        <p:txBody>
          <a:bodyPr wrap="square" lIns="0" tIns="0" rIns="0" bIns="0" rtlCol="0" anchor="ctr"/>
          <a:lstStyle/>
          <a:p>
            <a:pPr indent="0" marL="0">
              <a:buNone/>
            </a:pPr>
            <a:r>
              <a:rPr lang="en-US" sz="1200" dirty="0">
                <a:solidFill>
                  <a:srgbClr val="6B7A8C"/>
                </a:solidFill>
                <a:latin typeface="Calibri" pitchFamily="34" charset="0"/>
                <a:ea typeface="Calibri" pitchFamily="34" charset="-122"/>
                <a:cs typeface="Calibri" pitchFamily="34" charset="-120"/>
              </a:rPr>
              <a:t>free, deterministic, catches most pipeline breakage</a:t>
            </a:r>
            <a:endParaRPr lang="en-US" sz="1200" dirty="0"/>
          </a:p>
        </p:txBody>
      </p:sp>
      <p:sp>
        <p:nvSpPr>
          <p:cNvPr id="7" name="Shape 5"/>
          <p:cNvSpPr/>
          <p:nvPr/>
        </p:nvSpPr>
        <p:spPr>
          <a:xfrm>
            <a:off x="640080" y="1965960"/>
            <a:ext cx="54864" cy="658368"/>
          </a:xfrm>
          <a:prstGeom prst="rect">
            <a:avLst/>
          </a:prstGeom>
          <a:solidFill>
            <a:srgbClr val="2E9E82"/>
          </a:solidFill>
          <a:ln/>
        </p:spPr>
      </p:sp>
      <p:sp>
        <p:nvSpPr>
          <p:cNvPr id="8" name="Shape 6"/>
          <p:cNvSpPr/>
          <p:nvPr/>
        </p:nvSpPr>
        <p:spPr>
          <a:xfrm>
            <a:off x="640080" y="2734056"/>
            <a:ext cx="10908792" cy="658368"/>
          </a:xfrm>
          <a:prstGeom prst="roundRect">
            <a:avLst>
              <a:gd name="adj" fmla="val 8333"/>
            </a:avLst>
          </a:prstGeom>
          <a:solidFill>
            <a:srgbClr val="F1F4F7"/>
          </a:solidFill>
          <a:ln w="12700">
            <a:solidFill>
              <a:srgbClr val="E1E7ED"/>
            </a:solidFill>
            <a:prstDash val="solid"/>
          </a:ln>
        </p:spPr>
      </p:sp>
      <p:sp>
        <p:nvSpPr>
          <p:cNvPr id="9" name="Text 7"/>
          <p:cNvSpPr txBox="1"/>
          <p:nvPr/>
        </p:nvSpPr>
        <p:spPr>
          <a:xfrm>
            <a:off x="914400" y="2788920"/>
            <a:ext cx="4206240" cy="274320"/>
          </a:xfrm>
          <a:prstGeom prst="rect">
            <a:avLst/>
          </a:prstGeom>
          <a:noFill/>
          <a:ln/>
        </p:spPr>
        <p:txBody>
          <a:bodyPr wrap="square" lIns="0" tIns="0" rIns="0" bIns="0" rtlCol="0" anchor="ctr"/>
          <a:lstStyle/>
          <a:p>
            <a:pPr indent="0" marL="0">
              <a:buNone/>
            </a:pPr>
            <a:r>
              <a:rPr lang="en-US" sz="1350" b="1" dirty="0">
                <a:solidFill>
                  <a:srgbClr val="16202A"/>
                </a:solidFill>
                <a:latin typeface="Calibri" pitchFamily="34" charset="0"/>
                <a:ea typeface="Calibri" pitchFamily="34" charset="-122"/>
                <a:cs typeface="Calibri" pitchFamily="34" charset="-120"/>
              </a:rPr>
              <a:t>2  Exact or normalised match</a:t>
            </a:r>
            <a:endParaRPr lang="en-US" sz="1350" dirty="0"/>
          </a:p>
        </p:txBody>
      </p:sp>
      <p:sp>
        <p:nvSpPr>
          <p:cNvPr id="10" name="Text 8"/>
          <p:cNvSpPr txBox="1"/>
          <p:nvPr/>
        </p:nvSpPr>
        <p:spPr>
          <a:xfrm>
            <a:off x="5212080" y="2788920"/>
            <a:ext cx="5971032" cy="457200"/>
          </a:xfrm>
          <a:prstGeom prst="rect">
            <a:avLst/>
          </a:prstGeom>
          <a:noFill/>
          <a:ln/>
        </p:spPr>
        <p:txBody>
          <a:bodyPr wrap="square" lIns="0" tIns="0" rIns="0" bIns="0" rtlCol="0" anchor="ctr"/>
          <a:lstStyle/>
          <a:p>
            <a:pPr indent="0" marL="0">
              <a:buNone/>
            </a:pPr>
            <a:r>
              <a:rPr lang="en-US" sz="1200" dirty="0">
                <a:solidFill>
                  <a:srgbClr val="6B7A8C"/>
                </a:solidFill>
                <a:latin typeface="Calibri" pitchFamily="34" charset="0"/>
                <a:ea typeface="Calibri" pitchFamily="34" charset="-122"/>
                <a:cs typeface="Calibri" pitchFamily="34" charset="-120"/>
              </a:rPr>
              <a:t>free, needs a known answer</a:t>
            </a:r>
            <a:endParaRPr lang="en-US" sz="1200" dirty="0"/>
          </a:p>
        </p:txBody>
      </p:sp>
      <p:sp>
        <p:nvSpPr>
          <p:cNvPr id="11" name="Shape 9"/>
          <p:cNvSpPr/>
          <p:nvPr/>
        </p:nvSpPr>
        <p:spPr>
          <a:xfrm>
            <a:off x="640080" y="2734056"/>
            <a:ext cx="54864" cy="658368"/>
          </a:xfrm>
          <a:prstGeom prst="rect">
            <a:avLst/>
          </a:prstGeom>
          <a:solidFill>
            <a:srgbClr val="2E9E82"/>
          </a:solidFill>
          <a:ln/>
        </p:spPr>
      </p:sp>
      <p:sp>
        <p:nvSpPr>
          <p:cNvPr id="12" name="Shape 10"/>
          <p:cNvSpPr/>
          <p:nvPr/>
        </p:nvSpPr>
        <p:spPr>
          <a:xfrm>
            <a:off x="640080" y="3502152"/>
            <a:ext cx="10908792" cy="658368"/>
          </a:xfrm>
          <a:prstGeom prst="roundRect">
            <a:avLst>
              <a:gd name="adj" fmla="val 8333"/>
            </a:avLst>
          </a:prstGeom>
          <a:solidFill>
            <a:srgbClr val="F1F4F7"/>
          </a:solidFill>
          <a:ln w="12700">
            <a:solidFill>
              <a:srgbClr val="E1E7ED"/>
            </a:solidFill>
            <a:prstDash val="solid"/>
          </a:ln>
        </p:spPr>
      </p:sp>
      <p:sp>
        <p:nvSpPr>
          <p:cNvPr id="13" name="Text 11"/>
          <p:cNvSpPr txBox="1"/>
          <p:nvPr/>
        </p:nvSpPr>
        <p:spPr>
          <a:xfrm>
            <a:off x="914400" y="3557016"/>
            <a:ext cx="4206240" cy="274320"/>
          </a:xfrm>
          <a:prstGeom prst="rect">
            <a:avLst/>
          </a:prstGeom>
          <a:noFill/>
          <a:ln/>
        </p:spPr>
        <p:txBody>
          <a:bodyPr wrap="square" lIns="0" tIns="0" rIns="0" bIns="0" rtlCol="0" anchor="ctr"/>
          <a:lstStyle/>
          <a:p>
            <a:pPr indent="0" marL="0">
              <a:buNone/>
            </a:pPr>
            <a:r>
              <a:rPr lang="en-US" sz="1350" b="1" dirty="0">
                <a:solidFill>
                  <a:srgbClr val="16202A"/>
                </a:solidFill>
                <a:latin typeface="Calibri" pitchFamily="34" charset="0"/>
                <a:ea typeface="Calibri" pitchFamily="34" charset="-122"/>
                <a:cs typeface="Calibri" pitchFamily="34" charset="-120"/>
              </a:rPr>
              <a:t>3  Programmatic properties</a:t>
            </a:r>
            <a:endParaRPr lang="en-US" sz="1350" dirty="0"/>
          </a:p>
        </p:txBody>
      </p:sp>
      <p:sp>
        <p:nvSpPr>
          <p:cNvPr id="14" name="Text 12"/>
          <p:cNvSpPr txBox="1"/>
          <p:nvPr/>
        </p:nvSpPr>
        <p:spPr>
          <a:xfrm>
            <a:off x="5212080" y="3557016"/>
            <a:ext cx="5971032" cy="457200"/>
          </a:xfrm>
          <a:prstGeom prst="rect">
            <a:avLst/>
          </a:prstGeom>
          <a:noFill/>
          <a:ln/>
        </p:spPr>
        <p:txBody>
          <a:bodyPr wrap="square" lIns="0" tIns="0" rIns="0" bIns="0" rtlCol="0" anchor="ctr"/>
          <a:lstStyle/>
          <a:p>
            <a:pPr indent="0" marL="0">
              <a:buNone/>
            </a:pPr>
            <a:r>
              <a:rPr lang="en-US" sz="1200" dirty="0">
                <a:solidFill>
                  <a:srgbClr val="6B7A8C"/>
                </a:solidFill>
                <a:latin typeface="Calibri" pitchFamily="34" charset="0"/>
                <a:ea typeface="Calibri" pitchFamily="34" charset="-122"/>
                <a:cs typeface="Calibri" pitchFamily="34" charset="-120"/>
              </a:rPr>
              <a:t>invariants: no invented IDs, totals reconcile, citations resolve</a:t>
            </a:r>
            <a:endParaRPr lang="en-US" sz="1200" dirty="0"/>
          </a:p>
        </p:txBody>
      </p:sp>
      <p:sp>
        <p:nvSpPr>
          <p:cNvPr id="15" name="Shape 13"/>
          <p:cNvSpPr/>
          <p:nvPr/>
        </p:nvSpPr>
        <p:spPr>
          <a:xfrm>
            <a:off x="640080" y="3502152"/>
            <a:ext cx="54864" cy="658368"/>
          </a:xfrm>
          <a:prstGeom prst="rect">
            <a:avLst/>
          </a:prstGeom>
          <a:solidFill>
            <a:srgbClr val="2E9E82"/>
          </a:solidFill>
          <a:ln/>
        </p:spPr>
      </p:sp>
      <p:sp>
        <p:nvSpPr>
          <p:cNvPr id="16" name="Shape 14"/>
          <p:cNvSpPr/>
          <p:nvPr/>
        </p:nvSpPr>
        <p:spPr>
          <a:xfrm>
            <a:off x="640080" y="4270248"/>
            <a:ext cx="10908792" cy="658368"/>
          </a:xfrm>
          <a:prstGeom prst="roundRect">
            <a:avLst>
              <a:gd name="adj" fmla="val 8333"/>
            </a:avLst>
          </a:prstGeom>
          <a:solidFill>
            <a:srgbClr val="F1F4F7"/>
          </a:solidFill>
          <a:ln w="12700">
            <a:solidFill>
              <a:srgbClr val="E1E7ED"/>
            </a:solidFill>
            <a:prstDash val="solid"/>
          </a:ln>
        </p:spPr>
      </p:sp>
      <p:sp>
        <p:nvSpPr>
          <p:cNvPr id="17" name="Text 15"/>
          <p:cNvSpPr txBox="1"/>
          <p:nvPr/>
        </p:nvSpPr>
        <p:spPr>
          <a:xfrm>
            <a:off x="914400" y="4325112"/>
            <a:ext cx="4206240" cy="274320"/>
          </a:xfrm>
          <a:prstGeom prst="rect">
            <a:avLst/>
          </a:prstGeom>
          <a:noFill/>
          <a:ln/>
        </p:spPr>
        <p:txBody>
          <a:bodyPr wrap="square" lIns="0" tIns="0" rIns="0" bIns="0" rtlCol="0" anchor="ctr"/>
          <a:lstStyle/>
          <a:p>
            <a:pPr indent="0" marL="0">
              <a:buNone/>
            </a:pPr>
            <a:r>
              <a:rPr lang="en-US" sz="1350" b="1" dirty="0">
                <a:solidFill>
                  <a:srgbClr val="16202A"/>
                </a:solidFill>
                <a:latin typeface="Calibri" pitchFamily="34" charset="0"/>
                <a:ea typeface="Calibri" pitchFamily="34" charset="-122"/>
                <a:cs typeface="Calibri" pitchFamily="34" charset="-120"/>
              </a:rPr>
              <a:t>4  Similarity to reference</a:t>
            </a:r>
            <a:endParaRPr lang="en-US" sz="1350" dirty="0"/>
          </a:p>
        </p:txBody>
      </p:sp>
      <p:sp>
        <p:nvSpPr>
          <p:cNvPr id="18" name="Text 16"/>
          <p:cNvSpPr txBox="1"/>
          <p:nvPr/>
        </p:nvSpPr>
        <p:spPr>
          <a:xfrm>
            <a:off x="5212080" y="4325112"/>
            <a:ext cx="5971032" cy="457200"/>
          </a:xfrm>
          <a:prstGeom prst="rect">
            <a:avLst/>
          </a:prstGeom>
          <a:noFill/>
          <a:ln/>
        </p:spPr>
        <p:txBody>
          <a:bodyPr wrap="square" lIns="0" tIns="0" rIns="0" bIns="0" rtlCol="0" anchor="ctr"/>
          <a:lstStyle/>
          <a:p>
            <a:pPr indent="0" marL="0">
              <a:buNone/>
            </a:pPr>
            <a:r>
              <a:rPr lang="en-US" sz="1200" dirty="0">
                <a:solidFill>
                  <a:srgbClr val="6B7A8C"/>
                </a:solidFill>
                <a:latin typeface="Calibri" pitchFamily="34" charset="0"/>
                <a:ea typeface="Calibri" pitchFamily="34" charset="-122"/>
                <a:cs typeface="Calibri" pitchFamily="34" charset="-120"/>
              </a:rPr>
              <a:t>cheap, noisy, use as a signal not a gate</a:t>
            </a:r>
            <a:endParaRPr lang="en-US" sz="1200" dirty="0"/>
          </a:p>
        </p:txBody>
      </p:sp>
      <p:sp>
        <p:nvSpPr>
          <p:cNvPr id="19" name="Shape 17"/>
          <p:cNvSpPr/>
          <p:nvPr/>
        </p:nvSpPr>
        <p:spPr>
          <a:xfrm>
            <a:off x="640080" y="4270248"/>
            <a:ext cx="54864" cy="658368"/>
          </a:xfrm>
          <a:prstGeom prst="rect">
            <a:avLst/>
          </a:prstGeom>
          <a:solidFill>
            <a:srgbClr val="D9A404"/>
          </a:solidFill>
          <a:ln/>
        </p:spPr>
      </p:sp>
      <p:sp>
        <p:nvSpPr>
          <p:cNvPr id="20" name="Shape 18"/>
          <p:cNvSpPr/>
          <p:nvPr/>
        </p:nvSpPr>
        <p:spPr>
          <a:xfrm>
            <a:off x="640080" y="5038344"/>
            <a:ext cx="10908792" cy="658368"/>
          </a:xfrm>
          <a:prstGeom prst="roundRect">
            <a:avLst>
              <a:gd name="adj" fmla="val 8333"/>
            </a:avLst>
          </a:prstGeom>
          <a:solidFill>
            <a:srgbClr val="F1F4F7"/>
          </a:solidFill>
          <a:ln w="12700">
            <a:solidFill>
              <a:srgbClr val="E1E7ED"/>
            </a:solidFill>
            <a:prstDash val="solid"/>
          </a:ln>
        </p:spPr>
      </p:sp>
      <p:sp>
        <p:nvSpPr>
          <p:cNvPr id="21" name="Text 19"/>
          <p:cNvSpPr txBox="1"/>
          <p:nvPr/>
        </p:nvSpPr>
        <p:spPr>
          <a:xfrm>
            <a:off x="914400" y="5093208"/>
            <a:ext cx="4206240" cy="274320"/>
          </a:xfrm>
          <a:prstGeom prst="rect">
            <a:avLst/>
          </a:prstGeom>
          <a:noFill/>
          <a:ln/>
        </p:spPr>
        <p:txBody>
          <a:bodyPr wrap="square" lIns="0" tIns="0" rIns="0" bIns="0" rtlCol="0" anchor="ctr"/>
          <a:lstStyle/>
          <a:p>
            <a:pPr indent="0" marL="0">
              <a:buNone/>
            </a:pPr>
            <a:r>
              <a:rPr lang="en-US" sz="1350" b="1" dirty="0">
                <a:solidFill>
                  <a:srgbClr val="16202A"/>
                </a:solidFill>
                <a:latin typeface="Calibri" pitchFamily="34" charset="0"/>
                <a:ea typeface="Calibri" pitchFamily="34" charset="-122"/>
                <a:cs typeface="Calibri" pitchFamily="34" charset="-120"/>
              </a:rPr>
              <a:t>5  Model as judge</a:t>
            </a:r>
            <a:endParaRPr lang="en-US" sz="1350" dirty="0"/>
          </a:p>
        </p:txBody>
      </p:sp>
      <p:sp>
        <p:nvSpPr>
          <p:cNvPr id="22" name="Text 20"/>
          <p:cNvSpPr txBox="1"/>
          <p:nvPr/>
        </p:nvSpPr>
        <p:spPr>
          <a:xfrm>
            <a:off x="5212080" y="5093208"/>
            <a:ext cx="5971032" cy="457200"/>
          </a:xfrm>
          <a:prstGeom prst="rect">
            <a:avLst/>
          </a:prstGeom>
          <a:noFill/>
          <a:ln/>
        </p:spPr>
        <p:txBody>
          <a:bodyPr wrap="square" lIns="0" tIns="0" rIns="0" bIns="0" rtlCol="0" anchor="ctr"/>
          <a:lstStyle/>
          <a:p>
            <a:pPr indent="0" marL="0">
              <a:buNone/>
            </a:pPr>
            <a:r>
              <a:rPr lang="en-US" sz="1200" dirty="0">
                <a:solidFill>
                  <a:srgbClr val="6B7A8C"/>
                </a:solidFill>
                <a:latin typeface="Calibri" pitchFamily="34" charset="0"/>
                <a:ea typeface="Calibri" pitchFamily="34" charset="-122"/>
                <a:cs typeface="Calibri" pitchFamily="34" charset="-120"/>
              </a:rPr>
              <a:t>expensive, biased, powerful when validated</a:t>
            </a:r>
            <a:endParaRPr lang="en-US" sz="1200" dirty="0"/>
          </a:p>
        </p:txBody>
      </p:sp>
      <p:sp>
        <p:nvSpPr>
          <p:cNvPr id="23" name="Shape 21"/>
          <p:cNvSpPr/>
          <p:nvPr/>
        </p:nvSpPr>
        <p:spPr>
          <a:xfrm>
            <a:off x="640080" y="5038344"/>
            <a:ext cx="54864" cy="658368"/>
          </a:xfrm>
          <a:prstGeom prst="rect">
            <a:avLst/>
          </a:prstGeom>
          <a:solidFill>
            <a:srgbClr val="C0442E"/>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If you use a model as judge, validate the judge</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An unvalidated judge is an opinion with a decimal point</a:t>
            </a:r>
            <a:endParaRPr lang="en-US" sz="1500" dirty="0"/>
          </a:p>
        </p:txBody>
      </p:sp>
      <p:sp>
        <p:nvSpPr>
          <p:cNvPr id="4" name="Text 2"/>
          <p:cNvSpPr txBox="1"/>
          <p:nvPr/>
        </p:nvSpPr>
        <p:spPr>
          <a:xfrm>
            <a:off x="640080" y="1874520"/>
            <a:ext cx="10543032" cy="2377440"/>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450" dirty="0">
                <a:solidFill>
                  <a:srgbClr val="2A3746"/>
                </a:solidFill>
                <a:latin typeface="Calibri" pitchFamily="34" charset="0"/>
                <a:ea typeface="Calibri" pitchFamily="34" charset="-122"/>
                <a:cs typeface="Calibri" pitchFamily="34" charset="-120"/>
              </a:rPr>
              <a:t>Label 50 cases by hand, then measure agreement between judge and human. Below about 80 percent the judge is not usable as a gate.</a:t>
            </a:r>
            <a:endParaRPr lang="en-US" sz="1450" dirty="0"/>
          </a:p>
          <a:p>
            <a:pPr marL="342900" indent="-342900">
              <a:lnSpc>
                <a:spcPts val="2100"/>
              </a:lnSpc>
              <a:spcAft>
                <a:spcPts val="700"/>
              </a:spcAft>
              <a:buSzPct val="100000"/>
              <a:buChar char="•"/>
            </a:pPr>
            <a:r>
              <a:rPr lang="en-US" sz="1450" dirty="0">
                <a:solidFill>
                  <a:srgbClr val="2A3746"/>
                </a:solidFill>
                <a:latin typeface="Calibri" pitchFamily="34" charset="0"/>
                <a:ea typeface="Calibri" pitchFamily="34" charset="-122"/>
                <a:cs typeface="Calibri" pitchFamily="34" charset="-120"/>
              </a:rPr>
              <a:t>Known biases to control: position bias in pairwise comparison, length bias toward longer answers, and self preference when the judge shares a family with the candidate.</a:t>
            </a:r>
            <a:endParaRPr lang="en-US" sz="1450" dirty="0"/>
          </a:p>
          <a:p>
            <a:pPr marL="342900" indent="-342900">
              <a:lnSpc>
                <a:spcPts val="2100"/>
              </a:lnSpc>
              <a:spcAft>
                <a:spcPts val="700"/>
              </a:spcAft>
              <a:buSzPct val="100000"/>
              <a:buChar char="•"/>
            </a:pPr>
            <a:r>
              <a:rPr lang="en-US" sz="1450" dirty="0">
                <a:solidFill>
                  <a:srgbClr val="2A3746"/>
                </a:solidFill>
                <a:latin typeface="Calibri" pitchFamily="34" charset="0"/>
                <a:ea typeface="Calibri" pitchFamily="34" charset="-122"/>
                <a:cs typeface="Calibri" pitchFamily="34" charset="-120"/>
              </a:rPr>
              <a:t>Mitigations: randomise order and run both directions, strip identifying style, use a judge from a different family than any candidate.</a:t>
            </a:r>
            <a:endParaRPr lang="en-US" sz="1450" dirty="0"/>
          </a:p>
          <a:p>
            <a:pPr marL="342900" indent="-342900">
              <a:lnSpc>
                <a:spcPts val="2100"/>
              </a:lnSpc>
              <a:spcAft>
                <a:spcPts val="700"/>
              </a:spcAft>
              <a:buSzPct val="100000"/>
              <a:buChar char="•"/>
            </a:pPr>
            <a:r>
              <a:rPr lang="en-US" sz="1450" dirty="0">
                <a:solidFill>
                  <a:srgbClr val="2A3746"/>
                </a:solidFill>
                <a:latin typeface="Calibri" pitchFamily="34" charset="0"/>
                <a:ea typeface="Calibri" pitchFamily="34" charset="-122"/>
                <a:cs typeface="Calibri" pitchFamily="34" charset="-120"/>
              </a:rPr>
              <a:t>Pin the judge model and its version. A judge that silently upgrades invalidates every historical score you have.</a:t>
            </a:r>
            <a:endParaRPr lang="en-US" sz="1450" dirty="0"/>
          </a:p>
          <a:p>
            <a:pPr marL="342900" indent="-342900">
              <a:lnSpc>
                <a:spcPts val="2100"/>
              </a:lnSpc>
              <a:spcAft>
                <a:spcPts val="700"/>
              </a:spcAft>
              <a:buSzPct val="100000"/>
              <a:buChar char="•"/>
            </a:pPr>
            <a:r>
              <a:rPr lang="en-US" sz="1450" dirty="0">
                <a:solidFill>
                  <a:srgbClr val="2A3746"/>
                </a:solidFill>
                <a:latin typeface="Calibri" pitchFamily="34" charset="0"/>
                <a:ea typeface="Calibri" pitchFamily="34" charset="-122"/>
                <a:cs typeface="Calibri" pitchFamily="34" charset="-120"/>
              </a:rPr>
              <a:t>Report judged numbers with the judge named, the same way you would cite an instrument.</a:t>
            </a:r>
            <a:endParaRPr lang="en-US" sz="1450" dirty="0"/>
          </a:p>
        </p:txBody>
      </p:sp>
      <p:sp>
        <p:nvSpPr>
          <p:cNvPr id="5" name="Shape 3"/>
          <p:cNvSpPr/>
          <p:nvPr/>
        </p:nvSpPr>
        <p:spPr>
          <a:xfrm>
            <a:off x="640080" y="4343400"/>
            <a:ext cx="10908792" cy="868680"/>
          </a:xfrm>
          <a:prstGeom prst="roundRect">
            <a:avLst>
              <a:gd name="adj" fmla="val 6316"/>
            </a:avLst>
          </a:prstGeom>
          <a:solidFill>
            <a:srgbClr val="FBF0E2"/>
          </a:solidFill>
          <a:ln w="12700">
            <a:solidFill>
              <a:srgbClr val="E1E7ED"/>
            </a:solidFill>
            <a:prstDash val="solid"/>
          </a:ln>
        </p:spPr>
      </p:sp>
      <p:sp>
        <p:nvSpPr>
          <p:cNvPr id="6" name="Text 4"/>
          <p:cNvSpPr txBox="1"/>
          <p:nvPr/>
        </p:nvSpPr>
        <p:spPr>
          <a:xfrm>
            <a:off x="1005840" y="4507992"/>
            <a:ext cx="10177272" cy="548640"/>
          </a:xfrm>
          <a:prstGeom prst="rect">
            <a:avLst/>
          </a:prstGeom>
          <a:noFill/>
          <a:ln/>
        </p:spPr>
        <p:txBody>
          <a:bodyPr wrap="square" lIns="0" tIns="0" rIns="0" bIns="0" rtlCol="0" anchor="ctr"/>
          <a:lstStyle/>
          <a:p>
            <a:pPr indent="0" marL="0">
              <a:lnSpc>
                <a:spcPts val="1900"/>
              </a:lnSpc>
              <a:buNone/>
            </a:pPr>
            <a:r>
              <a:rPr lang="en-US" sz="1350" dirty="0">
                <a:solidFill>
                  <a:srgbClr val="5A4415"/>
                </a:solidFill>
                <a:latin typeface="Calibri" pitchFamily="34" charset="0"/>
                <a:ea typeface="Calibri" pitchFamily="34" charset="-122"/>
                <a:cs typeface="Calibri" pitchFamily="34" charset="-120"/>
              </a:rPr>
              <a:t>Never let a model judge its own output in a gate. If the judge and the candidate share a family, you are measuring family agreement, not quality.</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Small sets need error bars</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The difference you are about to ship may be noise</a:t>
            </a:r>
            <a:endParaRPr lang="en-US" sz="1500" dirty="0"/>
          </a:p>
        </p:txBody>
      </p:sp>
      <p:sp>
        <p:nvSpPr>
          <p:cNvPr id="4" name="Text 2"/>
          <p:cNvSpPr txBox="1"/>
          <p:nvPr/>
        </p:nvSpPr>
        <p:spPr>
          <a:xfrm>
            <a:off x="640080" y="2103120"/>
            <a:ext cx="3291840" cy="822960"/>
          </a:xfrm>
          <a:prstGeom prst="rect">
            <a:avLst/>
          </a:prstGeom>
          <a:noFill/>
          <a:ln/>
        </p:spPr>
        <p:txBody>
          <a:bodyPr wrap="square" lIns="0" tIns="0" rIns="0" bIns="0" rtlCol="0" anchor="ctr"/>
          <a:lstStyle/>
          <a:p>
            <a:pPr indent="0" marL="0">
              <a:buNone/>
            </a:pPr>
            <a:r>
              <a:rPr lang="en-US" sz="3400" b="1" dirty="0">
                <a:solidFill>
                  <a:srgbClr val="FF6B35"/>
                </a:solidFill>
                <a:latin typeface="Courier New" pitchFamily="34" charset="0"/>
                <a:ea typeface="Courier New" pitchFamily="34" charset="-122"/>
                <a:cs typeface="Courier New" pitchFamily="34" charset="-120"/>
              </a:rPr>
              <a:t>+/- 9 pts</a:t>
            </a:r>
            <a:endParaRPr lang="en-US" sz="3400" dirty="0"/>
          </a:p>
        </p:txBody>
      </p:sp>
      <p:sp>
        <p:nvSpPr>
          <p:cNvPr id="5" name="Text 3"/>
          <p:cNvSpPr txBox="1"/>
          <p:nvPr/>
        </p:nvSpPr>
        <p:spPr>
          <a:xfrm>
            <a:off x="640080" y="2880360"/>
            <a:ext cx="3291840" cy="731520"/>
          </a:xfrm>
          <a:prstGeom prst="rect">
            <a:avLst/>
          </a:prstGeom>
          <a:noFill/>
          <a:ln/>
        </p:spPr>
        <p:txBody>
          <a:bodyPr wrap="square" lIns="0" tIns="0" rIns="0" bIns="0" rtlCol="0" anchor="ctr"/>
          <a:lstStyle/>
          <a:p>
            <a:pPr indent="0" marL="0">
              <a:buNone/>
            </a:pPr>
            <a:r>
              <a:rPr lang="en-US" sz="1250" dirty="0">
                <a:solidFill>
                  <a:srgbClr val="6B7A8C"/>
                </a:solidFill>
                <a:latin typeface="Calibri" pitchFamily="34" charset="0"/>
                <a:ea typeface="Calibri" pitchFamily="34" charset="-122"/>
                <a:cs typeface="Calibri" pitchFamily="34" charset="-120"/>
              </a:rPr>
              <a:t>roughly the 95 percent interval on 100 cases at 80 percent</a:t>
            </a:r>
            <a:endParaRPr lang="en-US" sz="1250" dirty="0"/>
          </a:p>
        </p:txBody>
      </p:sp>
      <p:sp>
        <p:nvSpPr>
          <p:cNvPr id="6" name="Shape 4"/>
          <p:cNvSpPr/>
          <p:nvPr/>
        </p:nvSpPr>
        <p:spPr>
          <a:xfrm>
            <a:off x="4663440" y="2057400"/>
            <a:ext cx="6885432" cy="2194560"/>
          </a:xfrm>
          <a:prstGeom prst="roundRect">
            <a:avLst>
              <a:gd name="adj" fmla="val 2500"/>
            </a:avLst>
          </a:prstGeom>
          <a:solidFill>
            <a:srgbClr val="F1F4F7"/>
          </a:solidFill>
          <a:ln w="12700">
            <a:solidFill>
              <a:srgbClr val="E1E7ED"/>
            </a:solidFill>
            <a:prstDash val="solid"/>
          </a:ln>
        </p:spPr>
      </p:sp>
      <p:sp>
        <p:nvSpPr>
          <p:cNvPr id="7" name="Text 5"/>
          <p:cNvSpPr txBox="1"/>
          <p:nvPr/>
        </p:nvSpPr>
        <p:spPr>
          <a:xfrm>
            <a:off x="5029200" y="2286000"/>
            <a:ext cx="6153912" cy="1993392"/>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A jump from 80 to 84 percent on a 100 case set is not evidence of anything.</a:t>
            </a:r>
            <a:endParaRPr lang="en-US" sz="1350" dirty="0"/>
          </a:p>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Rough interval: about 2 times the square root of p times 1 minus p over n.</a:t>
            </a:r>
            <a:endParaRPr lang="en-US" sz="1350" dirty="0"/>
          </a:p>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For paired comparisons, test the same cases on both models and compare per case, which is far more sensitive.</a:t>
            </a:r>
            <a:endParaRPr lang="en-US" sz="1350" dirty="0"/>
          </a:p>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Fix the seed and temperature, or you are also measuring sampling noise.</a:t>
            </a:r>
            <a:endParaRPr lang="en-US" sz="1350" dirty="0"/>
          </a:p>
        </p:txBody>
      </p:sp>
      <p:sp>
        <p:nvSpPr>
          <p:cNvPr id="8" name="Text 6"/>
          <p:cNvSpPr txBox="1"/>
          <p:nvPr/>
        </p:nvSpPr>
        <p:spPr>
          <a:xfrm>
            <a:off x="640080" y="4526280"/>
            <a:ext cx="10543032" cy="1097280"/>
          </a:xfrm>
          <a:prstGeom prst="rect">
            <a:avLst/>
          </a:prstGeom>
          <a:noFill/>
          <a:ln/>
        </p:spPr>
        <p:txBody>
          <a:bodyPr wrap="square" lIns="0" tIns="0" rIns="0" bIns="0" rtlCol="0" anchor="t"/>
          <a:lstStyle/>
          <a:p>
            <a:pPr indent="0" marL="0">
              <a:lnSpc>
                <a:spcPts val="2200"/>
              </a:lnSpc>
              <a:buNone/>
            </a:pPr>
            <a:r>
              <a:rPr lang="en-US" sz="1500" dirty="0">
                <a:solidFill>
                  <a:srgbClr val="2A3746"/>
                </a:solidFill>
                <a:latin typeface="Calibri" pitchFamily="34" charset="0"/>
                <a:ea typeface="Calibri" pitchFamily="34" charset="-122"/>
                <a:cs typeface="Calibri" pitchFamily="34" charset="-120"/>
              </a:rPr>
              <a:t>This is the single easiest way to stop shipping regressions dressed as improvements, and it costs one line of arithmetic.</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The harness belongs in continuous integration</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An eval you run by hand is an eval you stop running</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920240"/>
          <a:ext cx="10908792" cy="914400"/>
        </p:xfrm>
        <a:graphic>
          <a:graphicData uri="http://schemas.openxmlformats.org/drawingml/2006/table">
            <a:tbl>
              <a:tblPr/>
              <a:tblGrid>
                <a:gridCol w="3108960"/>
                <a:gridCol w="4754880"/>
                <a:gridCol w="3044952"/>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Gate</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Rule</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On failure</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r>
              <a:tr h="384048">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Schema validity</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must not fall below the agreed floor</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block the change</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84048">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Task success</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must not regress beyond the error bar</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block the change</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84048">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Latency p95</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must stay inside the budget</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block the change</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84048">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Cost per request</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must stay inside the budget</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warn and require sign off</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84048">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Refusal and safety slice</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must not regress at all</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block the change</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bl>
          </a:graphicData>
        </a:graphic>
      </p:graphicFrame>
      <p:sp>
        <p:nvSpPr>
          <p:cNvPr id="5" name="Text 2"/>
          <p:cNvSpPr txBox="1"/>
          <p:nvPr/>
        </p:nvSpPr>
        <p:spPr>
          <a:xfrm>
            <a:off x="640080" y="4114800"/>
            <a:ext cx="10543032" cy="1225296"/>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450" dirty="0">
                <a:solidFill>
                  <a:srgbClr val="2A3746"/>
                </a:solidFill>
                <a:latin typeface="Calibri" pitchFamily="34" charset="0"/>
                <a:ea typeface="Calibri" pitchFamily="34" charset="-122"/>
                <a:cs typeface="Calibri" pitchFamily="34" charset="-120"/>
              </a:rPr>
              <a:t>Run it on every prompt change, not only on model changes. Prompts regress far more often than models do.</a:t>
            </a:r>
            <a:endParaRPr lang="en-US" sz="1450" dirty="0"/>
          </a:p>
          <a:p>
            <a:pPr marL="342900" indent="-342900">
              <a:lnSpc>
                <a:spcPts val="2100"/>
              </a:lnSpc>
              <a:spcAft>
                <a:spcPts val="700"/>
              </a:spcAft>
              <a:buSzPct val="100000"/>
              <a:buChar char="•"/>
            </a:pPr>
            <a:r>
              <a:rPr lang="en-US" sz="1450" dirty="0">
                <a:solidFill>
                  <a:srgbClr val="2A3746"/>
                </a:solidFill>
                <a:latin typeface="Calibri" pitchFamily="34" charset="0"/>
                <a:ea typeface="Calibri" pitchFamily="34" charset="-122"/>
                <a:cs typeface="Calibri" pitchFamily="34" charset="-120"/>
              </a:rPr>
              <a:t>Keep a canary slice in production and compare live outputs against the same gates weekly.</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202A"/>
        </a:solidFill>
      </p:bgPr>
    </p:bg>
    <p:spTree>
      <p:nvGrpSpPr>
        <p:cNvPr id="1" name=""/>
        <p:cNvGrpSpPr/>
        <p:nvPr/>
      </p:nvGrpSpPr>
      <p:grpSpPr>
        <a:xfrm>
          <a:off x="0" y="0"/>
          <a:ext cx="0" cy="0"/>
          <a:chOff x="0" y="0"/>
          <a:chExt cx="0" cy="0"/>
        </a:xfrm>
      </p:grpSpPr>
      <p:sp>
        <p:nvSpPr>
          <p:cNvPr id="2" name="Text 0"/>
          <p:cNvSpPr txBox="1"/>
          <p:nvPr/>
        </p:nvSpPr>
        <p:spPr>
          <a:xfrm>
            <a:off x="640080" y="685800"/>
            <a:ext cx="1828800" cy="457200"/>
          </a:xfrm>
          <a:prstGeom prst="rect">
            <a:avLst/>
          </a:prstGeom>
          <a:noFill/>
          <a:ln/>
        </p:spPr>
        <p:txBody>
          <a:bodyPr wrap="square" lIns="0" tIns="0" rIns="0" bIns="0" rtlCol="0" anchor="ctr"/>
          <a:lstStyle/>
          <a:p>
            <a:pPr indent="0" marL="0">
              <a:buNone/>
            </a:pPr>
            <a:r>
              <a:rPr lang="en-US" sz="2000" b="1" spc="400" kern="0" dirty="0">
                <a:solidFill>
                  <a:srgbClr val="FF6B35"/>
                </a:solidFill>
                <a:latin typeface="Courier New" pitchFamily="34" charset="0"/>
                <a:ea typeface="Courier New" pitchFamily="34" charset="-122"/>
                <a:cs typeface="Courier New" pitchFamily="34" charset="-120"/>
              </a:rPr>
              <a:t>LAB</a:t>
            </a:r>
            <a:endParaRPr lang="en-US" sz="2000" dirty="0"/>
          </a:p>
        </p:txBody>
      </p:sp>
      <p:sp>
        <p:nvSpPr>
          <p:cNvPr id="3" name="Text 1"/>
          <p:cNvSpPr txBox="1"/>
          <p:nvPr/>
        </p:nvSpPr>
        <p:spPr>
          <a:xfrm>
            <a:off x="640080" y="1143000"/>
            <a:ext cx="10908792"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Lab 6: the honest eval harness</a:t>
            </a:r>
            <a:endParaRPr lang="en-US" sz="3400" dirty="0"/>
          </a:p>
        </p:txBody>
      </p:sp>
      <p:sp>
        <p:nvSpPr>
          <p:cNvPr id="4" name="Text 2"/>
          <p:cNvSpPr txBox="1"/>
          <p:nvPr/>
        </p:nvSpPr>
        <p:spPr>
          <a:xfrm>
            <a:off x="640080" y="2011680"/>
            <a:ext cx="10908792" cy="365760"/>
          </a:xfrm>
          <a:prstGeom prst="rect">
            <a:avLst/>
          </a:prstGeom>
          <a:noFill/>
          <a:ln/>
        </p:spPr>
        <p:txBody>
          <a:bodyPr wrap="square" lIns="0" tIns="0" rIns="0" bIns="0" rtlCol="0" anchor="ctr"/>
          <a:lstStyle/>
          <a:p>
            <a:pPr indent="0" marL="0">
              <a:buNone/>
            </a:pPr>
            <a:r>
              <a:rPr lang="en-US" sz="1600" i="1" dirty="0">
                <a:solidFill>
                  <a:srgbClr val="FF6B35"/>
                </a:solidFill>
                <a:latin typeface="Calibri" pitchFamily="34" charset="0"/>
                <a:ea typeface="Calibri" pitchFamily="34" charset="-122"/>
                <a:cs typeface="Calibri" pitchFamily="34" charset="-120"/>
              </a:rPr>
              <a:t>20 minutes</a:t>
            </a:r>
            <a:endParaRPr lang="en-US" sz="1600" dirty="0"/>
          </a:p>
        </p:txBody>
      </p:sp>
      <p:sp>
        <p:nvSpPr>
          <p:cNvPr id="5" name="Shape 3"/>
          <p:cNvSpPr/>
          <p:nvPr/>
        </p:nvSpPr>
        <p:spPr>
          <a:xfrm>
            <a:off x="640080" y="2606040"/>
            <a:ext cx="10908792" cy="3017520"/>
          </a:xfrm>
          <a:prstGeom prst="roundRect">
            <a:avLst>
              <a:gd name="adj" fmla="val 1818"/>
            </a:avLst>
          </a:prstGeom>
          <a:solidFill>
            <a:srgbClr val="1F2C3B"/>
          </a:solidFill>
          <a:ln w="12700">
            <a:solidFill>
              <a:srgbClr val="1F2C3B"/>
            </a:solidFill>
            <a:prstDash val="solid"/>
          </a:ln>
        </p:spPr>
      </p:sp>
      <p:sp>
        <p:nvSpPr>
          <p:cNvPr id="6" name="Text 4"/>
          <p:cNvSpPr txBox="1"/>
          <p:nvPr/>
        </p:nvSpPr>
        <p:spPr>
          <a:xfrm>
            <a:off x="1051560" y="2880360"/>
            <a:ext cx="10085832" cy="2377440"/>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550" dirty="0">
                <a:solidFill>
                  <a:srgbClr val="DCE4EC"/>
                </a:solidFill>
                <a:latin typeface="Calibri" pitchFamily="34" charset="0"/>
                <a:ea typeface="Calibri" pitchFamily="34" charset="-122"/>
                <a:cs typeface="Calibri" pitchFamily="34" charset="-120"/>
              </a:rPr>
              <a:t>Compose a golden set with the five slices, from provided raw traffic.</a:t>
            </a:r>
            <a:endParaRPr lang="en-US" sz="1550" dirty="0"/>
          </a:p>
          <a:p>
            <a:pPr marL="342900" indent="-342900">
              <a:lnSpc>
                <a:spcPts val="2100"/>
              </a:lnSpc>
              <a:spcAft>
                <a:spcPts val="700"/>
              </a:spcAft>
              <a:buSzPct val="100000"/>
              <a:buChar char="•"/>
            </a:pPr>
            <a:r>
              <a:rPr lang="en-US" sz="1550" dirty="0">
                <a:solidFill>
                  <a:srgbClr val="DCE4EC"/>
                </a:solidFill>
                <a:latin typeface="Calibri" pitchFamily="34" charset="0"/>
                <a:ea typeface="Calibri" pitchFamily="34" charset="-122"/>
                <a:cs typeface="Calibri" pitchFamily="34" charset="-120"/>
              </a:rPr>
              <a:t>Score with mechanical checks first, then add a judge for the one slice that needs it.</a:t>
            </a:r>
            <a:endParaRPr lang="en-US" sz="1550" dirty="0"/>
          </a:p>
          <a:p>
            <a:pPr marL="342900" indent="-342900">
              <a:lnSpc>
                <a:spcPts val="2100"/>
              </a:lnSpc>
              <a:spcAft>
                <a:spcPts val="700"/>
              </a:spcAft>
              <a:buSzPct val="100000"/>
              <a:buChar char="•"/>
            </a:pPr>
            <a:r>
              <a:rPr lang="en-US" sz="1550" dirty="0">
                <a:solidFill>
                  <a:srgbClr val="DCE4EC"/>
                </a:solidFill>
                <a:latin typeface="Calibri" pitchFamily="34" charset="0"/>
                <a:ea typeface="Calibri" pitchFamily="34" charset="-122"/>
                <a:cs typeface="Calibri" pitchFamily="34" charset="-120"/>
              </a:rPr>
              <a:t>Validate the judge against your own hand labels and compute agreement.</a:t>
            </a:r>
            <a:endParaRPr lang="en-US" sz="1550" dirty="0"/>
          </a:p>
          <a:p>
            <a:pPr marL="342900" indent="-342900">
              <a:lnSpc>
                <a:spcPts val="2100"/>
              </a:lnSpc>
              <a:spcAft>
                <a:spcPts val="700"/>
              </a:spcAft>
              <a:buSzPct val="100000"/>
              <a:buChar char="•"/>
            </a:pPr>
            <a:r>
              <a:rPr lang="en-US" sz="1550" dirty="0">
                <a:solidFill>
                  <a:srgbClr val="DCE4EC"/>
                </a:solidFill>
                <a:latin typeface="Calibri" pitchFamily="34" charset="0"/>
                <a:ea typeface="Calibri" pitchFamily="34" charset="-122"/>
                <a:cs typeface="Calibri" pitchFamily="34" charset="-120"/>
              </a:rPr>
              <a:t>Put confidence intervals on every number, then decide whether two models actually differ.</a:t>
            </a:r>
            <a:endParaRPr lang="en-US" sz="1550" dirty="0"/>
          </a:p>
          <a:p>
            <a:pPr marL="342900" indent="-342900">
              <a:lnSpc>
                <a:spcPts val="2100"/>
              </a:lnSpc>
              <a:spcAft>
                <a:spcPts val="700"/>
              </a:spcAft>
              <a:buSzPct val="100000"/>
              <a:buChar char="•"/>
            </a:pPr>
            <a:r>
              <a:rPr lang="en-US" sz="1550" dirty="0">
                <a:solidFill>
                  <a:srgbClr val="DCE4EC"/>
                </a:solidFill>
                <a:latin typeface="Calibri" pitchFamily="34" charset="0"/>
                <a:ea typeface="Calibri" pitchFamily="34" charset="-122"/>
                <a:cs typeface="Calibri" pitchFamily="34" charset="-120"/>
              </a:rPr>
              <a:t>Wire the whole thing behind a pass or fail gate you could put in CI.</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202A"/>
        </a:solidFill>
      </p:bgPr>
    </p:bg>
    <p:spTree>
      <p:nvGrpSpPr>
        <p:cNvPr id="1" name=""/>
        <p:cNvGrpSpPr/>
        <p:nvPr/>
      </p:nvGrpSpPr>
      <p:grpSpPr>
        <a:xfrm>
          <a:off x="0" y="0"/>
          <a:ext cx="0" cy="0"/>
          <a:chOff x="0" y="0"/>
          <a:chExt cx="0" cy="0"/>
        </a:xfrm>
      </p:grpSpPr>
      <p:sp>
        <p:nvSpPr>
          <p:cNvPr id="2" name="Text 0"/>
          <p:cNvSpPr txBox="1"/>
          <p:nvPr/>
        </p:nvSpPr>
        <p:spPr>
          <a:xfrm>
            <a:off x="640080" y="2057400"/>
            <a:ext cx="2743200" cy="731520"/>
          </a:xfrm>
          <a:prstGeom prst="rect">
            <a:avLst/>
          </a:prstGeom>
          <a:noFill/>
          <a:ln/>
        </p:spPr>
        <p:txBody>
          <a:bodyPr wrap="square" lIns="0" tIns="0" rIns="0" bIns="0" rtlCol="0" anchor="ctr"/>
          <a:lstStyle/>
          <a:p>
            <a:pPr indent="0" marL="0">
              <a:buNone/>
            </a:pPr>
            <a:r>
              <a:rPr lang="en-US" sz="4400" b="1" dirty="0">
                <a:solidFill>
                  <a:srgbClr val="FF6B35"/>
                </a:solidFill>
                <a:latin typeface="Courier New" pitchFamily="34" charset="0"/>
                <a:ea typeface="Courier New" pitchFamily="34" charset="-122"/>
                <a:cs typeface="Courier New" pitchFamily="34" charset="-120"/>
              </a:rPr>
              <a:t>B</a:t>
            </a:r>
            <a:endParaRPr lang="en-US" sz="4400" dirty="0"/>
          </a:p>
        </p:txBody>
      </p:sp>
      <p:sp>
        <p:nvSpPr>
          <p:cNvPr id="3" name="Text 1"/>
          <p:cNvSpPr txBox="1"/>
          <p:nvPr/>
        </p:nvSpPr>
        <p:spPr>
          <a:xfrm>
            <a:off x="640080" y="2788920"/>
            <a:ext cx="10908792"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Mixture of experts</a:t>
            </a:r>
            <a:endParaRPr lang="en-US" sz="3800" dirty="0"/>
          </a:p>
        </p:txBody>
      </p:sp>
      <p:sp>
        <p:nvSpPr>
          <p:cNvPr id="4" name="Text 2"/>
          <p:cNvSpPr txBox="1"/>
          <p:nvPr/>
        </p:nvSpPr>
        <p:spPr>
          <a:xfrm>
            <a:off x="640080" y="3794760"/>
            <a:ext cx="8727034" cy="822960"/>
          </a:xfrm>
          <a:prstGeom prst="rect">
            <a:avLst/>
          </a:prstGeom>
          <a:noFill/>
          <a:ln/>
        </p:spPr>
        <p:txBody>
          <a:bodyPr wrap="square" lIns="0" tIns="0" rIns="0" bIns="0" rtlCol="0" anchor="ctr"/>
          <a:lstStyle/>
          <a:p>
            <a:pPr indent="0" marL="0">
              <a:lnSpc>
                <a:spcPts val="2400"/>
              </a:lnSpc>
              <a:buNone/>
            </a:pPr>
            <a:r>
              <a:rPr lang="en-US" sz="1600" dirty="0">
                <a:solidFill>
                  <a:srgbClr val="A9B6C4"/>
                </a:solidFill>
                <a:latin typeface="Calibri" pitchFamily="34" charset="0"/>
                <a:ea typeface="Calibri" pitchFamily="34" charset="-122"/>
                <a:cs typeface="Calibri" pitchFamily="34" charset="-120"/>
              </a:rPr>
              <a:t>The architecture that decouples memory from speed, and the trap that comes with it.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What actually happens per token</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A router picks a few experts, the rest sit idle but resident</a:t>
            </a:r>
            <a:endParaRPr lang="en-US" sz="1500" dirty="0"/>
          </a:p>
        </p:txBody>
      </p:sp>
      <p:sp>
        <p:nvSpPr>
          <p:cNvPr id="4" name="Shape 2"/>
          <p:cNvSpPr/>
          <p:nvPr/>
        </p:nvSpPr>
        <p:spPr>
          <a:xfrm>
            <a:off x="640080" y="2011680"/>
            <a:ext cx="2286000" cy="914400"/>
          </a:xfrm>
          <a:prstGeom prst="roundRect">
            <a:avLst>
              <a:gd name="adj" fmla="val 5000"/>
            </a:avLst>
          </a:prstGeom>
          <a:solidFill>
            <a:srgbClr val="F1F4F7"/>
          </a:solidFill>
          <a:ln w="12700">
            <a:solidFill>
              <a:srgbClr val="F1F4F7"/>
            </a:solidFill>
            <a:prstDash val="solid"/>
          </a:ln>
        </p:spPr>
      </p:sp>
      <p:sp>
        <p:nvSpPr>
          <p:cNvPr id="5" name="Text 3"/>
          <p:cNvSpPr txBox="1"/>
          <p:nvPr/>
        </p:nvSpPr>
        <p:spPr>
          <a:xfrm>
            <a:off x="640080" y="2286000"/>
            <a:ext cx="2286000"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TOKEN</a:t>
            </a:r>
            <a:endParaRPr lang="en-US" sz="1300" dirty="0"/>
          </a:p>
        </p:txBody>
      </p:sp>
      <p:sp>
        <p:nvSpPr>
          <p:cNvPr id="6" name="Shape 4"/>
          <p:cNvSpPr/>
          <p:nvPr/>
        </p:nvSpPr>
        <p:spPr>
          <a:xfrm>
            <a:off x="3108960" y="2377440"/>
            <a:ext cx="457200" cy="164592"/>
          </a:xfrm>
          <a:prstGeom prst="rightArrow">
            <a:avLst/>
          </a:prstGeom>
          <a:solidFill>
            <a:srgbClr val="B9C6D2"/>
          </a:solidFill>
          <a:ln/>
        </p:spPr>
      </p:sp>
      <p:sp>
        <p:nvSpPr>
          <p:cNvPr id="7" name="Shape 5"/>
          <p:cNvSpPr/>
          <p:nvPr/>
        </p:nvSpPr>
        <p:spPr>
          <a:xfrm>
            <a:off x="3749040" y="2011680"/>
            <a:ext cx="2103120" cy="914400"/>
          </a:xfrm>
          <a:prstGeom prst="roundRect">
            <a:avLst>
              <a:gd name="adj" fmla="val 5000"/>
            </a:avLst>
          </a:prstGeom>
          <a:solidFill>
            <a:srgbClr val="FDE3D6"/>
          </a:solidFill>
          <a:ln w="12700">
            <a:solidFill>
              <a:srgbClr val="FDE3D6"/>
            </a:solidFill>
            <a:prstDash val="solid"/>
          </a:ln>
        </p:spPr>
      </p:sp>
      <p:sp>
        <p:nvSpPr>
          <p:cNvPr id="8" name="Text 6"/>
          <p:cNvSpPr txBox="1"/>
          <p:nvPr/>
        </p:nvSpPr>
        <p:spPr>
          <a:xfrm>
            <a:off x="3749040" y="2103120"/>
            <a:ext cx="2103120"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ROUTER</a:t>
            </a:r>
            <a:endParaRPr lang="en-US" sz="1300" dirty="0"/>
          </a:p>
        </p:txBody>
      </p:sp>
      <p:sp>
        <p:nvSpPr>
          <p:cNvPr id="9" name="Text 7"/>
          <p:cNvSpPr txBox="1"/>
          <p:nvPr/>
        </p:nvSpPr>
        <p:spPr>
          <a:xfrm>
            <a:off x="3749040" y="2432304"/>
            <a:ext cx="2103120" cy="45720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picks top k of N</a:t>
            </a:r>
            <a:endParaRPr lang="en-US" sz="1050" dirty="0"/>
          </a:p>
        </p:txBody>
      </p:sp>
      <p:sp>
        <p:nvSpPr>
          <p:cNvPr id="10" name="Shape 8"/>
          <p:cNvSpPr/>
          <p:nvPr/>
        </p:nvSpPr>
        <p:spPr>
          <a:xfrm>
            <a:off x="6035040" y="2377440"/>
            <a:ext cx="457200" cy="164592"/>
          </a:xfrm>
          <a:prstGeom prst="rightArrow">
            <a:avLst/>
          </a:prstGeom>
          <a:solidFill>
            <a:srgbClr val="B9C6D2"/>
          </a:solidFill>
          <a:ln/>
        </p:spPr>
      </p:sp>
      <p:sp>
        <p:nvSpPr>
          <p:cNvPr id="11" name="Shape 9"/>
          <p:cNvSpPr/>
          <p:nvPr/>
        </p:nvSpPr>
        <p:spPr>
          <a:xfrm>
            <a:off x="6675120" y="1874520"/>
            <a:ext cx="1371600" cy="566928"/>
          </a:xfrm>
          <a:prstGeom prst="roundRect">
            <a:avLst>
              <a:gd name="adj" fmla="val 8065"/>
            </a:avLst>
          </a:prstGeom>
          <a:solidFill>
            <a:srgbClr val="E7F2EE"/>
          </a:solidFill>
          <a:ln w="12700">
            <a:solidFill>
              <a:srgbClr val="E7F2EE"/>
            </a:solidFill>
            <a:prstDash val="solid"/>
          </a:ln>
        </p:spPr>
      </p:sp>
      <p:sp>
        <p:nvSpPr>
          <p:cNvPr id="12" name="Text 10"/>
          <p:cNvSpPr txBox="1"/>
          <p:nvPr/>
        </p:nvSpPr>
        <p:spPr>
          <a:xfrm>
            <a:off x="6675120" y="1975104"/>
            <a:ext cx="1371600"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Expert 3</a:t>
            </a:r>
            <a:endParaRPr lang="en-US" sz="1300" dirty="0"/>
          </a:p>
        </p:txBody>
      </p:sp>
      <p:sp>
        <p:nvSpPr>
          <p:cNvPr id="13" name="Shape 11"/>
          <p:cNvSpPr/>
          <p:nvPr/>
        </p:nvSpPr>
        <p:spPr>
          <a:xfrm>
            <a:off x="6675120" y="2514600"/>
            <a:ext cx="1371600" cy="566928"/>
          </a:xfrm>
          <a:prstGeom prst="roundRect">
            <a:avLst>
              <a:gd name="adj" fmla="val 8065"/>
            </a:avLst>
          </a:prstGeom>
          <a:solidFill>
            <a:srgbClr val="E7F2EE"/>
          </a:solidFill>
          <a:ln w="12700">
            <a:solidFill>
              <a:srgbClr val="E7F2EE"/>
            </a:solidFill>
            <a:prstDash val="solid"/>
          </a:ln>
        </p:spPr>
      </p:sp>
      <p:sp>
        <p:nvSpPr>
          <p:cNvPr id="14" name="Text 12"/>
          <p:cNvSpPr txBox="1"/>
          <p:nvPr/>
        </p:nvSpPr>
        <p:spPr>
          <a:xfrm>
            <a:off x="6675120" y="2615184"/>
            <a:ext cx="1371600"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Expert 9</a:t>
            </a:r>
            <a:endParaRPr lang="en-US" sz="1300" dirty="0"/>
          </a:p>
        </p:txBody>
      </p:sp>
      <p:sp>
        <p:nvSpPr>
          <p:cNvPr id="15" name="Shape 13"/>
          <p:cNvSpPr/>
          <p:nvPr/>
        </p:nvSpPr>
        <p:spPr>
          <a:xfrm>
            <a:off x="8229600" y="1874520"/>
            <a:ext cx="1371600" cy="566928"/>
          </a:xfrm>
          <a:prstGeom prst="roundRect">
            <a:avLst>
              <a:gd name="adj" fmla="val 8065"/>
            </a:avLst>
          </a:prstGeom>
          <a:solidFill>
            <a:srgbClr val="F1F4F7"/>
          </a:solidFill>
          <a:ln w="12700">
            <a:solidFill>
              <a:srgbClr val="F1F4F7"/>
            </a:solidFill>
            <a:prstDash val="solid"/>
          </a:ln>
        </p:spPr>
      </p:sp>
      <p:sp>
        <p:nvSpPr>
          <p:cNvPr id="16" name="Text 14"/>
          <p:cNvSpPr txBox="1"/>
          <p:nvPr/>
        </p:nvSpPr>
        <p:spPr>
          <a:xfrm>
            <a:off x="8229600" y="1975104"/>
            <a:ext cx="1371600"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Expert 1</a:t>
            </a:r>
            <a:endParaRPr lang="en-US" sz="1300" dirty="0"/>
          </a:p>
        </p:txBody>
      </p:sp>
      <p:sp>
        <p:nvSpPr>
          <p:cNvPr id="17" name="Shape 15"/>
          <p:cNvSpPr/>
          <p:nvPr/>
        </p:nvSpPr>
        <p:spPr>
          <a:xfrm>
            <a:off x="8229600" y="2514600"/>
            <a:ext cx="1371600" cy="566928"/>
          </a:xfrm>
          <a:prstGeom prst="roundRect">
            <a:avLst>
              <a:gd name="adj" fmla="val 8065"/>
            </a:avLst>
          </a:prstGeom>
          <a:solidFill>
            <a:srgbClr val="F1F4F7"/>
          </a:solidFill>
          <a:ln w="12700">
            <a:solidFill>
              <a:srgbClr val="F1F4F7"/>
            </a:solidFill>
            <a:prstDash val="solid"/>
          </a:ln>
        </p:spPr>
      </p:sp>
      <p:sp>
        <p:nvSpPr>
          <p:cNvPr id="18" name="Text 16"/>
          <p:cNvSpPr txBox="1"/>
          <p:nvPr/>
        </p:nvSpPr>
        <p:spPr>
          <a:xfrm>
            <a:off x="8229600" y="2615184"/>
            <a:ext cx="1371600"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Expert N</a:t>
            </a:r>
            <a:endParaRPr lang="en-US" sz="1300" dirty="0"/>
          </a:p>
        </p:txBody>
      </p:sp>
      <p:sp>
        <p:nvSpPr>
          <p:cNvPr id="19" name="Text 17"/>
          <p:cNvSpPr txBox="1"/>
          <p:nvPr/>
        </p:nvSpPr>
        <p:spPr>
          <a:xfrm>
            <a:off x="6675120" y="3154680"/>
            <a:ext cx="1371600" cy="274320"/>
          </a:xfrm>
          <a:prstGeom prst="rect">
            <a:avLst/>
          </a:prstGeom>
          <a:noFill/>
          <a:ln/>
        </p:spPr>
        <p:txBody>
          <a:bodyPr wrap="square" lIns="0" tIns="0" rIns="0" bIns="0" rtlCol="0" anchor="ctr"/>
          <a:lstStyle/>
          <a:p>
            <a:pPr algn="ctr" indent="0" marL="0">
              <a:buNone/>
            </a:pPr>
            <a:r>
              <a:rPr lang="en-US" sz="1000" dirty="0">
                <a:solidFill>
                  <a:srgbClr val="2E9E82"/>
                </a:solidFill>
                <a:latin typeface="Calibri" pitchFamily="34" charset="0"/>
                <a:ea typeface="Calibri" pitchFamily="34" charset="-122"/>
                <a:cs typeface="Calibri" pitchFamily="34" charset="-120"/>
              </a:rPr>
              <a:t>active, compute paid</a:t>
            </a:r>
            <a:endParaRPr lang="en-US" sz="1000" dirty="0"/>
          </a:p>
        </p:txBody>
      </p:sp>
      <p:sp>
        <p:nvSpPr>
          <p:cNvPr id="20" name="Text 18"/>
          <p:cNvSpPr txBox="1"/>
          <p:nvPr/>
        </p:nvSpPr>
        <p:spPr>
          <a:xfrm>
            <a:off x="8229600" y="3154680"/>
            <a:ext cx="1463040" cy="274320"/>
          </a:xfrm>
          <a:prstGeom prst="rect">
            <a:avLst/>
          </a:prstGeom>
          <a:noFill/>
          <a:ln/>
        </p:spPr>
        <p:txBody>
          <a:bodyPr wrap="square" lIns="0" tIns="0" rIns="0" bIns="0" rtlCol="0" anchor="ctr"/>
          <a:lstStyle/>
          <a:p>
            <a:pPr algn="ctr" indent="0" marL="0">
              <a:buNone/>
            </a:pPr>
            <a:r>
              <a:rPr lang="en-US" sz="1000" dirty="0">
                <a:solidFill>
                  <a:srgbClr val="6B7A8C"/>
                </a:solidFill>
                <a:latin typeface="Calibri" pitchFamily="34" charset="0"/>
                <a:ea typeface="Calibri" pitchFamily="34" charset="-122"/>
                <a:cs typeface="Calibri" pitchFamily="34" charset="-120"/>
              </a:rPr>
              <a:t>idle, memory still paid</a:t>
            </a:r>
            <a:endParaRPr lang="en-US" sz="1000" dirty="0"/>
          </a:p>
        </p:txBody>
      </p:sp>
      <p:sp>
        <p:nvSpPr>
          <p:cNvPr id="21" name="Text 19"/>
          <p:cNvSpPr txBox="1"/>
          <p:nvPr/>
        </p:nvSpPr>
        <p:spPr>
          <a:xfrm>
            <a:off x="640080" y="3611880"/>
            <a:ext cx="10543032" cy="1609344"/>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Compute scales with the active experts. Memory scales with all of them.</a:t>
            </a:r>
            <a:endParaRPr lang="en-US" sz="1500" dirty="0"/>
          </a:p>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That single asymmetry explains every practical consequence on the next three slides.</a:t>
            </a:r>
            <a:endParaRPr lang="en-US" sz="1500" dirty="0"/>
          </a:p>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Routing is learned and per token, so different tokens in one sentence take different paths.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Reading a mixture of experts model card</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Two numbers, and people quote whichever flatters them</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8945209" cy="914400"/>
        </p:xfrm>
        <a:graphic>
          <a:graphicData uri="http://schemas.openxmlformats.org/drawingml/2006/table">
            <a:tbl>
              <a:tblPr/>
              <a:tblGrid>
                <a:gridCol w="3291840"/>
                <a:gridCol w="3108960"/>
                <a:gridCol w="2544409"/>
              </a:tblGrid>
              <a:tr h="40233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Model shape</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Memory behaves like</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Speed behaves like</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r>
              <a:tr h="402336">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8B dense</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8B</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8B</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402336">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30B total, 3B active</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30B</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roughly 3B</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402336">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20B total, 4B active</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20B</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roughly 4B</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bl>
          </a:graphicData>
        </a:graphic>
      </p:graphicFrame>
      <p:sp>
        <p:nvSpPr>
          <p:cNvPr id="5" name="Shape 2"/>
          <p:cNvSpPr/>
          <p:nvPr/>
        </p:nvSpPr>
        <p:spPr>
          <a:xfrm>
            <a:off x="640080" y="3657600"/>
            <a:ext cx="10908792" cy="1371600"/>
          </a:xfrm>
          <a:prstGeom prst="roundRect">
            <a:avLst>
              <a:gd name="adj" fmla="val 4000"/>
            </a:avLst>
          </a:prstGeom>
          <a:solidFill>
            <a:srgbClr val="FBF0E2"/>
          </a:solidFill>
          <a:ln w="12700">
            <a:solidFill>
              <a:srgbClr val="E1E7ED"/>
            </a:solidFill>
            <a:prstDash val="solid"/>
          </a:ln>
        </p:spPr>
      </p:sp>
      <p:sp>
        <p:nvSpPr>
          <p:cNvPr id="6" name="Text 3"/>
          <p:cNvSpPr txBox="1"/>
          <p:nvPr/>
        </p:nvSpPr>
        <p:spPr>
          <a:xfrm>
            <a:off x="1005840" y="3840480"/>
            <a:ext cx="10177272" cy="1005840"/>
          </a:xfrm>
          <a:prstGeom prst="rect">
            <a:avLst/>
          </a:prstGeom>
          <a:noFill/>
          <a:ln/>
        </p:spPr>
        <p:txBody>
          <a:bodyPr wrap="square" lIns="0" tIns="0" rIns="0" bIns="0" rtlCol="0" anchor="ctr"/>
          <a:lstStyle/>
          <a:p>
            <a:pPr indent="0" marL="0">
              <a:lnSpc>
                <a:spcPts val="2000"/>
              </a:lnSpc>
              <a:buNone/>
            </a:pPr>
            <a:r>
              <a:rPr lang="en-US" sz="1400" dirty="0">
                <a:solidFill>
                  <a:srgbClr val="5A4415"/>
                </a:solidFill>
                <a:latin typeface="Calibri" pitchFamily="34" charset="0"/>
                <a:ea typeface="Calibri" pitchFamily="34" charset="-122"/>
                <a:cs typeface="Calibri" pitchFamily="34" charset="-120"/>
              </a:rPr>
              <a:t>The buying question is therefore not "is it 30B". It is "do I have the memory of a 30B and the latency budget of a 3B". If you have the memory, mixture of experts is a very good deal. If memory is your binding constraint, it is the worst of both worlds.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Where mixture of experts wins and loses</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Be specific, because the answer flips on your constraint</a:t>
            </a:r>
            <a:endParaRPr lang="en-US" sz="1500" dirty="0"/>
          </a:p>
        </p:txBody>
      </p:sp>
      <p:sp>
        <p:nvSpPr>
          <p:cNvPr id="4" name="Shape 2"/>
          <p:cNvSpPr/>
          <p:nvPr/>
        </p:nvSpPr>
        <p:spPr>
          <a:xfrm>
            <a:off x="640080" y="1874520"/>
            <a:ext cx="5271516" cy="2743200"/>
          </a:xfrm>
          <a:prstGeom prst="roundRect">
            <a:avLst>
              <a:gd name="adj" fmla="val 2000"/>
            </a:avLst>
          </a:prstGeom>
          <a:solidFill>
            <a:srgbClr val="E7F2EE"/>
          </a:solidFill>
          <a:ln w="12700">
            <a:solidFill>
              <a:srgbClr val="E1E7ED"/>
            </a:solidFill>
            <a:prstDash val="solid"/>
          </a:ln>
        </p:spPr>
      </p:sp>
      <p:sp>
        <p:nvSpPr>
          <p:cNvPr id="5" name="Text 3"/>
          <p:cNvSpPr txBox="1"/>
          <p:nvPr/>
        </p:nvSpPr>
        <p:spPr>
          <a:xfrm>
            <a:off x="960120" y="2029968"/>
            <a:ext cx="2743200" cy="365760"/>
          </a:xfrm>
          <a:prstGeom prst="rect">
            <a:avLst/>
          </a:prstGeom>
          <a:noFill/>
          <a:ln/>
        </p:spPr>
        <p:txBody>
          <a:bodyPr wrap="square" lIns="0" tIns="0" rIns="0" bIns="0" rtlCol="0" anchor="ctr"/>
          <a:lstStyle/>
          <a:p>
            <a:pPr indent="0" marL="0">
              <a:buNone/>
            </a:pPr>
            <a:r>
              <a:rPr lang="en-US" sz="1400" b="1" dirty="0">
                <a:solidFill>
                  <a:srgbClr val="17513F"/>
                </a:solidFill>
                <a:latin typeface="Calibri" pitchFamily="34" charset="0"/>
                <a:ea typeface="Calibri" pitchFamily="34" charset="-122"/>
                <a:cs typeface="Calibri" pitchFamily="34" charset="-120"/>
              </a:rPr>
              <a:t>Wins</a:t>
            </a:r>
            <a:endParaRPr lang="en-US" sz="1400" dirty="0"/>
          </a:p>
        </p:txBody>
      </p:sp>
      <p:sp>
        <p:nvSpPr>
          <p:cNvPr id="6" name="Text 4"/>
          <p:cNvSpPr txBox="1"/>
          <p:nvPr/>
        </p:nvSpPr>
        <p:spPr>
          <a:xfrm>
            <a:off x="960120" y="2432304"/>
            <a:ext cx="4631436" cy="1993392"/>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You own the memory already</a:t>
            </a:r>
            <a:endParaRPr lang="en-US" sz="1350" dirty="0"/>
          </a:p>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Throughput per unit of latency matters</a:t>
            </a:r>
            <a:endParaRPr lang="en-US" sz="1350" dirty="0"/>
          </a:p>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Broad task mix, where specialised experts help</a:t>
            </a:r>
            <a:endParaRPr lang="en-US" sz="1350" dirty="0"/>
          </a:p>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One deployment serving varied work</a:t>
            </a:r>
            <a:endParaRPr lang="en-US" sz="1350" dirty="0"/>
          </a:p>
        </p:txBody>
      </p:sp>
      <p:sp>
        <p:nvSpPr>
          <p:cNvPr id="7" name="Shape 5"/>
          <p:cNvSpPr/>
          <p:nvPr/>
        </p:nvSpPr>
        <p:spPr>
          <a:xfrm>
            <a:off x="6277356" y="1874520"/>
            <a:ext cx="5271516" cy="2743200"/>
          </a:xfrm>
          <a:prstGeom prst="roundRect">
            <a:avLst>
              <a:gd name="adj" fmla="val 2000"/>
            </a:avLst>
          </a:prstGeom>
          <a:solidFill>
            <a:srgbClr val="F7E7E2"/>
          </a:solidFill>
          <a:ln w="12700">
            <a:solidFill>
              <a:srgbClr val="E1E7ED"/>
            </a:solidFill>
            <a:prstDash val="solid"/>
          </a:ln>
        </p:spPr>
      </p:sp>
      <p:sp>
        <p:nvSpPr>
          <p:cNvPr id="8" name="Text 6"/>
          <p:cNvSpPr txBox="1"/>
          <p:nvPr/>
        </p:nvSpPr>
        <p:spPr>
          <a:xfrm>
            <a:off x="6597396" y="2029968"/>
            <a:ext cx="2743200" cy="365760"/>
          </a:xfrm>
          <a:prstGeom prst="rect">
            <a:avLst/>
          </a:prstGeom>
          <a:noFill/>
          <a:ln/>
        </p:spPr>
        <p:txBody>
          <a:bodyPr wrap="square" lIns="0" tIns="0" rIns="0" bIns="0" rtlCol="0" anchor="ctr"/>
          <a:lstStyle/>
          <a:p>
            <a:pPr indent="0" marL="0">
              <a:buNone/>
            </a:pPr>
            <a:r>
              <a:rPr lang="en-US" sz="1400" b="1" dirty="0">
                <a:solidFill>
                  <a:srgbClr val="7A2E1C"/>
                </a:solidFill>
                <a:latin typeface="Calibri" pitchFamily="34" charset="0"/>
                <a:ea typeface="Calibri" pitchFamily="34" charset="-122"/>
                <a:cs typeface="Calibri" pitchFamily="34" charset="-120"/>
              </a:rPr>
              <a:t>Loses</a:t>
            </a:r>
            <a:endParaRPr lang="en-US" sz="1400" dirty="0"/>
          </a:p>
        </p:txBody>
      </p:sp>
      <p:sp>
        <p:nvSpPr>
          <p:cNvPr id="9" name="Text 7"/>
          <p:cNvSpPr txBox="1"/>
          <p:nvPr/>
        </p:nvSpPr>
        <p:spPr>
          <a:xfrm>
            <a:off x="6597396" y="2432304"/>
            <a:ext cx="4631436" cy="1993392"/>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Memory constrained edge or laptop</a:t>
            </a:r>
            <a:endParaRPr lang="en-US" sz="1350" dirty="0"/>
          </a:p>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Many concurrent models on one host</a:t>
            </a:r>
            <a:endParaRPr lang="en-US" sz="1350" dirty="0"/>
          </a:p>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Fine-tuning, where tooling is thinner</a:t>
            </a:r>
            <a:endParaRPr lang="en-US" sz="1350" dirty="0"/>
          </a:p>
          <a:p>
            <a:pPr marL="342900" indent="-342900">
              <a:lnSpc>
                <a:spcPts val="2100"/>
              </a:lnSpc>
              <a:spcAft>
                <a:spcPts val="700"/>
              </a:spcAft>
              <a:buSzPct val="100000"/>
              <a:buChar char="•"/>
            </a:pPr>
            <a:r>
              <a:rPr lang="en-US" sz="1350" dirty="0">
                <a:solidFill>
                  <a:srgbClr val="2A3746"/>
                </a:solidFill>
                <a:latin typeface="Calibri" pitchFamily="34" charset="0"/>
                <a:ea typeface="Calibri" pitchFamily="34" charset="-122"/>
                <a:cs typeface="Calibri" pitchFamily="34" charset="-120"/>
              </a:rPr>
              <a:t>Very narrow single task, a small dense model is simpler</a:t>
            </a:r>
            <a:endParaRPr lang="en-US" sz="1350" dirty="0"/>
          </a:p>
        </p:txBody>
      </p:sp>
      <p:sp>
        <p:nvSpPr>
          <p:cNvPr id="10" name="Text 8"/>
          <p:cNvSpPr txBox="1"/>
          <p:nvPr/>
        </p:nvSpPr>
        <p:spPr>
          <a:xfrm>
            <a:off x="640080" y="4754880"/>
            <a:ext cx="10543032" cy="1097280"/>
          </a:xfrm>
          <a:prstGeom prst="rect">
            <a:avLst/>
          </a:prstGeom>
          <a:noFill/>
          <a:ln/>
        </p:spPr>
        <p:txBody>
          <a:bodyPr wrap="square" lIns="0" tIns="0" rIns="0" bIns="0" rtlCol="0" anchor="t"/>
          <a:lstStyle/>
          <a:p>
            <a:pPr indent="0" marL="0">
              <a:lnSpc>
                <a:spcPts val="2200"/>
              </a:lnSpc>
              <a:buNone/>
            </a:pPr>
            <a:r>
              <a:rPr lang="en-US" sz="1450" dirty="0">
                <a:solidFill>
                  <a:srgbClr val="2A3746"/>
                </a:solidFill>
                <a:latin typeface="Calibri" pitchFamily="34" charset="0"/>
                <a:ea typeface="Calibri" pitchFamily="34" charset="-122"/>
                <a:cs typeface="Calibri" pitchFamily="34" charset="-120"/>
              </a:rPr>
              <a:t>For a narrow extraction task, a 3B dense model you can run four copies of usually beats one mixture of experts model you can barely fit.</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Operational notes people learn the hard way</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Four things that only show up once you serve one</a:t>
            </a:r>
            <a:endParaRPr lang="en-US" sz="1500" dirty="0"/>
          </a:p>
        </p:txBody>
      </p:sp>
      <p:sp>
        <p:nvSpPr>
          <p:cNvPr id="4" name="Text 2"/>
          <p:cNvSpPr txBox="1"/>
          <p:nvPr/>
        </p:nvSpPr>
        <p:spPr>
          <a:xfrm>
            <a:off x="640080" y="1874520"/>
            <a:ext cx="10543032" cy="1993392"/>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Load time is set by total size, so a mixture of experts model is slow to start and slow to swap. Keep it resident.</a:t>
            </a:r>
            <a:endParaRPr lang="en-US" sz="1500" dirty="0"/>
          </a:p>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Expert offloading to host memory works but the transfer cost lands on your tail latency, not your average.</a:t>
            </a:r>
            <a:endParaRPr lang="en-US" sz="1500" dirty="0"/>
          </a:p>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Batching interacts badly when a batch activates many different experts at once, so throughput curves are less predictable than dense.</a:t>
            </a:r>
            <a:endParaRPr lang="en-US" sz="1500" dirty="0"/>
          </a:p>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Quantization quality varies by component. Routers and shared layers are more sensitive than expert weights.</a:t>
            </a:r>
            <a:endParaRPr lang="en-US" sz="1500" dirty="0"/>
          </a:p>
        </p:txBody>
      </p:sp>
      <p:sp>
        <p:nvSpPr>
          <p:cNvPr id="5" name="Shape 3"/>
          <p:cNvSpPr/>
          <p:nvPr/>
        </p:nvSpPr>
        <p:spPr>
          <a:xfrm>
            <a:off x="640080" y="4160520"/>
            <a:ext cx="10908792" cy="1005840"/>
          </a:xfrm>
          <a:prstGeom prst="roundRect">
            <a:avLst>
              <a:gd name="adj" fmla="val 5455"/>
            </a:avLst>
          </a:prstGeom>
          <a:solidFill>
            <a:srgbClr val="F1F4F7"/>
          </a:solidFill>
          <a:ln w="12700">
            <a:solidFill>
              <a:srgbClr val="E1E7ED"/>
            </a:solidFill>
            <a:prstDash val="solid"/>
          </a:ln>
        </p:spPr>
      </p:sp>
      <p:sp>
        <p:nvSpPr>
          <p:cNvPr id="6" name="Text 4"/>
          <p:cNvSpPr txBox="1"/>
          <p:nvPr/>
        </p:nvSpPr>
        <p:spPr>
          <a:xfrm>
            <a:off x="1005840" y="4343400"/>
            <a:ext cx="10177272" cy="731520"/>
          </a:xfrm>
          <a:prstGeom prst="rect">
            <a:avLst/>
          </a:prstGeom>
          <a:noFill/>
          <a:ln/>
        </p:spPr>
        <p:txBody>
          <a:bodyPr wrap="square" lIns="0" tIns="0" rIns="0" bIns="0" rtlCol="0" anchor="ctr"/>
          <a:lstStyle/>
          <a:p>
            <a:pPr indent="0" marL="0">
              <a:lnSpc>
                <a:spcPts val="1900"/>
              </a:lnSpc>
              <a:buNone/>
            </a:pPr>
            <a:r>
              <a:rPr lang="en-US" sz="1350" dirty="0">
                <a:solidFill>
                  <a:srgbClr val="2A3746"/>
                </a:solidFill>
                <a:latin typeface="Calibri" pitchFamily="34" charset="0"/>
                <a:ea typeface="Calibri" pitchFamily="34" charset="-122"/>
                <a:cs typeface="Calibri" pitchFamily="34" charset="-120"/>
              </a:rPr>
              <a:t>Practical rule: benchmark a mixture of experts model at your real concurrency, not at batch size one. The single stream number flatters it and hides the memory ceiling you will hit in production.</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202A"/>
        </a:solidFill>
      </p:bgPr>
    </p:bg>
    <p:spTree>
      <p:nvGrpSpPr>
        <p:cNvPr id="1" name=""/>
        <p:cNvGrpSpPr/>
        <p:nvPr/>
      </p:nvGrpSpPr>
      <p:grpSpPr>
        <a:xfrm>
          <a:off x="0" y="0"/>
          <a:ext cx="0" cy="0"/>
          <a:chOff x="0" y="0"/>
          <a:chExt cx="0" cy="0"/>
        </a:xfrm>
      </p:grpSpPr>
      <p:sp>
        <p:nvSpPr>
          <p:cNvPr id="2" name="Text 0"/>
          <p:cNvSpPr txBox="1"/>
          <p:nvPr/>
        </p:nvSpPr>
        <p:spPr>
          <a:xfrm>
            <a:off x="640080" y="685800"/>
            <a:ext cx="1828800" cy="457200"/>
          </a:xfrm>
          <a:prstGeom prst="rect">
            <a:avLst/>
          </a:prstGeom>
          <a:noFill/>
          <a:ln/>
        </p:spPr>
        <p:txBody>
          <a:bodyPr wrap="square" lIns="0" tIns="0" rIns="0" bIns="0" rtlCol="0" anchor="ctr"/>
          <a:lstStyle/>
          <a:p>
            <a:pPr indent="0" marL="0">
              <a:buNone/>
            </a:pPr>
            <a:r>
              <a:rPr lang="en-US" sz="2000" b="1" spc="400" kern="0" dirty="0">
                <a:solidFill>
                  <a:srgbClr val="FF6B35"/>
                </a:solidFill>
                <a:latin typeface="Courier New" pitchFamily="34" charset="0"/>
                <a:ea typeface="Courier New" pitchFamily="34" charset="-122"/>
                <a:cs typeface="Courier New" pitchFamily="34" charset="-120"/>
              </a:rPr>
              <a:t>LAB</a:t>
            </a:r>
            <a:endParaRPr lang="en-US" sz="2000" dirty="0"/>
          </a:p>
        </p:txBody>
      </p:sp>
      <p:sp>
        <p:nvSpPr>
          <p:cNvPr id="3" name="Text 1"/>
          <p:cNvSpPr txBox="1"/>
          <p:nvPr/>
        </p:nvSpPr>
        <p:spPr>
          <a:xfrm>
            <a:off x="640080" y="1143000"/>
            <a:ext cx="10908792"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Lab 7: analyse a mixture of experts</a:t>
            </a:r>
            <a:endParaRPr lang="en-US" sz="3400" dirty="0"/>
          </a:p>
        </p:txBody>
      </p:sp>
      <p:sp>
        <p:nvSpPr>
          <p:cNvPr id="4" name="Text 2"/>
          <p:cNvSpPr txBox="1"/>
          <p:nvPr/>
        </p:nvSpPr>
        <p:spPr>
          <a:xfrm>
            <a:off x="640080" y="2011680"/>
            <a:ext cx="10908792" cy="365760"/>
          </a:xfrm>
          <a:prstGeom prst="rect">
            <a:avLst/>
          </a:prstGeom>
          <a:noFill/>
          <a:ln/>
        </p:spPr>
        <p:txBody>
          <a:bodyPr wrap="square" lIns="0" tIns="0" rIns="0" bIns="0" rtlCol="0" anchor="ctr"/>
          <a:lstStyle/>
          <a:p>
            <a:pPr indent="0" marL="0">
              <a:buNone/>
            </a:pPr>
            <a:r>
              <a:rPr lang="en-US" sz="1600" i="1" dirty="0">
                <a:solidFill>
                  <a:srgbClr val="FF6B35"/>
                </a:solidFill>
                <a:latin typeface="Calibri" pitchFamily="34" charset="0"/>
                <a:ea typeface="Calibri" pitchFamily="34" charset="-122"/>
                <a:cs typeface="Calibri" pitchFamily="34" charset="-120"/>
              </a:rPr>
              <a:t>15 minutes</a:t>
            </a:r>
            <a:endParaRPr lang="en-US" sz="1600" dirty="0"/>
          </a:p>
        </p:txBody>
      </p:sp>
      <p:sp>
        <p:nvSpPr>
          <p:cNvPr id="5" name="Shape 3"/>
          <p:cNvSpPr/>
          <p:nvPr/>
        </p:nvSpPr>
        <p:spPr>
          <a:xfrm>
            <a:off x="640080" y="2606040"/>
            <a:ext cx="10908792" cy="3017520"/>
          </a:xfrm>
          <a:prstGeom prst="roundRect">
            <a:avLst>
              <a:gd name="adj" fmla="val 1818"/>
            </a:avLst>
          </a:prstGeom>
          <a:solidFill>
            <a:srgbClr val="1F2C3B"/>
          </a:solidFill>
          <a:ln w="12700">
            <a:solidFill>
              <a:srgbClr val="1F2C3B"/>
            </a:solidFill>
            <a:prstDash val="solid"/>
          </a:ln>
        </p:spPr>
      </p:sp>
      <p:sp>
        <p:nvSpPr>
          <p:cNvPr id="6" name="Text 4"/>
          <p:cNvSpPr txBox="1"/>
          <p:nvPr/>
        </p:nvSpPr>
        <p:spPr>
          <a:xfrm>
            <a:off x="1051560" y="2880360"/>
            <a:ext cx="10085832" cy="2377440"/>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550" dirty="0">
                <a:solidFill>
                  <a:srgbClr val="DCE4EC"/>
                </a:solidFill>
                <a:latin typeface="Calibri" pitchFamily="34" charset="0"/>
                <a:ea typeface="Calibri" pitchFamily="34" charset="-122"/>
                <a:cs typeface="Calibri" pitchFamily="34" charset="-120"/>
              </a:rPr>
              <a:t>Work from a recorded measurement set: a real mixture of experts model against dense models on identical prompts.</a:t>
            </a:r>
            <a:endParaRPr lang="en-US" sz="1550" dirty="0"/>
          </a:p>
          <a:p>
            <a:pPr marL="342900" indent="-342900">
              <a:lnSpc>
                <a:spcPts val="2100"/>
              </a:lnSpc>
              <a:spcAft>
                <a:spcPts val="700"/>
              </a:spcAft>
              <a:buSzPct val="100000"/>
              <a:buChar char="•"/>
            </a:pPr>
            <a:r>
              <a:rPr lang="en-US" sz="1550" dirty="0">
                <a:solidFill>
                  <a:srgbClr val="DCE4EC"/>
                </a:solidFill>
                <a:latin typeface="Calibri" pitchFamily="34" charset="0"/>
                <a:ea typeface="Calibri" pitchFamily="34" charset="-122"/>
                <a:cs typeface="Calibri" pitchFamily="34" charset="-120"/>
              </a:rPr>
              <a:t>Separate load time, prompt processing and generation, and see which one total size actually governs.</a:t>
            </a:r>
            <a:endParaRPr lang="en-US" sz="1550" dirty="0"/>
          </a:p>
          <a:p>
            <a:pPr marL="342900" indent="-342900">
              <a:lnSpc>
                <a:spcPts val="2100"/>
              </a:lnSpc>
              <a:spcAft>
                <a:spcPts val="700"/>
              </a:spcAft>
              <a:buSzPct val="100000"/>
              <a:buChar char="•"/>
            </a:pPr>
            <a:r>
              <a:rPr lang="en-US" sz="1550" dirty="0">
                <a:solidFill>
                  <a:srgbClr val="DCE4EC"/>
                </a:solidFill>
                <a:latin typeface="Calibri" pitchFamily="34" charset="0"/>
                <a:ea typeface="Calibri" pitchFamily="34" charset="-122"/>
                <a:cs typeface="Calibri" pitchFamily="34" charset="-120"/>
              </a:rPr>
              <a:t>Compute memory per token of throughput, the number that decides your hardware.</a:t>
            </a:r>
            <a:endParaRPr lang="en-US" sz="1550" dirty="0"/>
          </a:p>
          <a:p>
            <a:pPr marL="342900" indent="-342900">
              <a:lnSpc>
                <a:spcPts val="2100"/>
              </a:lnSpc>
              <a:spcAft>
                <a:spcPts val="700"/>
              </a:spcAft>
              <a:buSzPct val="100000"/>
              <a:buChar char="•"/>
            </a:pPr>
            <a:r>
              <a:rPr lang="en-US" sz="1550" dirty="0">
                <a:solidFill>
                  <a:srgbClr val="DCE4EC"/>
                </a:solidFill>
                <a:latin typeface="Calibri" pitchFamily="34" charset="0"/>
                <a:ea typeface="Calibri" pitchFamily="34" charset="-122"/>
                <a:cs typeface="Calibri" pitchFamily="34" charset="-120"/>
              </a:rPr>
              <a:t>Decide, with numbers, which model you would deploy under a fixed memory budget.</a:t>
            </a:r>
            <a:endParaRPr lang="en-US" sz="1550" dirty="0"/>
          </a:p>
          <a:p>
            <a:pPr marL="342900" indent="-342900">
              <a:lnSpc>
                <a:spcPts val="2100"/>
              </a:lnSpc>
              <a:spcAft>
                <a:spcPts val="700"/>
              </a:spcAft>
              <a:buSzPct val="100000"/>
              <a:buChar char="•"/>
            </a:pPr>
            <a:r>
              <a:rPr lang="en-US" sz="1550" dirty="0">
                <a:solidFill>
                  <a:srgbClr val="DCE4EC"/>
                </a:solidFill>
                <a:latin typeface="Calibri" pitchFamily="34" charset="0"/>
                <a:ea typeface="Calibri" pitchFamily="34" charset="-122"/>
                <a:cs typeface="Calibri" pitchFamily="34" charset="-120"/>
              </a:rPr>
              <a:t>No download required. The measurements are in the repository.</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202A"/>
        </a:solidFill>
      </p:bgPr>
    </p:bg>
    <p:spTree>
      <p:nvGrpSpPr>
        <p:cNvPr id="1" name=""/>
        <p:cNvGrpSpPr/>
        <p:nvPr/>
      </p:nvGrpSpPr>
      <p:grpSpPr>
        <a:xfrm>
          <a:off x="0" y="0"/>
          <a:ext cx="0" cy="0"/>
          <a:chOff x="0" y="0"/>
          <a:chExt cx="0" cy="0"/>
        </a:xfrm>
      </p:grpSpPr>
      <p:sp>
        <p:nvSpPr>
          <p:cNvPr id="2" name="Text 0"/>
          <p:cNvSpPr txBox="1"/>
          <p:nvPr/>
        </p:nvSpPr>
        <p:spPr>
          <a:xfrm>
            <a:off x="640080" y="2057400"/>
            <a:ext cx="2743200" cy="731520"/>
          </a:xfrm>
          <a:prstGeom prst="rect">
            <a:avLst/>
          </a:prstGeom>
          <a:noFill/>
          <a:ln/>
        </p:spPr>
        <p:txBody>
          <a:bodyPr wrap="square" lIns="0" tIns="0" rIns="0" bIns="0" rtlCol="0" anchor="ctr"/>
          <a:lstStyle/>
          <a:p>
            <a:pPr indent="0" marL="0">
              <a:buNone/>
            </a:pPr>
            <a:r>
              <a:rPr lang="en-US" sz="4400" b="1" dirty="0">
                <a:solidFill>
                  <a:srgbClr val="FF6B35"/>
                </a:solidFill>
                <a:latin typeface="Courier New" pitchFamily="34" charset="0"/>
                <a:ea typeface="Courier New" pitchFamily="34" charset="-122"/>
                <a:cs typeface="Courier New" pitchFamily="34" charset="-120"/>
              </a:rPr>
              <a:t>C</a:t>
            </a:r>
            <a:endParaRPr lang="en-US" sz="4400" dirty="0"/>
          </a:p>
        </p:txBody>
      </p:sp>
      <p:sp>
        <p:nvSpPr>
          <p:cNvPr id="3" name="Text 1"/>
          <p:cNvSpPr txBox="1"/>
          <p:nvPr/>
        </p:nvSpPr>
        <p:spPr>
          <a:xfrm>
            <a:off x="640080" y="2788920"/>
            <a:ext cx="10908792"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Memory management</a:t>
            </a:r>
            <a:endParaRPr lang="en-US" sz="3800" dirty="0"/>
          </a:p>
        </p:txBody>
      </p:sp>
      <p:sp>
        <p:nvSpPr>
          <p:cNvPr id="4" name="Text 2"/>
          <p:cNvSpPr txBox="1"/>
          <p:nvPr/>
        </p:nvSpPr>
        <p:spPr>
          <a:xfrm>
            <a:off x="640080" y="3794760"/>
            <a:ext cx="8727034" cy="822960"/>
          </a:xfrm>
          <a:prstGeom prst="rect">
            <a:avLst/>
          </a:prstGeom>
          <a:noFill/>
          <a:ln/>
        </p:spPr>
        <p:txBody>
          <a:bodyPr wrap="square" lIns="0" tIns="0" rIns="0" bIns="0" rtlCol="0" anchor="ctr"/>
          <a:lstStyle/>
          <a:p>
            <a:pPr indent="0" marL="0">
              <a:lnSpc>
                <a:spcPts val="2400"/>
              </a:lnSpc>
              <a:buNone/>
            </a:pPr>
            <a:r>
              <a:rPr lang="en-US" sz="1600" dirty="0">
                <a:solidFill>
                  <a:srgbClr val="A9B6C4"/>
                </a:solidFill>
                <a:latin typeface="Calibri" pitchFamily="34" charset="0"/>
                <a:ea typeface="Calibri" pitchFamily="34" charset="-122"/>
                <a:cs typeface="Calibri" pitchFamily="34" charset="-120"/>
              </a:rPr>
              <a:t>The constraint that decides your architecture, and the one people size last.</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Where the memory actually goes</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Weights are only the part you budgeted for</a:t>
            </a:r>
            <a:endParaRPr lang="en-US" sz="1500" dirty="0"/>
          </a:p>
        </p:txBody>
      </p:sp>
      <p:sp>
        <p:nvSpPr>
          <p:cNvPr id="4" name="Shape 2"/>
          <p:cNvSpPr/>
          <p:nvPr/>
        </p:nvSpPr>
        <p:spPr>
          <a:xfrm>
            <a:off x="640080" y="2011680"/>
            <a:ext cx="2468880" cy="1005840"/>
          </a:xfrm>
          <a:prstGeom prst="roundRect">
            <a:avLst>
              <a:gd name="adj" fmla="val 4545"/>
            </a:avLst>
          </a:prstGeom>
          <a:solidFill>
            <a:srgbClr val="F1F4F7"/>
          </a:solidFill>
          <a:ln w="12700">
            <a:solidFill>
              <a:srgbClr val="F1F4F7"/>
            </a:solidFill>
            <a:prstDash val="solid"/>
          </a:ln>
        </p:spPr>
      </p:sp>
      <p:sp>
        <p:nvSpPr>
          <p:cNvPr id="5" name="Text 3"/>
          <p:cNvSpPr txBox="1"/>
          <p:nvPr/>
        </p:nvSpPr>
        <p:spPr>
          <a:xfrm>
            <a:off x="640080" y="2103120"/>
            <a:ext cx="2468880"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WEIGHTS</a:t>
            </a:r>
            <a:endParaRPr lang="en-US" sz="1300" dirty="0"/>
          </a:p>
        </p:txBody>
      </p:sp>
      <p:sp>
        <p:nvSpPr>
          <p:cNvPr id="6" name="Text 4"/>
          <p:cNvSpPr txBox="1"/>
          <p:nvPr/>
        </p:nvSpPr>
        <p:spPr>
          <a:xfrm>
            <a:off x="640080" y="2432304"/>
            <a:ext cx="2468880" cy="45720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params x bytes</a:t>
            </a:r>
            <a:endParaRPr lang="en-US" sz="1050" dirty="0"/>
          </a:p>
        </p:txBody>
      </p:sp>
      <p:sp>
        <p:nvSpPr>
          <p:cNvPr id="7" name="Shape 5"/>
          <p:cNvSpPr/>
          <p:nvPr/>
        </p:nvSpPr>
        <p:spPr>
          <a:xfrm>
            <a:off x="3337560" y="2011680"/>
            <a:ext cx="2468880" cy="1005840"/>
          </a:xfrm>
          <a:prstGeom prst="roundRect">
            <a:avLst>
              <a:gd name="adj" fmla="val 4545"/>
            </a:avLst>
          </a:prstGeom>
          <a:solidFill>
            <a:srgbClr val="FDE3D6"/>
          </a:solidFill>
          <a:ln w="12700">
            <a:solidFill>
              <a:srgbClr val="FDE3D6"/>
            </a:solidFill>
            <a:prstDash val="solid"/>
          </a:ln>
        </p:spPr>
      </p:sp>
      <p:sp>
        <p:nvSpPr>
          <p:cNvPr id="8" name="Text 6"/>
          <p:cNvSpPr txBox="1"/>
          <p:nvPr/>
        </p:nvSpPr>
        <p:spPr>
          <a:xfrm>
            <a:off x="3337560" y="2103120"/>
            <a:ext cx="2468880"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KV CACHE</a:t>
            </a:r>
            <a:endParaRPr lang="en-US" sz="1300" dirty="0"/>
          </a:p>
        </p:txBody>
      </p:sp>
      <p:sp>
        <p:nvSpPr>
          <p:cNvPr id="9" name="Text 7"/>
          <p:cNvSpPr txBox="1"/>
          <p:nvPr/>
        </p:nvSpPr>
        <p:spPr>
          <a:xfrm>
            <a:off x="3337560" y="2432304"/>
            <a:ext cx="2468880" cy="45720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grows with ctx x batch</a:t>
            </a:r>
            <a:endParaRPr lang="en-US" sz="1050" dirty="0"/>
          </a:p>
        </p:txBody>
      </p:sp>
      <p:sp>
        <p:nvSpPr>
          <p:cNvPr id="10" name="Shape 8"/>
          <p:cNvSpPr/>
          <p:nvPr/>
        </p:nvSpPr>
        <p:spPr>
          <a:xfrm>
            <a:off x="6035040" y="2011680"/>
            <a:ext cx="2468880" cy="1005840"/>
          </a:xfrm>
          <a:prstGeom prst="roundRect">
            <a:avLst>
              <a:gd name="adj" fmla="val 4545"/>
            </a:avLst>
          </a:prstGeom>
          <a:solidFill>
            <a:srgbClr val="F1F4F7"/>
          </a:solidFill>
          <a:ln w="12700">
            <a:solidFill>
              <a:srgbClr val="F1F4F7"/>
            </a:solidFill>
            <a:prstDash val="solid"/>
          </a:ln>
        </p:spPr>
      </p:sp>
      <p:sp>
        <p:nvSpPr>
          <p:cNvPr id="11" name="Text 9"/>
          <p:cNvSpPr txBox="1"/>
          <p:nvPr/>
        </p:nvSpPr>
        <p:spPr>
          <a:xfrm>
            <a:off x="6035040" y="2103120"/>
            <a:ext cx="2468880"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ACTIVATIONS</a:t>
            </a:r>
            <a:endParaRPr lang="en-US" sz="1300" dirty="0"/>
          </a:p>
        </p:txBody>
      </p:sp>
      <p:sp>
        <p:nvSpPr>
          <p:cNvPr id="12" name="Text 10"/>
          <p:cNvSpPr txBox="1"/>
          <p:nvPr/>
        </p:nvSpPr>
        <p:spPr>
          <a:xfrm>
            <a:off x="6035040" y="2432304"/>
            <a:ext cx="2468880" cy="45720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transient, per forward</a:t>
            </a:r>
            <a:endParaRPr lang="en-US" sz="1050" dirty="0"/>
          </a:p>
        </p:txBody>
      </p:sp>
      <p:sp>
        <p:nvSpPr>
          <p:cNvPr id="13" name="Shape 11"/>
          <p:cNvSpPr/>
          <p:nvPr/>
        </p:nvSpPr>
        <p:spPr>
          <a:xfrm>
            <a:off x="8732520" y="2011680"/>
            <a:ext cx="2788920" cy="1005840"/>
          </a:xfrm>
          <a:prstGeom prst="roundRect">
            <a:avLst>
              <a:gd name="adj" fmla="val 4545"/>
            </a:avLst>
          </a:prstGeom>
          <a:solidFill>
            <a:srgbClr val="F1F4F7"/>
          </a:solidFill>
          <a:ln w="12700">
            <a:solidFill>
              <a:srgbClr val="F1F4F7"/>
            </a:solidFill>
            <a:prstDash val="solid"/>
          </a:ln>
        </p:spPr>
      </p:sp>
      <p:sp>
        <p:nvSpPr>
          <p:cNvPr id="14" name="Text 12"/>
          <p:cNvSpPr txBox="1"/>
          <p:nvPr/>
        </p:nvSpPr>
        <p:spPr>
          <a:xfrm>
            <a:off x="8732520" y="2103120"/>
            <a:ext cx="2788920"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RUNTIME OVERHEAD</a:t>
            </a:r>
            <a:endParaRPr lang="en-US" sz="1300" dirty="0"/>
          </a:p>
        </p:txBody>
      </p:sp>
      <p:sp>
        <p:nvSpPr>
          <p:cNvPr id="15" name="Text 13"/>
          <p:cNvSpPr txBox="1"/>
          <p:nvPr/>
        </p:nvSpPr>
        <p:spPr>
          <a:xfrm>
            <a:off x="8732520" y="2432304"/>
            <a:ext cx="2788920" cy="45720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allocator, fragmentation</a:t>
            </a:r>
            <a:endParaRPr lang="en-US" sz="1050" dirty="0"/>
          </a:p>
        </p:txBody>
      </p:sp>
      <p:sp>
        <p:nvSpPr>
          <p:cNvPr id="16" name="Text 14"/>
          <p:cNvSpPr txBox="1"/>
          <p:nvPr/>
        </p:nvSpPr>
        <p:spPr>
          <a:xfrm>
            <a:off x="640080" y="3337560"/>
            <a:ext cx="10543032" cy="1609344"/>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Weights are fixed once you pick a model and a precision. Everything else is a choice you keep making at runtime.</a:t>
            </a:r>
            <a:endParaRPr lang="en-US" sz="1500" dirty="0"/>
          </a:p>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The KV cache is the one that ends sessions unexpectedly, because it grows with every turn of a conversation.</a:t>
            </a:r>
            <a:endParaRPr lang="en-US" sz="1500" dirty="0"/>
          </a:p>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Fragmentation is real. A server that fits the arithmetic can still fail to allocate after hours of mixed traffic.</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The KV cache, in arithmetic you can do in a meeting</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Two bytes per element, twice per layer, for every token you keep</a:t>
            </a:r>
            <a:endParaRPr lang="en-US" sz="1500" dirty="0"/>
          </a:p>
        </p:txBody>
      </p:sp>
      <p:sp>
        <p:nvSpPr>
          <p:cNvPr id="4" name="Shape 2"/>
          <p:cNvSpPr/>
          <p:nvPr/>
        </p:nvSpPr>
        <p:spPr>
          <a:xfrm>
            <a:off x="640080" y="1828800"/>
            <a:ext cx="10908792" cy="822960"/>
          </a:xfrm>
          <a:prstGeom prst="roundRect">
            <a:avLst>
              <a:gd name="adj" fmla="val 6667"/>
            </a:avLst>
          </a:prstGeom>
          <a:solidFill>
            <a:srgbClr val="F1F4F7"/>
          </a:solidFill>
          <a:ln w="12700">
            <a:solidFill>
              <a:srgbClr val="E1E7ED"/>
            </a:solidFill>
            <a:prstDash val="solid"/>
          </a:ln>
        </p:spPr>
      </p:sp>
      <p:sp>
        <p:nvSpPr>
          <p:cNvPr id="5" name="Text 3"/>
          <p:cNvSpPr txBox="1"/>
          <p:nvPr/>
        </p:nvSpPr>
        <p:spPr>
          <a:xfrm>
            <a:off x="914400" y="2029968"/>
            <a:ext cx="10360152" cy="457200"/>
          </a:xfrm>
          <a:prstGeom prst="rect">
            <a:avLst/>
          </a:prstGeom>
          <a:noFill/>
          <a:ln/>
        </p:spPr>
        <p:txBody>
          <a:bodyPr wrap="square" lIns="0" tIns="0" rIns="0" bIns="0" rtlCol="0" anchor="ctr"/>
          <a:lstStyle/>
          <a:p>
            <a:pPr algn="ctr" indent="0" marL="0">
              <a:buNone/>
            </a:pPr>
            <a:r>
              <a:rPr lang="en-US" sz="1500" b="1" dirty="0">
                <a:solidFill>
                  <a:srgbClr val="16202A"/>
                </a:solidFill>
                <a:latin typeface="Courier New" pitchFamily="34" charset="0"/>
                <a:ea typeface="Courier New" pitchFamily="34" charset="-122"/>
                <a:cs typeface="Courier New" pitchFamily="34" charset="-120"/>
              </a:rPr>
              <a:t>kv bytes  ~=  2  x  layers  x  kv_heads  x  head_dim  x  context  x  batch  x  bytes_per_element</a:t>
            </a:r>
            <a:endParaRPr lang="en-US" sz="15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0080" y="2834640"/>
          <a:ext cx="10908792" cy="914400"/>
        </p:xfrm>
        <a:graphic>
          <a:graphicData uri="http://schemas.openxmlformats.org/drawingml/2006/table">
            <a:tbl>
              <a:tblPr/>
              <a:tblGrid>
                <a:gridCol w="4206240"/>
                <a:gridCol w="2743200"/>
                <a:gridCol w="3959352"/>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Setting</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KV cache</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Note</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r>
              <a:tr h="384048">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3B model, 4k context, batch 1</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a few hundred MB</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Comfortable</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84048">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3B model, 32k context, batch 1</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a few GB</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Now comparable to the weights</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84048">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3B model, 4k context, batch 16</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several GB</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50" dirty="0">
                          <a:solidFill>
                            <a:srgbClr val="2A3746"/>
                          </a:solidFill>
                          <a:latin typeface="Calibri" pitchFamily="34" charset="0"/>
                          <a:ea typeface="Calibri" pitchFamily="34" charset="-122"/>
                          <a:cs typeface="Calibri" pitchFamily="34" charset="-120"/>
                        </a:rPr>
                        <a:t>Concurrency multiplies it linearly</a:t>
                      </a:r>
                      <a:endParaRPr lang="en-US" sz="125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bl>
          </a:graphicData>
        </a:graphic>
      </p:graphicFrame>
      <p:sp>
        <p:nvSpPr>
          <p:cNvPr id="7" name="Text 4"/>
          <p:cNvSpPr txBox="1"/>
          <p:nvPr/>
        </p:nvSpPr>
        <p:spPr>
          <a:xfrm>
            <a:off x="640080" y="4434840"/>
            <a:ext cx="10543032" cy="1225296"/>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400" dirty="0">
                <a:solidFill>
                  <a:srgbClr val="2A3746"/>
                </a:solidFill>
                <a:latin typeface="Calibri" pitchFamily="34" charset="0"/>
                <a:ea typeface="Calibri" pitchFamily="34" charset="-122"/>
                <a:cs typeface="Calibri" pitchFamily="34" charset="-120"/>
              </a:rPr>
              <a:t>Grouped query attention cuts this substantially, which is why kv_heads and not heads appears in the formula.</a:t>
            </a:r>
            <a:endParaRPr lang="en-US" sz="1400" dirty="0"/>
          </a:p>
          <a:p>
            <a:pPr marL="342900" indent="-342900">
              <a:lnSpc>
                <a:spcPts val="2100"/>
              </a:lnSpc>
              <a:spcAft>
                <a:spcPts val="700"/>
              </a:spcAft>
              <a:buSzPct val="100000"/>
              <a:buChar char="•"/>
            </a:pPr>
            <a:r>
              <a:rPr lang="en-US" sz="1400" dirty="0">
                <a:solidFill>
                  <a:srgbClr val="2A3746"/>
                </a:solidFill>
                <a:latin typeface="Calibri" pitchFamily="34" charset="0"/>
                <a:ea typeface="Calibri" pitchFamily="34" charset="-122"/>
                <a:cs typeface="Calibri" pitchFamily="34" charset="-120"/>
              </a:rPr>
              <a:t>Long context and high concurrency are the same problem wearing different hats. Budget them together.</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Seven levers, in the order to reach for them</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Cheapest and least damaging first</a:t>
            </a:r>
            <a:endParaRPr lang="en-US" sz="15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908792" cy="914400"/>
        </p:xfrm>
        <a:graphic>
          <a:graphicData uri="http://schemas.openxmlformats.org/drawingml/2006/table">
            <a:tbl>
              <a:tblPr/>
              <a:tblGrid>
                <a:gridCol w="3840480"/>
                <a:gridCol w="3017520"/>
                <a:gridCol w="4050792"/>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Lever</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Effect</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Cost</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r>
              <a:tr h="365760">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Cut the context you actually send</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linear reduction in cache</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none, usually improves quality</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65760">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Lower the context limit</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caps worst case allocation</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long inputs now truncate, so guard them</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65760">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Quantize the KV cache to 8 bit</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roughly halves cache</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small quality effect, usually acceptable</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65760">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Reduce concurrency</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linear reduction</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throughput falls</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65760">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Quantize the weights further</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reduces weight memory</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quality falls, measure it</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65760">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Offload layers to host memory</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fits a bigger model</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tail latency gets much worse</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365760">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Smaller model</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reduces everything</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the honest answer more often than people admit</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bl>
          </a:graphicData>
        </a:graphic>
      </p:graphicFrame>
      <p:sp>
        <p:nvSpPr>
          <p:cNvPr id="5" name="Text 2"/>
          <p:cNvSpPr txBox="1"/>
          <p:nvPr/>
        </p:nvSpPr>
        <p:spPr>
          <a:xfrm>
            <a:off x="640080" y="4572000"/>
            <a:ext cx="10543032" cy="1097280"/>
          </a:xfrm>
          <a:prstGeom prst="rect">
            <a:avLst/>
          </a:prstGeom>
          <a:noFill/>
          <a:ln/>
        </p:spPr>
        <p:txBody>
          <a:bodyPr wrap="square" lIns="0" tIns="0" rIns="0" bIns="0" rtlCol="0" anchor="t"/>
          <a:lstStyle/>
          <a:p>
            <a:pPr indent="0" marL="0">
              <a:lnSpc>
                <a:spcPts val="2200"/>
              </a:lnSpc>
              <a:buNone/>
            </a:pPr>
            <a:r>
              <a:rPr lang="en-US" sz="1450" dirty="0">
                <a:solidFill>
                  <a:srgbClr val="2A3746"/>
                </a:solidFill>
                <a:latin typeface="Calibri" pitchFamily="34" charset="0"/>
                <a:ea typeface="Calibri" pitchFamily="34" charset="-122"/>
                <a:cs typeface="Calibri" pitchFamily="34" charset="-120"/>
              </a:rPr>
              <a:t>Note the order. Teams reach for the last two first, when trimming the prompt and capping the context would have been free.</a:t>
            </a:r>
            <a:endParaRPr lang="en-US" sz="14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Reuse the prefix you already paid for</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The cheapest speedup available, and it is mostly free</a:t>
            </a:r>
            <a:endParaRPr lang="en-US" sz="1500" dirty="0"/>
          </a:p>
        </p:txBody>
      </p:sp>
      <p:sp>
        <p:nvSpPr>
          <p:cNvPr id="4" name="Shape 2"/>
          <p:cNvSpPr/>
          <p:nvPr/>
        </p:nvSpPr>
        <p:spPr>
          <a:xfrm>
            <a:off x="640080" y="2057400"/>
            <a:ext cx="4114800" cy="914400"/>
          </a:xfrm>
          <a:prstGeom prst="roundRect">
            <a:avLst>
              <a:gd name="adj" fmla="val 5000"/>
            </a:avLst>
          </a:prstGeom>
          <a:solidFill>
            <a:srgbClr val="E7F2EE"/>
          </a:solidFill>
          <a:ln w="12700">
            <a:solidFill>
              <a:srgbClr val="E7F2EE"/>
            </a:solidFill>
            <a:prstDash val="solid"/>
          </a:ln>
        </p:spPr>
      </p:sp>
      <p:sp>
        <p:nvSpPr>
          <p:cNvPr id="5" name="Text 3"/>
          <p:cNvSpPr txBox="1"/>
          <p:nvPr/>
        </p:nvSpPr>
        <p:spPr>
          <a:xfrm>
            <a:off x="640080" y="2148840"/>
            <a:ext cx="4114800"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STABLE PREFIX</a:t>
            </a:r>
            <a:endParaRPr lang="en-US" sz="1300" dirty="0"/>
          </a:p>
        </p:txBody>
      </p:sp>
      <p:sp>
        <p:nvSpPr>
          <p:cNvPr id="6" name="Text 4"/>
          <p:cNvSpPr txBox="1"/>
          <p:nvPr/>
        </p:nvSpPr>
        <p:spPr>
          <a:xfrm>
            <a:off x="640080" y="2478024"/>
            <a:ext cx="4114800" cy="45720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system, tools, conventions</a:t>
            </a:r>
            <a:endParaRPr lang="en-US" sz="1050" dirty="0"/>
          </a:p>
        </p:txBody>
      </p:sp>
      <p:sp>
        <p:nvSpPr>
          <p:cNvPr id="7" name="Shape 5"/>
          <p:cNvSpPr/>
          <p:nvPr/>
        </p:nvSpPr>
        <p:spPr>
          <a:xfrm>
            <a:off x="4937760" y="2057400"/>
            <a:ext cx="2743200" cy="914400"/>
          </a:xfrm>
          <a:prstGeom prst="roundRect">
            <a:avLst>
              <a:gd name="adj" fmla="val 5000"/>
            </a:avLst>
          </a:prstGeom>
          <a:solidFill>
            <a:srgbClr val="F1F4F7"/>
          </a:solidFill>
          <a:ln w="12700">
            <a:solidFill>
              <a:srgbClr val="F1F4F7"/>
            </a:solidFill>
            <a:prstDash val="solid"/>
          </a:ln>
        </p:spPr>
      </p:sp>
      <p:sp>
        <p:nvSpPr>
          <p:cNvPr id="8" name="Text 6"/>
          <p:cNvSpPr txBox="1"/>
          <p:nvPr/>
        </p:nvSpPr>
        <p:spPr>
          <a:xfrm>
            <a:off x="4937760" y="2148840"/>
            <a:ext cx="2743200"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RETRIEVED</a:t>
            </a:r>
            <a:endParaRPr lang="en-US" sz="1300" dirty="0"/>
          </a:p>
        </p:txBody>
      </p:sp>
      <p:sp>
        <p:nvSpPr>
          <p:cNvPr id="9" name="Text 7"/>
          <p:cNvSpPr txBox="1"/>
          <p:nvPr/>
        </p:nvSpPr>
        <p:spPr>
          <a:xfrm>
            <a:off x="4937760" y="2478024"/>
            <a:ext cx="2743200" cy="45720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stable within a session</a:t>
            </a:r>
            <a:endParaRPr lang="en-US" sz="1050" dirty="0"/>
          </a:p>
        </p:txBody>
      </p:sp>
      <p:sp>
        <p:nvSpPr>
          <p:cNvPr id="10" name="Shape 8"/>
          <p:cNvSpPr/>
          <p:nvPr/>
        </p:nvSpPr>
        <p:spPr>
          <a:xfrm>
            <a:off x="7863840" y="2057400"/>
            <a:ext cx="3657600" cy="914400"/>
          </a:xfrm>
          <a:prstGeom prst="roundRect">
            <a:avLst>
              <a:gd name="adj" fmla="val 5000"/>
            </a:avLst>
          </a:prstGeom>
          <a:solidFill>
            <a:srgbClr val="FDE3D6"/>
          </a:solidFill>
          <a:ln w="12700">
            <a:solidFill>
              <a:srgbClr val="FDE3D6"/>
            </a:solidFill>
            <a:prstDash val="solid"/>
          </a:ln>
        </p:spPr>
      </p:sp>
      <p:sp>
        <p:nvSpPr>
          <p:cNvPr id="11" name="Text 9"/>
          <p:cNvSpPr txBox="1"/>
          <p:nvPr/>
        </p:nvSpPr>
        <p:spPr>
          <a:xfrm>
            <a:off x="7863840" y="2148840"/>
            <a:ext cx="3657600" cy="365760"/>
          </a:xfrm>
          <a:prstGeom prst="rect">
            <a:avLst/>
          </a:prstGeom>
          <a:noFill/>
          <a:ln/>
        </p:spPr>
        <p:txBody>
          <a:bodyPr wrap="square" lIns="0" tIns="0" rIns="0" bIns="0" rtlCol="0" anchor="ctr"/>
          <a:lstStyle/>
          <a:p>
            <a:pPr algn="ctr" indent="0" marL="0">
              <a:buNone/>
            </a:pPr>
            <a:r>
              <a:rPr lang="en-US" sz="1300" b="1" dirty="0">
                <a:solidFill>
                  <a:srgbClr val="16202A"/>
                </a:solidFill>
                <a:latin typeface="Calibri" pitchFamily="34" charset="0"/>
                <a:ea typeface="Calibri" pitchFamily="34" charset="-122"/>
                <a:cs typeface="Calibri" pitchFamily="34" charset="-120"/>
              </a:rPr>
              <a:t>TURN SPECIFIC</a:t>
            </a:r>
            <a:endParaRPr lang="en-US" sz="1300" dirty="0"/>
          </a:p>
        </p:txBody>
      </p:sp>
      <p:sp>
        <p:nvSpPr>
          <p:cNvPr id="12" name="Text 10"/>
          <p:cNvSpPr txBox="1"/>
          <p:nvPr/>
        </p:nvSpPr>
        <p:spPr>
          <a:xfrm>
            <a:off x="7863840" y="2478024"/>
            <a:ext cx="3657600" cy="457200"/>
          </a:xfrm>
          <a:prstGeom prst="rect">
            <a:avLst/>
          </a:prstGeom>
          <a:noFill/>
          <a:ln/>
        </p:spPr>
        <p:txBody>
          <a:bodyPr wrap="square" lIns="0" tIns="0" rIns="0" bIns="0" rtlCol="0" anchor="ctr"/>
          <a:lstStyle/>
          <a:p>
            <a:pPr algn="ctr" indent="0" marL="0">
              <a:buNone/>
            </a:pPr>
            <a:r>
              <a:rPr lang="en-US" sz="1050" dirty="0">
                <a:solidFill>
                  <a:srgbClr val="6B7A8C"/>
                </a:solidFill>
                <a:latin typeface="Calibri" pitchFamily="34" charset="0"/>
                <a:ea typeface="Calibri" pitchFamily="34" charset="-122"/>
                <a:cs typeface="Calibri" pitchFamily="34" charset="-120"/>
              </a:rPr>
              <a:t>the only part that changes</a:t>
            </a:r>
            <a:endParaRPr lang="en-US" sz="1050" dirty="0"/>
          </a:p>
        </p:txBody>
      </p:sp>
      <p:sp>
        <p:nvSpPr>
          <p:cNvPr id="13" name="Text 11"/>
          <p:cNvSpPr txBox="1"/>
          <p:nvPr/>
        </p:nvSpPr>
        <p:spPr>
          <a:xfrm>
            <a:off x="640080" y="3291840"/>
            <a:ext cx="10543032" cy="1993392"/>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Order the prompt so everything stable comes first and the volatile part comes last.</a:t>
            </a:r>
            <a:endParaRPr lang="en-US" sz="1500" dirty="0"/>
          </a:p>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Then a served prefix cache can skip prompt processing entirely for the shared portion.</a:t>
            </a:r>
            <a:endParaRPr lang="en-US" sz="1500" dirty="0"/>
          </a:p>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Keep the prefix byte stable. One changing timestamp at the top invalidates the whole cache.</a:t>
            </a:r>
            <a:endParaRPr lang="en-US" sz="1500" dirty="0"/>
          </a:p>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Pin a conceptual session to the same worker, or the cache you built is on the wrong machine.</a:t>
            </a:r>
            <a:endParaRPr lang="en-US" sz="1500" dirty="0"/>
          </a:p>
        </p:txBody>
      </p:sp>
      <p:sp>
        <p:nvSpPr>
          <p:cNvPr id="14" name="Text 12"/>
          <p:cNvSpPr txBox="1"/>
          <p:nvPr/>
        </p:nvSpPr>
        <p:spPr>
          <a:xfrm>
            <a:off x="640080" y="4709160"/>
            <a:ext cx="10543032" cy="1097280"/>
          </a:xfrm>
          <a:prstGeom prst="rect">
            <a:avLst/>
          </a:prstGeom>
          <a:noFill/>
          <a:ln/>
        </p:spPr>
        <p:txBody>
          <a:bodyPr wrap="square" lIns="0" tIns="0" rIns="0" bIns="0" rtlCol="0" anchor="t"/>
          <a:lstStyle/>
          <a:p>
            <a:pPr indent="0" marL="0">
              <a:lnSpc>
                <a:spcPts val="2200"/>
              </a:lnSpc>
              <a:buNone/>
            </a:pPr>
            <a:r>
              <a:rPr lang="en-US" sz="1450" dirty="0">
                <a:solidFill>
                  <a:srgbClr val="2A3746"/>
                </a:solidFill>
                <a:latin typeface="Calibri" pitchFamily="34" charset="0"/>
                <a:ea typeface="Calibri" pitchFamily="34" charset="-122"/>
                <a:cs typeface="Calibri" pitchFamily="34" charset="-120"/>
              </a:rPr>
              <a:t>On long stable prefixes this routinely turns seconds of prompt processing into milliseconds. It is worth more than most model upgrades.</a:t>
            </a:r>
            <a:endParaRPr lang="en-US" sz="14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6202A"/>
        </a:solidFill>
      </p:bgPr>
    </p:bg>
    <p:spTree>
      <p:nvGrpSpPr>
        <p:cNvPr id="1" name=""/>
        <p:cNvGrpSpPr/>
        <p:nvPr/>
      </p:nvGrpSpPr>
      <p:grpSpPr>
        <a:xfrm>
          <a:off x="0" y="0"/>
          <a:ext cx="0" cy="0"/>
          <a:chOff x="0" y="0"/>
          <a:chExt cx="0" cy="0"/>
        </a:xfrm>
      </p:grpSpPr>
      <p:sp>
        <p:nvSpPr>
          <p:cNvPr id="2" name="Text 0"/>
          <p:cNvSpPr txBox="1"/>
          <p:nvPr/>
        </p:nvSpPr>
        <p:spPr>
          <a:xfrm>
            <a:off x="640080" y="685800"/>
            <a:ext cx="1828800" cy="457200"/>
          </a:xfrm>
          <a:prstGeom prst="rect">
            <a:avLst/>
          </a:prstGeom>
          <a:noFill/>
          <a:ln/>
        </p:spPr>
        <p:txBody>
          <a:bodyPr wrap="square" lIns="0" tIns="0" rIns="0" bIns="0" rtlCol="0" anchor="ctr"/>
          <a:lstStyle/>
          <a:p>
            <a:pPr indent="0" marL="0">
              <a:buNone/>
            </a:pPr>
            <a:r>
              <a:rPr lang="en-US" sz="2000" b="1" spc="400" kern="0" dirty="0">
                <a:solidFill>
                  <a:srgbClr val="FF6B35"/>
                </a:solidFill>
                <a:latin typeface="Courier New" pitchFamily="34" charset="0"/>
                <a:ea typeface="Courier New" pitchFamily="34" charset="-122"/>
                <a:cs typeface="Courier New" pitchFamily="34" charset="-120"/>
              </a:rPr>
              <a:t>LAB</a:t>
            </a:r>
            <a:endParaRPr lang="en-US" sz="2000" dirty="0"/>
          </a:p>
        </p:txBody>
      </p:sp>
      <p:sp>
        <p:nvSpPr>
          <p:cNvPr id="3" name="Text 1"/>
          <p:cNvSpPr txBox="1"/>
          <p:nvPr/>
        </p:nvSpPr>
        <p:spPr>
          <a:xfrm>
            <a:off x="640080" y="1143000"/>
            <a:ext cx="10908792"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Lab 8: memory under pressure</a:t>
            </a:r>
            <a:endParaRPr lang="en-US" sz="3400" dirty="0"/>
          </a:p>
        </p:txBody>
      </p:sp>
      <p:sp>
        <p:nvSpPr>
          <p:cNvPr id="4" name="Text 2"/>
          <p:cNvSpPr txBox="1"/>
          <p:nvPr/>
        </p:nvSpPr>
        <p:spPr>
          <a:xfrm>
            <a:off x="640080" y="2011680"/>
            <a:ext cx="10908792" cy="365760"/>
          </a:xfrm>
          <a:prstGeom prst="rect">
            <a:avLst/>
          </a:prstGeom>
          <a:noFill/>
          <a:ln/>
        </p:spPr>
        <p:txBody>
          <a:bodyPr wrap="square" lIns="0" tIns="0" rIns="0" bIns="0" rtlCol="0" anchor="ctr"/>
          <a:lstStyle/>
          <a:p>
            <a:pPr indent="0" marL="0">
              <a:buNone/>
            </a:pPr>
            <a:r>
              <a:rPr lang="en-US" sz="1600" i="1" dirty="0">
                <a:solidFill>
                  <a:srgbClr val="FF6B35"/>
                </a:solidFill>
                <a:latin typeface="Calibri" pitchFamily="34" charset="0"/>
                <a:ea typeface="Calibri" pitchFamily="34" charset="-122"/>
                <a:cs typeface="Calibri" pitchFamily="34" charset="-120"/>
              </a:rPr>
              <a:t>15 minutes</a:t>
            </a:r>
            <a:endParaRPr lang="en-US" sz="1600" dirty="0"/>
          </a:p>
        </p:txBody>
      </p:sp>
      <p:sp>
        <p:nvSpPr>
          <p:cNvPr id="5" name="Shape 3"/>
          <p:cNvSpPr/>
          <p:nvPr/>
        </p:nvSpPr>
        <p:spPr>
          <a:xfrm>
            <a:off x="640080" y="2606040"/>
            <a:ext cx="10908792" cy="3017520"/>
          </a:xfrm>
          <a:prstGeom prst="roundRect">
            <a:avLst>
              <a:gd name="adj" fmla="val 1818"/>
            </a:avLst>
          </a:prstGeom>
          <a:solidFill>
            <a:srgbClr val="1F2C3B"/>
          </a:solidFill>
          <a:ln w="12700">
            <a:solidFill>
              <a:srgbClr val="1F2C3B"/>
            </a:solidFill>
            <a:prstDash val="solid"/>
          </a:ln>
        </p:spPr>
      </p:sp>
      <p:sp>
        <p:nvSpPr>
          <p:cNvPr id="6" name="Text 4"/>
          <p:cNvSpPr txBox="1"/>
          <p:nvPr/>
        </p:nvSpPr>
        <p:spPr>
          <a:xfrm>
            <a:off x="1051560" y="2880360"/>
            <a:ext cx="10085832" cy="2377440"/>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550" dirty="0">
                <a:solidFill>
                  <a:srgbClr val="DCE4EC"/>
                </a:solidFill>
                <a:latin typeface="Calibri" pitchFamily="34" charset="0"/>
                <a:ea typeface="Calibri" pitchFamily="34" charset="-122"/>
                <a:cs typeface="Calibri" pitchFamily="34" charset="-120"/>
              </a:rPr>
              <a:t>Measure KV cache growth against context length on a model you already have.</a:t>
            </a:r>
            <a:endParaRPr lang="en-US" sz="1550" dirty="0"/>
          </a:p>
          <a:p>
            <a:pPr marL="342900" indent="-342900">
              <a:lnSpc>
                <a:spcPts val="2100"/>
              </a:lnSpc>
              <a:spcAft>
                <a:spcPts val="700"/>
              </a:spcAft>
              <a:buSzPct val="100000"/>
              <a:buChar char="•"/>
            </a:pPr>
            <a:r>
              <a:rPr lang="en-US" sz="1550" dirty="0">
                <a:solidFill>
                  <a:srgbClr val="DCE4EC"/>
                </a:solidFill>
                <a:latin typeface="Calibri" pitchFamily="34" charset="0"/>
                <a:ea typeface="Calibri" pitchFamily="34" charset="-122"/>
                <a:cs typeface="Calibri" pitchFamily="34" charset="-120"/>
              </a:rPr>
              <a:t>Turn on cache quantization and measure both the memory saving and any quality change.</a:t>
            </a:r>
            <a:endParaRPr lang="en-US" sz="1550" dirty="0"/>
          </a:p>
          <a:p>
            <a:pPr marL="342900" indent="-342900">
              <a:lnSpc>
                <a:spcPts val="2100"/>
              </a:lnSpc>
              <a:spcAft>
                <a:spcPts val="700"/>
              </a:spcAft>
              <a:buSzPct val="100000"/>
              <a:buChar char="•"/>
            </a:pPr>
            <a:r>
              <a:rPr lang="en-US" sz="1550" dirty="0">
                <a:solidFill>
                  <a:srgbClr val="DCE4EC"/>
                </a:solidFill>
                <a:latin typeface="Calibri" pitchFamily="34" charset="0"/>
                <a:ea typeface="Calibri" pitchFamily="34" charset="-122"/>
                <a:cs typeface="Calibri" pitchFamily="34" charset="-120"/>
              </a:rPr>
              <a:t>Push concurrency until allocation fails, and find the real ceiling of your machine.</a:t>
            </a:r>
            <a:endParaRPr lang="en-US" sz="1550" dirty="0"/>
          </a:p>
          <a:p>
            <a:pPr marL="342900" indent="-342900">
              <a:lnSpc>
                <a:spcPts val="2100"/>
              </a:lnSpc>
              <a:spcAft>
                <a:spcPts val="700"/>
              </a:spcAft>
              <a:buSzPct val="100000"/>
              <a:buChar char="•"/>
            </a:pPr>
            <a:r>
              <a:rPr lang="en-US" sz="1550" dirty="0">
                <a:solidFill>
                  <a:srgbClr val="DCE4EC"/>
                </a:solidFill>
                <a:latin typeface="Calibri" pitchFamily="34" charset="0"/>
                <a:ea typeface="Calibri" pitchFamily="34" charset="-122"/>
                <a:cs typeface="Calibri" pitchFamily="34" charset="-120"/>
              </a:rPr>
              <a:t>Reorder a prompt for prefix reuse and measure the prompt processing time you get back.</a:t>
            </a:r>
            <a:endParaRPr lang="en-US" sz="1550" dirty="0"/>
          </a:p>
          <a:p>
            <a:pPr marL="342900" indent="-342900">
              <a:lnSpc>
                <a:spcPts val="2100"/>
              </a:lnSpc>
              <a:spcAft>
                <a:spcPts val="700"/>
              </a:spcAft>
              <a:buSzPct val="100000"/>
              <a:buChar char="•"/>
            </a:pPr>
            <a:r>
              <a:rPr lang="en-US" sz="1550" dirty="0">
                <a:solidFill>
                  <a:srgbClr val="DCE4EC"/>
                </a:solidFill>
                <a:latin typeface="Calibri" pitchFamily="34" charset="0"/>
                <a:ea typeface="Calibri" pitchFamily="34" charset="-122"/>
                <a:cs typeface="Calibri" pitchFamily="34" charset="-120"/>
              </a:rPr>
              <a:t>Produce a sizing recommendation for a stated workload, with numbers behind it.</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6202A"/>
        </a:solidFill>
      </p:bgPr>
    </p:bg>
    <p:spTree>
      <p:nvGrpSpPr>
        <p:cNvPr id="1" name=""/>
        <p:cNvGrpSpPr/>
        <p:nvPr/>
      </p:nvGrpSpPr>
      <p:grpSpPr>
        <a:xfrm>
          <a:off x="0" y="0"/>
          <a:ext cx="0" cy="0"/>
          <a:chOff x="0" y="0"/>
          <a:chExt cx="0" cy="0"/>
        </a:xfrm>
      </p:grpSpPr>
      <p:sp>
        <p:nvSpPr>
          <p:cNvPr id="2" name="Text 0"/>
          <p:cNvSpPr txBox="1"/>
          <p:nvPr/>
        </p:nvSpPr>
        <p:spPr>
          <a:xfrm>
            <a:off x="640080" y="2057400"/>
            <a:ext cx="2743200" cy="731520"/>
          </a:xfrm>
          <a:prstGeom prst="rect">
            <a:avLst/>
          </a:prstGeom>
          <a:noFill/>
          <a:ln/>
        </p:spPr>
        <p:txBody>
          <a:bodyPr wrap="square" lIns="0" tIns="0" rIns="0" bIns="0" rtlCol="0" anchor="ctr"/>
          <a:lstStyle/>
          <a:p>
            <a:pPr indent="0" marL="0">
              <a:buNone/>
            </a:pPr>
            <a:r>
              <a:rPr lang="en-US" sz="4400" b="1" dirty="0">
                <a:solidFill>
                  <a:srgbClr val="FF6B35"/>
                </a:solidFill>
                <a:latin typeface="Courier New" pitchFamily="34" charset="0"/>
                <a:ea typeface="Courier New" pitchFamily="34" charset="-122"/>
                <a:cs typeface="Courier New" pitchFamily="34" charset="-120"/>
              </a:rPr>
              <a:t>D</a:t>
            </a:r>
            <a:endParaRPr lang="en-US" sz="4400" dirty="0"/>
          </a:p>
        </p:txBody>
      </p:sp>
      <p:sp>
        <p:nvSpPr>
          <p:cNvPr id="3" name="Text 1"/>
          <p:cNvSpPr txBox="1"/>
          <p:nvPr/>
        </p:nvSpPr>
        <p:spPr>
          <a:xfrm>
            <a:off x="640080" y="2788920"/>
            <a:ext cx="10908792"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Production practice</a:t>
            </a:r>
            <a:endParaRPr lang="en-US" sz="3800" dirty="0"/>
          </a:p>
        </p:txBody>
      </p:sp>
      <p:sp>
        <p:nvSpPr>
          <p:cNvPr id="4" name="Text 2"/>
          <p:cNvSpPr txBox="1"/>
          <p:nvPr/>
        </p:nvSpPr>
        <p:spPr>
          <a:xfrm>
            <a:off x="640080" y="3794760"/>
            <a:ext cx="8727034" cy="822960"/>
          </a:xfrm>
          <a:prstGeom prst="rect">
            <a:avLst/>
          </a:prstGeom>
          <a:noFill/>
          <a:ln/>
        </p:spPr>
        <p:txBody>
          <a:bodyPr wrap="square" lIns="0" tIns="0" rIns="0" bIns="0" rtlCol="0" anchor="ctr"/>
          <a:lstStyle/>
          <a:p>
            <a:pPr indent="0" marL="0">
              <a:lnSpc>
                <a:spcPts val="2400"/>
              </a:lnSpc>
              <a:buNone/>
            </a:pPr>
            <a:r>
              <a:rPr lang="en-US" sz="1600" dirty="0">
                <a:solidFill>
                  <a:srgbClr val="A9B6C4"/>
                </a:solidFill>
                <a:latin typeface="Calibri" pitchFamily="34" charset="0"/>
                <a:ea typeface="Calibri" pitchFamily="34" charset="-122"/>
                <a:cs typeface="Calibri" pitchFamily="34" charset="-120"/>
              </a:rPr>
              <a:t>The habits that separate a demo from a service.</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Treat prompts as versioned artifacts</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They are code, they regress, and they are usually ungoverned</a:t>
            </a:r>
            <a:endParaRPr lang="en-US" sz="1500" dirty="0"/>
          </a:p>
        </p:txBody>
      </p:sp>
      <p:sp>
        <p:nvSpPr>
          <p:cNvPr id="4" name="Text 2"/>
          <p:cNvSpPr txBox="1"/>
          <p:nvPr/>
        </p:nvSpPr>
        <p:spPr>
          <a:xfrm>
            <a:off x="640080" y="1874520"/>
            <a:ext cx="10543032" cy="1993392"/>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Store prompts in the repository, not in a database row someone edits at midnight.</a:t>
            </a:r>
            <a:endParaRPr lang="en-US" sz="1500" dirty="0"/>
          </a:p>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Version them, review them, and run the eval gate on every change.</a:t>
            </a:r>
            <a:endParaRPr lang="en-US" sz="1500" dirty="0"/>
          </a:p>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Record which prompt version produced every logged output, or you cannot debug anything later.</a:t>
            </a:r>
            <a:endParaRPr lang="en-US" sz="1500" dirty="0"/>
          </a:p>
          <a:p>
            <a:pPr marL="342900" indent="-342900">
              <a:lnSpc>
                <a:spcPts val="2100"/>
              </a:lnSpc>
              <a:spcAft>
                <a:spcPts val="700"/>
              </a:spcAft>
              <a:buSzPct val="100000"/>
              <a:buChar char="•"/>
            </a:pPr>
            <a:r>
              <a:rPr lang="en-US" sz="1500" dirty="0">
                <a:solidFill>
                  <a:srgbClr val="2A3746"/>
                </a:solidFill>
                <a:latin typeface="Calibri" pitchFamily="34" charset="0"/>
                <a:ea typeface="Calibri" pitchFamily="34" charset="-122"/>
                <a:cs typeface="Calibri" pitchFamily="34" charset="-120"/>
              </a:rPr>
              <a:t>Keep the model identifier and decoding parameters alongside the prompt version. All three together define behaviour.</a:t>
            </a:r>
            <a:endParaRPr lang="en-US" sz="1500" dirty="0"/>
          </a:p>
        </p:txBody>
      </p:sp>
      <p:sp>
        <p:nvSpPr>
          <p:cNvPr id="5" name="Shape 3"/>
          <p:cNvSpPr/>
          <p:nvPr/>
        </p:nvSpPr>
        <p:spPr>
          <a:xfrm>
            <a:off x="640080" y="4023360"/>
            <a:ext cx="10908792" cy="1051560"/>
          </a:xfrm>
          <a:prstGeom prst="roundRect">
            <a:avLst>
              <a:gd name="adj" fmla="val 5217"/>
            </a:avLst>
          </a:prstGeom>
          <a:solidFill>
            <a:srgbClr val="FBF0E2"/>
          </a:solidFill>
          <a:ln w="12700">
            <a:solidFill>
              <a:srgbClr val="E1E7ED"/>
            </a:solidFill>
            <a:prstDash val="solid"/>
          </a:ln>
        </p:spPr>
      </p:sp>
      <p:sp>
        <p:nvSpPr>
          <p:cNvPr id="6" name="Text 4"/>
          <p:cNvSpPr txBox="1"/>
          <p:nvPr/>
        </p:nvSpPr>
        <p:spPr>
          <a:xfrm>
            <a:off x="1005840" y="4206240"/>
            <a:ext cx="10177272" cy="731520"/>
          </a:xfrm>
          <a:prstGeom prst="rect">
            <a:avLst/>
          </a:prstGeom>
          <a:noFill/>
          <a:ln/>
        </p:spPr>
        <p:txBody>
          <a:bodyPr wrap="square" lIns="0" tIns="0" rIns="0" bIns="0" rtlCol="0" anchor="ctr"/>
          <a:lstStyle/>
          <a:p>
            <a:pPr indent="0" marL="0">
              <a:lnSpc>
                <a:spcPts val="2000"/>
              </a:lnSpc>
              <a:buNone/>
            </a:pPr>
            <a:r>
              <a:rPr lang="en-US" sz="1400" dirty="0">
                <a:solidFill>
                  <a:srgbClr val="5A4415"/>
                </a:solidFill>
                <a:latin typeface="Calibri" pitchFamily="34" charset="0"/>
                <a:ea typeface="Calibri" pitchFamily="34" charset="-122"/>
                <a:cs typeface="Calibri" pitchFamily="34" charset="-120"/>
              </a:rPr>
              <a:t>If you cannot answer "what exactly produced this output six weeks ago", you do not have a service, you have a demo that has been running for a while.</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What to log, and what never to log</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You will be debugging behaviour you cannot reproduce</a:t>
            </a:r>
            <a:endParaRPr lang="en-US" sz="1500" dirty="0"/>
          </a:p>
        </p:txBody>
      </p:sp>
      <p:sp>
        <p:nvSpPr>
          <p:cNvPr id="4" name="Shape 2"/>
          <p:cNvSpPr/>
          <p:nvPr/>
        </p:nvSpPr>
        <p:spPr>
          <a:xfrm>
            <a:off x="640080" y="1874520"/>
            <a:ext cx="5271516" cy="2834640"/>
          </a:xfrm>
          <a:prstGeom prst="roundRect">
            <a:avLst>
              <a:gd name="adj" fmla="val 1935"/>
            </a:avLst>
          </a:prstGeom>
          <a:solidFill>
            <a:srgbClr val="E7F2EE"/>
          </a:solidFill>
          <a:ln w="12700">
            <a:solidFill>
              <a:srgbClr val="E1E7ED"/>
            </a:solidFill>
            <a:prstDash val="solid"/>
          </a:ln>
        </p:spPr>
      </p:sp>
      <p:sp>
        <p:nvSpPr>
          <p:cNvPr id="5" name="Text 3"/>
          <p:cNvSpPr txBox="1"/>
          <p:nvPr/>
        </p:nvSpPr>
        <p:spPr>
          <a:xfrm>
            <a:off x="960120" y="2029968"/>
            <a:ext cx="2743200" cy="365760"/>
          </a:xfrm>
          <a:prstGeom prst="rect">
            <a:avLst/>
          </a:prstGeom>
          <a:noFill/>
          <a:ln/>
        </p:spPr>
        <p:txBody>
          <a:bodyPr wrap="square" lIns="0" tIns="0" rIns="0" bIns="0" rtlCol="0" anchor="ctr"/>
          <a:lstStyle/>
          <a:p>
            <a:pPr indent="0" marL="0">
              <a:buNone/>
            </a:pPr>
            <a:r>
              <a:rPr lang="en-US" sz="1400" b="1" dirty="0">
                <a:solidFill>
                  <a:srgbClr val="17513F"/>
                </a:solidFill>
                <a:latin typeface="Calibri" pitchFamily="34" charset="0"/>
                <a:ea typeface="Calibri" pitchFamily="34" charset="-122"/>
                <a:cs typeface="Calibri" pitchFamily="34" charset="-120"/>
              </a:rPr>
              <a:t>Always log</a:t>
            </a:r>
            <a:endParaRPr lang="en-US" sz="1400" dirty="0"/>
          </a:p>
        </p:txBody>
      </p:sp>
      <p:sp>
        <p:nvSpPr>
          <p:cNvPr id="6" name="Text 4"/>
          <p:cNvSpPr txBox="1"/>
          <p:nvPr/>
        </p:nvSpPr>
        <p:spPr>
          <a:xfrm>
            <a:off x="960120" y="2432304"/>
            <a:ext cx="4631436" cy="2377440"/>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300" dirty="0">
                <a:solidFill>
                  <a:srgbClr val="2A3746"/>
                </a:solidFill>
                <a:latin typeface="Calibri" pitchFamily="34" charset="0"/>
                <a:ea typeface="Calibri" pitchFamily="34" charset="-122"/>
                <a:cs typeface="Calibri" pitchFamily="34" charset="-120"/>
              </a:rPr>
              <a:t>Model id, prompt version, decoding params</a:t>
            </a:r>
            <a:endParaRPr lang="en-US" sz="1300" dirty="0"/>
          </a:p>
          <a:p>
            <a:pPr marL="342900" indent="-342900">
              <a:lnSpc>
                <a:spcPts val="2100"/>
              </a:lnSpc>
              <a:spcAft>
                <a:spcPts val="700"/>
              </a:spcAft>
              <a:buSzPct val="100000"/>
              <a:buChar char="•"/>
            </a:pPr>
            <a:r>
              <a:rPr lang="en-US" sz="1300" dirty="0">
                <a:solidFill>
                  <a:srgbClr val="2A3746"/>
                </a:solidFill>
                <a:latin typeface="Calibri" pitchFamily="34" charset="0"/>
                <a:ea typeface="Calibri" pitchFamily="34" charset="-122"/>
                <a:cs typeface="Calibri" pitchFamily="34" charset="-120"/>
              </a:rPr>
              <a:t>Token counts in and out, and latency split</a:t>
            </a:r>
            <a:endParaRPr lang="en-US" sz="1300" dirty="0"/>
          </a:p>
          <a:p>
            <a:pPr marL="342900" indent="-342900">
              <a:lnSpc>
                <a:spcPts val="2100"/>
              </a:lnSpc>
              <a:spcAft>
                <a:spcPts val="700"/>
              </a:spcAft>
              <a:buSzPct val="100000"/>
              <a:buChar char="•"/>
            </a:pPr>
            <a:r>
              <a:rPr lang="en-US" sz="1300" dirty="0">
                <a:solidFill>
                  <a:srgbClr val="2A3746"/>
                </a:solidFill>
                <a:latin typeface="Calibri" pitchFamily="34" charset="0"/>
                <a:ea typeface="Calibri" pitchFamily="34" charset="-122"/>
                <a:cs typeface="Calibri" pitchFamily="34" charset="-120"/>
              </a:rPr>
              <a:t>Validator verdict and any retry</a:t>
            </a:r>
            <a:endParaRPr lang="en-US" sz="1300" dirty="0"/>
          </a:p>
          <a:p>
            <a:pPr marL="342900" indent="-342900">
              <a:lnSpc>
                <a:spcPts val="2100"/>
              </a:lnSpc>
              <a:spcAft>
                <a:spcPts val="700"/>
              </a:spcAft>
              <a:buSzPct val="100000"/>
              <a:buChar char="•"/>
            </a:pPr>
            <a:r>
              <a:rPr lang="en-US" sz="1300" dirty="0">
                <a:solidFill>
                  <a:srgbClr val="2A3746"/>
                </a:solidFill>
                <a:latin typeface="Calibri" pitchFamily="34" charset="0"/>
                <a:ea typeface="Calibri" pitchFamily="34" charset="-122"/>
                <a:cs typeface="Calibri" pitchFamily="34" charset="-120"/>
              </a:rPr>
              <a:t>Which tier served the request</a:t>
            </a:r>
            <a:endParaRPr lang="en-US" sz="1300" dirty="0"/>
          </a:p>
          <a:p>
            <a:pPr marL="342900" indent="-342900">
              <a:lnSpc>
                <a:spcPts val="2100"/>
              </a:lnSpc>
              <a:spcAft>
                <a:spcPts val="700"/>
              </a:spcAft>
              <a:buSzPct val="100000"/>
              <a:buChar char="•"/>
            </a:pPr>
            <a:r>
              <a:rPr lang="en-US" sz="1300" dirty="0">
                <a:solidFill>
                  <a:srgbClr val="2A3746"/>
                </a:solidFill>
                <a:latin typeface="Calibri" pitchFamily="34" charset="0"/>
                <a:ea typeface="Calibri" pitchFamily="34" charset="-122"/>
                <a:cs typeface="Calibri" pitchFamily="34" charset="-120"/>
              </a:rPr>
              <a:t>A stable request id across the whole chain</a:t>
            </a:r>
            <a:endParaRPr lang="en-US" sz="1300" dirty="0"/>
          </a:p>
        </p:txBody>
      </p:sp>
      <p:sp>
        <p:nvSpPr>
          <p:cNvPr id="7" name="Shape 5"/>
          <p:cNvSpPr/>
          <p:nvPr/>
        </p:nvSpPr>
        <p:spPr>
          <a:xfrm>
            <a:off x="6277356" y="1874520"/>
            <a:ext cx="5271516" cy="2834640"/>
          </a:xfrm>
          <a:prstGeom prst="roundRect">
            <a:avLst>
              <a:gd name="adj" fmla="val 1935"/>
            </a:avLst>
          </a:prstGeom>
          <a:solidFill>
            <a:srgbClr val="F7E7E2"/>
          </a:solidFill>
          <a:ln w="12700">
            <a:solidFill>
              <a:srgbClr val="E1E7ED"/>
            </a:solidFill>
            <a:prstDash val="solid"/>
          </a:ln>
        </p:spPr>
      </p:sp>
      <p:sp>
        <p:nvSpPr>
          <p:cNvPr id="8" name="Text 6"/>
          <p:cNvSpPr txBox="1"/>
          <p:nvPr/>
        </p:nvSpPr>
        <p:spPr>
          <a:xfrm>
            <a:off x="6597396" y="2029968"/>
            <a:ext cx="3657600" cy="365760"/>
          </a:xfrm>
          <a:prstGeom prst="rect">
            <a:avLst/>
          </a:prstGeom>
          <a:noFill/>
          <a:ln/>
        </p:spPr>
        <p:txBody>
          <a:bodyPr wrap="square" lIns="0" tIns="0" rIns="0" bIns="0" rtlCol="0" anchor="ctr"/>
          <a:lstStyle/>
          <a:p>
            <a:pPr indent="0" marL="0">
              <a:buNone/>
            </a:pPr>
            <a:r>
              <a:rPr lang="en-US" sz="1400" b="1" dirty="0">
                <a:solidFill>
                  <a:srgbClr val="7A2E1C"/>
                </a:solidFill>
                <a:latin typeface="Calibri" pitchFamily="34" charset="0"/>
                <a:ea typeface="Calibri" pitchFamily="34" charset="-122"/>
                <a:cs typeface="Calibri" pitchFamily="34" charset="-120"/>
              </a:rPr>
              <a:t>Never log unguarded</a:t>
            </a:r>
            <a:endParaRPr lang="en-US" sz="1400" dirty="0"/>
          </a:p>
        </p:txBody>
      </p:sp>
      <p:sp>
        <p:nvSpPr>
          <p:cNvPr id="9" name="Text 7"/>
          <p:cNvSpPr txBox="1"/>
          <p:nvPr/>
        </p:nvSpPr>
        <p:spPr>
          <a:xfrm>
            <a:off x="6597396" y="2432304"/>
            <a:ext cx="4631436" cy="1993392"/>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300" dirty="0">
                <a:solidFill>
                  <a:srgbClr val="2A3746"/>
                </a:solidFill>
                <a:latin typeface="Calibri" pitchFamily="34" charset="0"/>
                <a:ea typeface="Calibri" pitchFamily="34" charset="-122"/>
                <a:cs typeface="Calibri" pitchFamily="34" charset="-120"/>
              </a:rPr>
              <a:t>Raw prompts containing customer data</a:t>
            </a:r>
            <a:endParaRPr lang="en-US" sz="1300" dirty="0"/>
          </a:p>
          <a:p>
            <a:pPr marL="342900" indent="-342900">
              <a:lnSpc>
                <a:spcPts val="2100"/>
              </a:lnSpc>
              <a:spcAft>
                <a:spcPts val="700"/>
              </a:spcAft>
              <a:buSzPct val="100000"/>
              <a:buChar char="•"/>
            </a:pPr>
            <a:r>
              <a:rPr lang="en-US" sz="1300" dirty="0">
                <a:solidFill>
                  <a:srgbClr val="2A3746"/>
                </a:solidFill>
                <a:latin typeface="Calibri" pitchFamily="34" charset="0"/>
                <a:ea typeface="Calibri" pitchFamily="34" charset="-122"/>
                <a:cs typeface="Calibri" pitchFamily="34" charset="-120"/>
              </a:rPr>
              <a:t>Secrets pasted by users into a chat box</a:t>
            </a:r>
            <a:endParaRPr lang="en-US" sz="1300" dirty="0"/>
          </a:p>
          <a:p>
            <a:pPr marL="342900" indent="-342900">
              <a:lnSpc>
                <a:spcPts val="2100"/>
              </a:lnSpc>
              <a:spcAft>
                <a:spcPts val="700"/>
              </a:spcAft>
              <a:buSzPct val="100000"/>
              <a:buChar char="•"/>
            </a:pPr>
            <a:r>
              <a:rPr lang="en-US" sz="1300" dirty="0">
                <a:solidFill>
                  <a:srgbClr val="2A3746"/>
                </a:solidFill>
                <a:latin typeface="Calibri" pitchFamily="34" charset="0"/>
                <a:ea typeface="Calibri" pitchFamily="34" charset="-122"/>
                <a:cs typeface="Calibri" pitchFamily="34" charset="-120"/>
              </a:rPr>
              <a:t>Anything you would not put in a support ticket</a:t>
            </a:r>
            <a:endParaRPr lang="en-US" sz="1300" dirty="0"/>
          </a:p>
          <a:p>
            <a:pPr marL="342900" indent="-342900">
              <a:lnSpc>
                <a:spcPts val="2100"/>
              </a:lnSpc>
              <a:spcAft>
                <a:spcPts val="700"/>
              </a:spcAft>
              <a:buSzPct val="100000"/>
              <a:buChar char="•"/>
            </a:pPr>
            <a:r>
              <a:rPr lang="en-US" sz="1300" dirty="0">
                <a:solidFill>
                  <a:srgbClr val="2A3746"/>
                </a:solidFill>
                <a:latin typeface="Calibri" pitchFamily="34" charset="0"/>
                <a:ea typeface="Calibri" pitchFamily="34" charset="-122"/>
                <a:cs typeface="Calibri" pitchFamily="34" charset="-120"/>
              </a:rPr>
              <a:t>Full outputs, if they may echo the above</a:t>
            </a:r>
            <a:endParaRPr lang="en-US" sz="1300" dirty="0"/>
          </a:p>
        </p:txBody>
      </p:sp>
      <p:sp>
        <p:nvSpPr>
          <p:cNvPr id="10" name="Text 8"/>
          <p:cNvSpPr txBox="1"/>
          <p:nvPr/>
        </p:nvSpPr>
        <p:spPr>
          <a:xfrm>
            <a:off x="640080" y="4800600"/>
            <a:ext cx="10543032" cy="1097280"/>
          </a:xfrm>
          <a:prstGeom prst="rect">
            <a:avLst/>
          </a:prstGeom>
          <a:noFill/>
          <a:ln/>
        </p:spPr>
        <p:txBody>
          <a:bodyPr wrap="square" lIns="0" tIns="0" rIns="0" bIns="0" rtlCol="0" anchor="t"/>
          <a:lstStyle/>
          <a:p>
            <a:pPr indent="0" marL="0">
              <a:lnSpc>
                <a:spcPts val="2200"/>
              </a:lnSpc>
              <a:buNone/>
            </a:pPr>
            <a:r>
              <a:rPr lang="en-US" sz="1450" dirty="0">
                <a:solidFill>
                  <a:srgbClr val="2A3746"/>
                </a:solidFill>
                <a:latin typeface="Calibri" pitchFamily="34" charset="0"/>
                <a:ea typeface="Calibri" pitchFamily="34" charset="-122"/>
                <a:cs typeface="Calibri" pitchFamily="34" charset="-120"/>
              </a:rPr>
              <a:t>Sample and redact rather than choosing between blind and reckless. A one percent redacted sample debugs most issues.</a:t>
            </a:r>
            <a:endParaRPr lang="en-US" sz="14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Failure handling that does not amplify failure</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The model is a flaky dependency. Treat it like one.</a:t>
            </a:r>
            <a:endParaRPr lang="en-US" sz="1500" dirty="0"/>
          </a:p>
        </p:txBody>
      </p:sp>
      <p:sp>
        <p:nvSpPr>
          <p:cNvPr id="4" name="Text 2"/>
          <p:cNvSpPr txBox="1"/>
          <p:nvPr/>
        </p:nvSpPr>
        <p:spPr>
          <a:xfrm>
            <a:off x="640080" y="1874520"/>
            <a:ext cx="10543032" cy="2377440"/>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450" dirty="0">
                <a:solidFill>
                  <a:srgbClr val="2A3746"/>
                </a:solidFill>
                <a:latin typeface="Calibri" pitchFamily="34" charset="0"/>
                <a:ea typeface="Calibri" pitchFamily="34" charset="-122"/>
                <a:cs typeface="Calibri" pitchFamily="34" charset="-120"/>
              </a:rPr>
              <a:t>Set an explicit token cap on every call. An unbounded generation is an unbounded outage, as a reasoning model will demonstrate for you.</a:t>
            </a:r>
            <a:endParaRPr lang="en-US" sz="1450" dirty="0"/>
          </a:p>
          <a:p>
            <a:pPr marL="342900" indent="-342900">
              <a:lnSpc>
                <a:spcPts val="2100"/>
              </a:lnSpc>
              <a:spcAft>
                <a:spcPts val="700"/>
              </a:spcAft>
              <a:buSzPct val="100000"/>
              <a:buChar char="•"/>
            </a:pPr>
            <a:r>
              <a:rPr lang="en-US" sz="1450" dirty="0">
                <a:solidFill>
                  <a:srgbClr val="2A3746"/>
                </a:solidFill>
                <a:latin typeface="Calibri" pitchFamily="34" charset="0"/>
                <a:ea typeface="Calibri" pitchFamily="34" charset="-122"/>
                <a:cs typeface="Calibri" pitchFamily="34" charset="-120"/>
              </a:rPr>
              <a:t>Timeouts must be shorter than your caller patience, and retries must be bounded and jittered.</a:t>
            </a:r>
            <a:endParaRPr lang="en-US" sz="1450" dirty="0"/>
          </a:p>
          <a:p>
            <a:pPr marL="342900" indent="-342900">
              <a:lnSpc>
                <a:spcPts val="2100"/>
              </a:lnSpc>
              <a:spcAft>
                <a:spcPts val="700"/>
              </a:spcAft>
              <a:buSzPct val="100000"/>
              <a:buChar char="•"/>
            </a:pPr>
            <a:r>
              <a:rPr lang="en-US" sz="1450" dirty="0">
                <a:solidFill>
                  <a:srgbClr val="2A3746"/>
                </a:solidFill>
                <a:latin typeface="Calibri" pitchFamily="34" charset="0"/>
                <a:ea typeface="Calibri" pitchFamily="34" charset="-122"/>
                <a:cs typeface="Calibri" pitchFamily="34" charset="-120"/>
              </a:rPr>
              <a:t>Retry on malformed output, but change something. A second identical call at temperature zero returns the identical failure.</a:t>
            </a:r>
            <a:endParaRPr lang="en-US" sz="1450" dirty="0"/>
          </a:p>
          <a:p>
            <a:pPr marL="342900" indent="-342900">
              <a:lnSpc>
                <a:spcPts val="2100"/>
              </a:lnSpc>
              <a:spcAft>
                <a:spcPts val="700"/>
              </a:spcAft>
              <a:buSzPct val="100000"/>
              <a:buChar char="•"/>
            </a:pPr>
            <a:r>
              <a:rPr lang="en-US" sz="1450" dirty="0">
                <a:solidFill>
                  <a:srgbClr val="2A3746"/>
                </a:solidFill>
                <a:latin typeface="Calibri" pitchFamily="34" charset="0"/>
                <a:ea typeface="Calibri" pitchFamily="34" charset="-122"/>
                <a:cs typeface="Calibri" pitchFamily="34" charset="-120"/>
              </a:rPr>
              <a:t>Circuit break to the deterministic path. Degraded and predictable beats clever and stalled.</a:t>
            </a:r>
            <a:endParaRPr lang="en-US" sz="1450" dirty="0"/>
          </a:p>
          <a:p>
            <a:pPr marL="342900" indent="-342900">
              <a:lnSpc>
                <a:spcPts val="2100"/>
              </a:lnSpc>
              <a:spcAft>
                <a:spcPts val="700"/>
              </a:spcAft>
              <a:buSzPct val="100000"/>
              <a:buChar char="•"/>
            </a:pPr>
            <a:r>
              <a:rPr lang="en-US" sz="1450" dirty="0">
                <a:solidFill>
                  <a:srgbClr val="2A3746"/>
                </a:solidFill>
                <a:latin typeface="Calibri" pitchFamily="34" charset="0"/>
                <a:ea typeface="Calibri" pitchFamily="34" charset="-122"/>
                <a:cs typeface="Calibri" pitchFamily="34" charset="-120"/>
              </a:rPr>
              <a:t>Make the escalation tier a budget, not an unbounded fallback, or one bad day becomes an invoice.</a:t>
            </a:r>
            <a:endParaRPr lang="en-US" sz="1450" dirty="0"/>
          </a:p>
        </p:txBody>
      </p:sp>
      <p:sp>
        <p:nvSpPr>
          <p:cNvPr id="5" name="Shape 3"/>
          <p:cNvSpPr/>
          <p:nvPr/>
        </p:nvSpPr>
        <p:spPr>
          <a:xfrm>
            <a:off x="640080" y="4480560"/>
            <a:ext cx="10908792" cy="777240"/>
          </a:xfrm>
          <a:prstGeom prst="roundRect">
            <a:avLst>
              <a:gd name="adj" fmla="val 7059"/>
            </a:avLst>
          </a:prstGeom>
          <a:solidFill>
            <a:srgbClr val="F1F4F7"/>
          </a:solidFill>
          <a:ln w="12700">
            <a:solidFill>
              <a:srgbClr val="E1E7ED"/>
            </a:solidFill>
            <a:prstDash val="solid"/>
          </a:ln>
        </p:spPr>
      </p:sp>
      <p:sp>
        <p:nvSpPr>
          <p:cNvPr id="6" name="Text 4"/>
          <p:cNvSpPr txBox="1"/>
          <p:nvPr/>
        </p:nvSpPr>
        <p:spPr>
          <a:xfrm>
            <a:off x="1005840" y="4617720"/>
            <a:ext cx="10177272" cy="548640"/>
          </a:xfrm>
          <a:prstGeom prst="rect">
            <a:avLst/>
          </a:prstGeom>
          <a:noFill/>
          <a:ln/>
        </p:spPr>
        <p:txBody>
          <a:bodyPr wrap="square" lIns="0" tIns="0" rIns="0" bIns="0" rtlCol="0" anchor="ctr"/>
          <a:lstStyle/>
          <a:p>
            <a:pPr indent="0" marL="0">
              <a:lnSpc>
                <a:spcPts val="1900"/>
              </a:lnSpc>
              <a:buNone/>
            </a:pPr>
            <a:r>
              <a:rPr lang="en-US" sz="1350" dirty="0">
                <a:solidFill>
                  <a:srgbClr val="2A3746"/>
                </a:solidFill>
                <a:latin typeface="Calibri" pitchFamily="34" charset="0"/>
                <a:ea typeface="Calibri" pitchFamily="34" charset="-122"/>
                <a:cs typeface="Calibri" pitchFamily="34" charset="-120"/>
              </a:rPr>
              <a:t>The retry rule is the one people get wrong: vary the temperature, the prompt, or the model, otherwise you have built a slower way to fail.</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Model upgrades are migrations</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Plan them like a database change, not a version bump</a:t>
            </a:r>
            <a:endParaRPr lang="en-US" sz="15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40080" y="1920240"/>
          <a:ext cx="10908792" cy="914400"/>
        </p:xfrm>
        <a:graphic>
          <a:graphicData uri="http://schemas.openxmlformats.org/drawingml/2006/table">
            <a:tbl>
              <a:tblPr/>
              <a:tblGrid>
                <a:gridCol w="822960"/>
                <a:gridCol w="10085832"/>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Step</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you do</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r>
              <a:tr h="438912">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Run the new model against the frozen golden set, same harness, same conditions</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438912">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Compare per case rather than in aggregate. Find what broke, not whether the mean moved</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438912">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Shadow the new model on live traffic without serving it, and diff the outputs</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438912">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Canary a small share behind the same gates, watching the validator failure rate</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438912">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300" dirty="0">
                          <a:solidFill>
                            <a:srgbClr val="2A3746"/>
                          </a:solidFill>
                          <a:latin typeface="Calibri" pitchFamily="34" charset="0"/>
                          <a:ea typeface="Calibri" pitchFamily="34" charset="-122"/>
                          <a:cs typeface="Calibri" pitchFamily="34" charset="-120"/>
                        </a:rPr>
                        <a:t>Keep the old model deployable until the canary has been clean for a full traffic cycle</a:t>
                      </a:r>
                      <a:endParaRPr lang="en-US" sz="13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bl>
          </a:graphicData>
        </a:graphic>
      </p:graphicFrame>
      <p:sp>
        <p:nvSpPr>
          <p:cNvPr id="5" name="Text 2"/>
          <p:cNvSpPr txBox="1"/>
          <p:nvPr/>
        </p:nvSpPr>
        <p:spPr>
          <a:xfrm>
            <a:off x="640080" y="4434840"/>
            <a:ext cx="10543032" cy="1097280"/>
          </a:xfrm>
          <a:prstGeom prst="rect">
            <a:avLst/>
          </a:prstGeom>
          <a:noFill/>
          <a:ln/>
        </p:spPr>
        <p:txBody>
          <a:bodyPr wrap="square" lIns="0" tIns="0" rIns="0" bIns="0" rtlCol="0" anchor="t"/>
          <a:lstStyle/>
          <a:p>
            <a:pPr indent="0" marL="0">
              <a:lnSpc>
                <a:spcPts val="2200"/>
              </a:lnSpc>
              <a:buNone/>
            </a:pPr>
            <a:r>
              <a:rPr lang="en-US" sz="1450" dirty="0">
                <a:solidFill>
                  <a:srgbClr val="2A3746"/>
                </a:solidFill>
                <a:latin typeface="Calibri" pitchFamily="34" charset="0"/>
                <a:ea typeface="Calibri" pitchFamily="34" charset="-122"/>
                <a:cs typeface="Calibri" pitchFamily="34" charset="-120"/>
              </a:rPr>
              <a:t>Prompts are usually tuned to a specific model. An upgrade that keeps the prompt unchanged is not a controlled experiment, it is a hope.</a:t>
            </a:r>
            <a:endParaRPr lang="en-US" sz="14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16202A"/>
                </a:solidFill>
                <a:latin typeface="Cambria" pitchFamily="34" charset="0"/>
                <a:ea typeface="Cambria" pitchFamily="34" charset="-122"/>
                <a:cs typeface="Cambria" pitchFamily="34" charset="-120"/>
              </a:rPr>
              <a:t>Security surfaces specific to this stack</a:t>
            </a:r>
            <a:endParaRPr lang="en-US" sz="3300" dirty="0"/>
          </a:p>
        </p:txBody>
      </p:sp>
      <p:sp>
        <p:nvSpPr>
          <p:cNvPr id="3" name="Text 1"/>
          <p:cNvSpPr txBox="1"/>
          <p:nvPr/>
        </p:nvSpPr>
        <p:spPr>
          <a:xfrm>
            <a:off x="640080" y="1170432"/>
            <a:ext cx="10908792" cy="457200"/>
          </a:xfrm>
          <a:prstGeom prst="rect">
            <a:avLst/>
          </a:prstGeom>
          <a:noFill/>
          <a:ln/>
        </p:spPr>
        <p:txBody>
          <a:bodyPr wrap="square" lIns="0" tIns="0" rIns="0" bIns="0" rtlCol="0" anchor="t"/>
          <a:lstStyle/>
          <a:p>
            <a:pPr indent="0" marL="0">
              <a:buNone/>
            </a:pPr>
            <a:r>
              <a:rPr lang="en-US" sz="1500" i="1" dirty="0">
                <a:solidFill>
                  <a:srgbClr val="6B7A8C"/>
                </a:solidFill>
                <a:latin typeface="Calibri" pitchFamily="34" charset="0"/>
                <a:ea typeface="Calibri" pitchFamily="34" charset="-122"/>
                <a:cs typeface="Calibri" pitchFamily="34" charset="-120"/>
              </a:rPr>
              <a:t>Short version, because each of these deserves its own session</a:t>
            </a:r>
            <a:endParaRPr lang="en-US" sz="15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40080" y="1920240"/>
          <a:ext cx="10908792" cy="914400"/>
        </p:xfrm>
        <a:graphic>
          <a:graphicData uri="http://schemas.openxmlformats.org/drawingml/2006/table">
            <a:tbl>
              <a:tblPr/>
              <a:tblGrid>
                <a:gridCol w="2377440"/>
                <a:gridCol w="4206240"/>
                <a:gridCol w="4325112"/>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Surface</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The risk</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Minimum control</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solidFill>
                      <a:srgbClr val="243244"/>
                    </a:solidFill>
                  </a:tcPr>
                </a:tc>
              </a:tr>
              <a:tr h="475488">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Prompt injection</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Retrieved or user content issues instructions</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Never let model output authorise an action. Validate outside the model</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475488">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Tool authority</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The model triggers something it should not</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Tools carry their own authorisation, checked independently of the request</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475488">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Data retention</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Customer data ends up in logs or weights</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Redact before logging, scrub before training</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r h="475488">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Model provenance</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Weights of unclear origin or licence</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c>
                  <a:txBody>
                    <a:bodyPr/>
                    <a:lstStyle/>
                    <a:p>
                      <a:pPr indent="0" marL="0">
                        <a:buNone/>
                      </a:pPr>
                      <a:r>
                        <a:rPr lang="en-US" sz="1200" dirty="0">
                          <a:solidFill>
                            <a:srgbClr val="2A3746"/>
                          </a:solidFill>
                          <a:latin typeface="Calibri" pitchFamily="34" charset="0"/>
                          <a:ea typeface="Calibri" pitchFamily="34" charset="-122"/>
                          <a:cs typeface="Calibri" pitchFamily="34" charset="-120"/>
                        </a:rPr>
                        <a:t>Pin versions and digests, record licence per model</a:t>
                      </a:r>
                      <a:endParaRPr lang="en-US" sz="1200" dirty="0">
                        <a:latin typeface="Calibri" charset="0"/>
                        <a:ea typeface="Calibri" charset="0"/>
                        <a:cs typeface="Calibri" charset="0"/>
                      </a:endParaRPr>
                    </a:p>
                  </a:txBody>
                  <a:tcPr marL="91440" marR="91440" marT="45720" marB="45720" anchor="ctr">
                    <a:lnL w="12700" cap="flat" cmpd="sng" algn="ctr">
                      <a:solidFill>
                        <a:srgbClr val="E1E7ED"/>
                      </a:solidFill>
                      <a:prstDash val="solid"/>
                      <a:round/>
                      <a:headEnd type="none" w="med" len="med"/>
                      <a:tailEnd type="none" w="med" len="med"/>
                    </a:lnL>
                    <a:lnR w="12700" cap="flat" cmpd="sng" algn="ctr">
                      <a:solidFill>
                        <a:srgbClr val="E1E7ED"/>
                      </a:solidFill>
                      <a:prstDash val="solid"/>
                      <a:round/>
                      <a:headEnd type="none" w="med" len="med"/>
                      <a:tailEnd type="none" w="med" len="med"/>
                    </a:lnR>
                    <a:lnT w="12700" cap="flat" cmpd="sng" algn="ctr">
                      <a:solidFill>
                        <a:srgbClr val="E1E7ED"/>
                      </a:solidFill>
                      <a:prstDash val="solid"/>
                      <a:round/>
                      <a:headEnd type="none" w="med" len="med"/>
                      <a:tailEnd type="none" w="med" len="med"/>
                    </a:lnT>
                    <a:lnB w="12700" cap="flat" cmpd="sng" algn="ctr">
                      <a:solidFill>
                        <a:srgbClr val="E1E7ED"/>
                      </a:solidFill>
                      <a:prstDash val="solid"/>
                      <a:round/>
                      <a:headEnd type="none" w="med" len="med"/>
                      <a:tailEnd type="none" w="med" len="med"/>
                    </a:lnB>
                  </a:tcPr>
                </a:tc>
              </a:tr>
            </a:tbl>
          </a:graphicData>
        </a:graphic>
      </p:graphicFrame>
      <p:sp>
        <p:nvSpPr>
          <p:cNvPr id="5" name="Text 2"/>
          <p:cNvSpPr txBox="1"/>
          <p:nvPr/>
        </p:nvSpPr>
        <p:spPr>
          <a:xfrm>
            <a:off x="640080" y="4297680"/>
            <a:ext cx="10543032" cy="1097280"/>
          </a:xfrm>
          <a:prstGeom prst="rect">
            <a:avLst/>
          </a:prstGeom>
          <a:noFill/>
          <a:ln/>
        </p:spPr>
        <p:txBody>
          <a:bodyPr wrap="square" lIns="0" tIns="0" rIns="0" bIns="0" rtlCol="0" anchor="t"/>
          <a:lstStyle/>
          <a:p>
            <a:pPr indent="0" marL="0">
              <a:lnSpc>
                <a:spcPts val="2200"/>
              </a:lnSpc>
              <a:buNone/>
            </a:pPr>
            <a:r>
              <a:rPr lang="en-US" sz="1450" dirty="0">
                <a:solidFill>
                  <a:srgbClr val="2A3746"/>
                </a:solidFill>
                <a:latin typeface="Calibri" pitchFamily="34" charset="0"/>
                <a:ea typeface="Calibri" pitchFamily="34" charset="-122"/>
                <a:cs typeface="Calibri" pitchFamily="34" charset="-120"/>
              </a:rPr>
              <a:t>The first row is the one that matters most: treat every model output as untrusted input to the next stage, always.</a:t>
            </a:r>
            <a:endParaRPr lang="en-US" sz="14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6202A"/>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777240"/>
          </a:xfrm>
          <a:prstGeom prst="rect">
            <a:avLst/>
          </a:prstGeom>
          <a:noFill/>
          <a:ln/>
        </p:spPr>
        <p:txBody>
          <a:bodyPr wrap="square" lIns="0" tIns="0" rIns="0" bIns="0" rtlCol="0" anchor="t"/>
          <a:lstStyle/>
          <a:p>
            <a:pPr indent="0" marL="0">
              <a:buNone/>
            </a:pPr>
            <a:r>
              <a:rPr lang="en-US" sz="3300" b="1" dirty="0">
                <a:solidFill>
                  <a:srgbClr val="FFFFFF"/>
                </a:solidFill>
                <a:latin typeface="Cambria" pitchFamily="34" charset="0"/>
                <a:ea typeface="Cambria" pitchFamily="34" charset="-122"/>
                <a:cs typeface="Cambria" pitchFamily="34" charset="-120"/>
              </a:rPr>
              <a:t>The advanced checklist</a:t>
            </a:r>
            <a:endParaRPr lang="en-US" sz="3300" dirty="0"/>
          </a:p>
        </p:txBody>
      </p:sp>
      <p:sp>
        <p:nvSpPr>
          <p:cNvPr id="3" name="Text 1"/>
          <p:cNvSpPr txBox="1"/>
          <p:nvPr/>
        </p:nvSpPr>
        <p:spPr>
          <a:xfrm>
            <a:off x="640080" y="1828800"/>
            <a:ext cx="10360152" cy="3529584"/>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500" dirty="0">
                <a:solidFill>
                  <a:srgbClr val="DCE4EC"/>
                </a:solidFill>
                <a:latin typeface="Calibri" pitchFamily="34" charset="0"/>
                <a:ea typeface="Calibri" pitchFamily="34" charset="-122"/>
                <a:cs typeface="Calibri" pitchFamily="34" charset="-120"/>
              </a:rPr>
              <a:t>Golden set composed by slice, with provenance, and every incident added to it permanently.</a:t>
            </a:r>
            <a:endParaRPr lang="en-US" sz="1500" dirty="0"/>
          </a:p>
          <a:p>
            <a:pPr marL="342900" indent="-342900">
              <a:lnSpc>
                <a:spcPts val="2100"/>
              </a:lnSpc>
              <a:spcAft>
                <a:spcPts val="700"/>
              </a:spcAft>
              <a:buSzPct val="100000"/>
              <a:buChar char="•"/>
            </a:pPr>
            <a:r>
              <a:rPr lang="en-US" sz="1500" dirty="0">
                <a:solidFill>
                  <a:srgbClr val="DCE4EC"/>
                </a:solidFill>
                <a:latin typeface="Calibri" pitchFamily="34" charset="0"/>
                <a:ea typeface="Calibri" pitchFamily="34" charset="-122"/>
                <a:cs typeface="Calibri" pitchFamily="34" charset="-120"/>
              </a:rPr>
              <a:t>Mechanical checks before judged ones, and any judge validated against human labels and pinned.</a:t>
            </a:r>
            <a:endParaRPr lang="en-US" sz="1500" dirty="0"/>
          </a:p>
          <a:p>
            <a:pPr marL="342900" indent="-342900">
              <a:lnSpc>
                <a:spcPts val="2100"/>
              </a:lnSpc>
              <a:spcAft>
                <a:spcPts val="700"/>
              </a:spcAft>
              <a:buSzPct val="100000"/>
              <a:buChar char="•"/>
            </a:pPr>
            <a:r>
              <a:rPr lang="en-US" sz="1500" dirty="0">
                <a:solidFill>
                  <a:srgbClr val="DCE4EC"/>
                </a:solidFill>
                <a:latin typeface="Calibri" pitchFamily="34" charset="0"/>
                <a:ea typeface="Calibri" pitchFamily="34" charset="-122"/>
                <a:cs typeface="Calibri" pitchFamily="34" charset="-120"/>
              </a:rPr>
              <a:t>Every reported number carries an interval, and paired comparisons are done per case.</a:t>
            </a:r>
            <a:endParaRPr lang="en-US" sz="1500" dirty="0"/>
          </a:p>
          <a:p>
            <a:pPr marL="342900" indent="-342900">
              <a:lnSpc>
                <a:spcPts val="2100"/>
              </a:lnSpc>
              <a:spcAft>
                <a:spcPts val="700"/>
              </a:spcAft>
              <a:buSzPct val="100000"/>
              <a:buChar char="•"/>
            </a:pPr>
            <a:r>
              <a:rPr lang="en-US" sz="1500" dirty="0">
                <a:solidFill>
                  <a:srgbClr val="DCE4EC"/>
                </a:solidFill>
                <a:latin typeface="Calibri" pitchFamily="34" charset="0"/>
                <a:ea typeface="Calibri" pitchFamily="34" charset="-122"/>
                <a:cs typeface="Calibri" pitchFamily="34" charset="-120"/>
              </a:rPr>
              <a:t>Memory sized for weights plus cache plus concurrency, not weights alone.</a:t>
            </a:r>
            <a:endParaRPr lang="en-US" sz="1500" dirty="0"/>
          </a:p>
          <a:p>
            <a:pPr marL="342900" indent="-342900">
              <a:lnSpc>
                <a:spcPts val="2100"/>
              </a:lnSpc>
              <a:spcAft>
                <a:spcPts val="700"/>
              </a:spcAft>
              <a:buSzPct val="100000"/>
              <a:buChar char="•"/>
            </a:pPr>
            <a:r>
              <a:rPr lang="en-US" sz="1500" dirty="0">
                <a:solidFill>
                  <a:srgbClr val="DCE4EC"/>
                </a:solidFill>
                <a:latin typeface="Calibri" pitchFamily="34" charset="0"/>
                <a:ea typeface="Calibri" pitchFamily="34" charset="-122"/>
                <a:cs typeface="Calibri" pitchFamily="34" charset="-120"/>
              </a:rPr>
              <a:t>Prompts ordered for prefix reuse and kept byte stable.</a:t>
            </a:r>
            <a:endParaRPr lang="en-US" sz="1500" dirty="0"/>
          </a:p>
          <a:p>
            <a:pPr marL="342900" indent="-342900">
              <a:lnSpc>
                <a:spcPts val="2100"/>
              </a:lnSpc>
              <a:spcAft>
                <a:spcPts val="700"/>
              </a:spcAft>
              <a:buSzPct val="100000"/>
              <a:buChar char="•"/>
            </a:pPr>
            <a:r>
              <a:rPr lang="en-US" sz="1500" dirty="0">
                <a:solidFill>
                  <a:srgbClr val="DCE4EC"/>
                </a:solidFill>
                <a:latin typeface="Calibri" pitchFamily="34" charset="0"/>
                <a:ea typeface="Calibri" pitchFamily="34" charset="-122"/>
                <a:cs typeface="Calibri" pitchFamily="34" charset="-120"/>
              </a:rPr>
              <a:t>Prompt, model id and decoding parameters versioned together and logged per request.</a:t>
            </a:r>
            <a:endParaRPr lang="en-US" sz="1500" dirty="0"/>
          </a:p>
          <a:p>
            <a:pPr marL="342900" indent="-342900">
              <a:lnSpc>
                <a:spcPts val="2100"/>
              </a:lnSpc>
              <a:spcAft>
                <a:spcPts val="700"/>
              </a:spcAft>
              <a:buSzPct val="100000"/>
              <a:buChar char="•"/>
            </a:pPr>
            <a:r>
              <a:rPr lang="en-US" sz="1500" dirty="0">
                <a:solidFill>
                  <a:srgbClr val="DCE4EC"/>
                </a:solidFill>
                <a:latin typeface="Calibri" pitchFamily="34" charset="0"/>
                <a:ea typeface="Calibri" pitchFamily="34" charset="-122"/>
                <a:cs typeface="Calibri" pitchFamily="34" charset="-120"/>
              </a:rPr>
              <a:t>Every call has a token cap, a timeout, a bounded retry that varies something, and a deterministic fallback.</a:t>
            </a:r>
            <a:endParaRPr lang="en-US" sz="1500" dirty="0"/>
          </a:p>
          <a:p>
            <a:pPr marL="342900" indent="-342900">
              <a:lnSpc>
                <a:spcPts val="2100"/>
              </a:lnSpc>
              <a:spcAft>
                <a:spcPts val="700"/>
              </a:spcAft>
              <a:buSzPct val="100000"/>
              <a:buChar char="•"/>
            </a:pPr>
            <a:r>
              <a:rPr lang="en-US" sz="1500" dirty="0">
                <a:solidFill>
                  <a:srgbClr val="DCE4EC"/>
                </a:solidFill>
                <a:latin typeface="Calibri" pitchFamily="34" charset="0"/>
                <a:ea typeface="Calibri" pitchFamily="34" charset="-122"/>
                <a:cs typeface="Calibri" pitchFamily="34" charset="-120"/>
              </a:rPr>
              <a:t>Model upgrades run as shadow then canary against a frozen set.</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6202A"/>
        </a:solidFill>
      </p:bgPr>
    </p:bg>
    <p:spTree>
      <p:nvGrpSpPr>
        <p:cNvPr id="1" name=""/>
        <p:cNvGrpSpPr/>
        <p:nvPr/>
      </p:nvGrpSpPr>
      <p:grpSpPr>
        <a:xfrm>
          <a:off x="0" y="0"/>
          <a:ext cx="0" cy="0"/>
          <a:chOff x="0" y="0"/>
          <a:chExt cx="0" cy="0"/>
        </a:xfrm>
      </p:grpSpPr>
      <p:sp>
        <p:nvSpPr>
          <p:cNvPr id="2" name="Text 0"/>
          <p:cNvSpPr txBox="1"/>
          <p:nvPr/>
        </p:nvSpPr>
        <p:spPr>
          <a:xfrm>
            <a:off x="640080" y="2468880"/>
            <a:ext cx="10908792" cy="9144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Measure, then decide</a:t>
            </a:r>
            <a:endParaRPr lang="en-US" sz="4200" dirty="0"/>
          </a:p>
        </p:txBody>
      </p:sp>
      <p:sp>
        <p:nvSpPr>
          <p:cNvPr id="3" name="Text 1"/>
          <p:cNvSpPr txBox="1"/>
          <p:nvPr/>
        </p:nvSpPr>
        <p:spPr>
          <a:xfrm>
            <a:off x="640080" y="3474720"/>
            <a:ext cx="8945209" cy="1097280"/>
          </a:xfrm>
          <a:prstGeom prst="rect">
            <a:avLst/>
          </a:prstGeom>
          <a:noFill/>
          <a:ln/>
        </p:spPr>
        <p:txBody>
          <a:bodyPr wrap="square" lIns="0" tIns="0" rIns="0" bIns="0" rtlCol="0" anchor="ctr"/>
          <a:lstStyle/>
          <a:p>
            <a:pPr indent="0" marL="0">
              <a:lnSpc>
                <a:spcPts val="2600"/>
              </a:lnSpc>
              <a:buNone/>
            </a:pPr>
            <a:r>
              <a:rPr lang="en-US" sz="1700" dirty="0">
                <a:solidFill>
                  <a:srgbClr val="A9B6C4"/>
                </a:solidFill>
                <a:latin typeface="Calibri" pitchFamily="34" charset="0"/>
                <a:ea typeface="Calibri" pitchFamily="34" charset="-122"/>
                <a:cs typeface="Calibri" pitchFamily="34" charset="-120"/>
              </a:rPr>
              <a:t>Everything in this track reduces to one habit: know the number before you argue about the model. The teams that ship well are not the ones with the best models, they are the ones who can tell you what changed and by how much.</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Small Language Models: Advanced Track</dc:title>
  <dc:subject>PptxGenJS Presentation</dc:subject>
  <dc:creator>SLM Workshop</dc:creator>
  <cp:lastModifiedBy>SLM Workshop</cp:lastModifiedBy>
  <cp:revision>1</cp:revision>
  <dcterms:created xsi:type="dcterms:W3CDTF">2026-09-06T05:28:00Z</dcterms:created>
  <dcterms:modified xsi:type="dcterms:W3CDTF">2026-09-06T05:28:00Z</dcterms:modified>
</cp:coreProperties>
</file>