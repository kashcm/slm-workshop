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4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5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6202A"/>
                </a:solidFill>
                <a:latin typeface="Cambria"/>
              </a:defRPr>
            </a:pPr>
            <a:r>
              <a:rPr sz="1500" b="0" i="0" u="none" strike="noStrike">
                <a:solidFill>
                  <a:srgbClr val="16202A"/>
                </a:solidFill>
                <a:latin typeface="Cambria"/>
              </a:rPr>
              <a:t>Same 32B base model, two methods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AIME 2024 pass@1 (%)</c:v>
                </c:pt>
              </c:strCache>
            </c:strRef>
          </c:tx>
          <c:spPr>
            <a:solidFill>
              <a:srgbClr val="6B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2A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A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Large-scale RL
on Qwen-32B base</c:v>
                  </c:pt>
                  <c:pt idx="1">
                    <c:v>Distillation
from R1, same base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</c:v>
                </c:pt>
                <c:pt idx="1">
                  <c:v>72.6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02A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12700" cap="flat">
              <a:solidFill>
                <a:srgbClr val="E6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6202A"/>
                </a:solidFill>
                <a:latin typeface="Cambria"/>
              </a:defRPr>
            </a:pPr>
            <a:r>
              <a:rPr sz="1500" b="0" i="0" u="none" strike="noStrike">
                <a:solidFill>
                  <a:srgbClr val="16202A"/>
                </a:solidFill>
                <a:latin typeface="Cambria"/>
              </a:rPr>
              <a:t>Same endpoint, 10x less compute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GPU-hours to reach 74.4 AIME</c:v>
                </c:pt>
              </c:strCache>
            </c:strRef>
          </c:tx>
          <c:spPr>
            <a:solidFill>
              <a:srgbClr val="6B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2A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A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9E8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Reinforcement
learning</c:v>
                  </c:pt>
                  <c:pt idx="1">
                    <c:v>On-policy
distillation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17920</c:v>
                </c:pt>
                <c:pt idx="1">
                  <c:v>1800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02A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00"/>
          <c:min val="0"/>
        </c:scaling>
        <c:delete val="0"/>
        <c:axPos val="l"/>
        <c:majorGridlines>
          <c:spPr>
            <a:ln w="12700" cap="flat">
              <a:solidFill>
                <a:srgbClr val="E6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6202A"/>
                </a:solidFill>
                <a:latin typeface="Cambria"/>
              </a:defRPr>
            </a:pPr>
            <a:r>
              <a:rPr sz="1500" b="0" i="0" u="none" strike="noStrike">
                <a:solidFill>
                  <a:srgbClr val="16202A"/>
                </a:solidFill>
                <a:latin typeface="Cambria"/>
              </a:rPr>
              <a:t>Accuracy (%) by quantisation level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HellaSwag (single-shot recall)</c:v>
                </c:pt>
              </c:strCache>
            </c:strRef>
          </c:tx>
          <c:spPr>
            <a:solidFill>
              <a:srgbClr val="6B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2A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fp16</c:v>
                  </c:pt>
                  <c:pt idx="1">
                    <c:v>Q4_K_M</c:v>
                  </c:pt>
                  <c:pt idx="2">
                    <c:v>Q3_K_S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79.4</c:v>
                </c:pt>
                <c:pt idx="2">
                  <c:v>79.4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GSM8K (multi-step arithmetic)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2A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fp16</c:v>
                  </c:pt>
                  <c:pt idx="1">
                    <c:v>Q4_K_M</c:v>
                  </c:pt>
                  <c:pt idx="2">
                    <c:v>Q3_K_S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77.6</c:v>
                </c:pt>
                <c:pt idx="1">
                  <c:v>77.3</c:v>
                </c:pt>
                <c:pt idx="2">
                  <c:v>68.3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02A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6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A8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6202A"/>
                </a:solidFill>
                <a:latin typeface="Cambria"/>
              </a:defRPr>
            </a:pPr>
            <a:r>
              <a:rPr sz="1500" b="0" i="0" u="none" strike="noStrike">
                <a:solidFill>
                  <a:srgbClr val="16202A"/>
                </a:solidFill>
                <a:latin typeface="Cambria"/>
              </a:rPr>
              <a:t>Function-calling accuracy by model size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BFCL v4 score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2A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0.8B</c:v>
                  </c:pt>
                  <c:pt idx="1">
                    <c:v>2B</c:v>
                  </c:pt>
                  <c:pt idx="2">
                    <c:v>4B</c:v>
                  </c:pt>
                  <c:pt idx="3">
                    <c:v>9B</c:v>
                  </c:pt>
                  <c:pt idx="4">
                    <c:v>27B</c:v>
                  </c:pt>
                  <c:pt idx="5">
                    <c:v>397B-A17B</c:v>
                  </c:pt>
                  <c:pt idx="6">
                    <c:v>frontier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0.253</c:v>
                </c:pt>
                <c:pt idx="1">
                  <c:v>0.436</c:v>
                </c:pt>
                <c:pt idx="2">
                  <c:v>0.503</c:v>
                </c:pt>
                <c:pt idx="3">
                  <c:v>0.661</c:v>
                </c:pt>
                <c:pt idx="4">
                  <c:v>0.685</c:v>
                </c:pt>
                <c:pt idx="5">
                  <c:v>0.729</c:v>
                </c:pt>
                <c:pt idx="6">
                  <c:v>0.75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6202A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12700" cap="flat">
              <a:solidFill>
                <a:srgbClr val="E6EB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6202A"/>
                </a:solidFill>
                <a:latin typeface="Cambria"/>
              </a:defRPr>
            </a:pPr>
            <a:r>
              <a:rPr sz="1500" b="0" i="0" u="none" strike="noStrike">
                <a:solidFill>
                  <a:srgbClr val="16202A"/>
                </a:solidFill>
                <a:latin typeface="Cambria"/>
              </a:rPr>
              <a:t>End-to-end success (%) vs number of steps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4B model  p=0.50</c:v>
                </c:pt>
              </c:strCache>
            </c:strRef>
          </c:tx>
          <c:spPr>
            <a:solidFill>
              <a:srgbClr val="FF6B35"/>
            </a:solidFill>
            <a:ln w="31750" cap="flat">
              <a:solidFill>
                <a:srgbClr val="FF6B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2A"/>
                    </a:solidFill>
                    <a:latin typeface="Courier New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6B35"/>
              </a:solidFill>
              <a:ln w="9525" cap="flat">
                <a:solidFill>
                  <a:srgbClr val="FF6B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5</c:v>
                  </c:pt>
                  <c:pt idx="4">
                    <c:v>8</c:v>
                  </c:pt>
                  <c:pt idx="5">
                    <c:v>10</c:v>
                  </c:pt>
                  <c:pt idx="6">
                    <c:v>15</c:v>
                  </c:pt>
                  <c:pt idx="7">
                    <c:v>20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50.3</c:v>
                </c:pt>
                <c:pt idx="1">
                  <c:v>25.3</c:v>
                </c:pt>
                <c:pt idx="2">
                  <c:v>12.7</c:v>
                </c:pt>
                <c:pt idx="3">
                  <c:v>3.2</c:v>
                </c:pt>
                <c:pt idx="4">
                  <c:v>0.4</c:v>
                </c:pt>
                <c:pt idx="5">
                  <c:v>0.1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9B model  p=0.66</c:v>
                </c:pt>
              </c:strCache>
            </c:strRef>
          </c:tx>
          <c:spPr>
            <a:solidFill>
              <a:srgbClr val="D9A404"/>
            </a:solidFill>
            <a:ln w="31750" cap="flat">
              <a:solidFill>
                <a:srgbClr val="D9A40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2A"/>
                    </a:solidFill>
                    <a:latin typeface="Courier New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A404"/>
              </a:solidFill>
              <a:ln w="9525" cap="flat">
                <a:solidFill>
                  <a:srgbClr val="D9A40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5</c:v>
                  </c:pt>
                  <c:pt idx="4">
                    <c:v>8</c:v>
                  </c:pt>
                  <c:pt idx="5">
                    <c:v>10</c:v>
                  </c:pt>
                  <c:pt idx="6">
                    <c:v>15</c:v>
                  </c:pt>
                  <c:pt idx="7">
                    <c:v>20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66.1</c:v>
                </c:pt>
                <c:pt idx="1">
                  <c:v>43.7</c:v>
                </c:pt>
                <c:pt idx="2">
                  <c:v>28.9</c:v>
                </c:pt>
                <c:pt idx="3">
                  <c:v>12.6</c:v>
                </c:pt>
                <c:pt idx="4">
                  <c:v>3.6</c:v>
                </c:pt>
                <c:pt idx="5">
                  <c:v>1.6</c:v>
                </c:pt>
                <c:pt idx="6">
                  <c:v>0.2</c:v>
                </c:pt>
                <c:pt idx="7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frontier  p=0.75</c:v>
                </c:pt>
              </c:strCache>
            </c:strRef>
          </c:tx>
          <c:spPr>
            <a:solidFill>
              <a:srgbClr val="6B7A8C"/>
            </a:solidFill>
            <a:ln w="31750" cap="flat">
              <a:solidFill>
                <a:srgbClr val="6B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2A"/>
                    </a:solidFill>
                    <a:latin typeface="Courier New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7A8C"/>
              </a:solidFill>
              <a:ln w="9525" cap="flat">
                <a:solidFill>
                  <a:srgbClr val="6B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5</c:v>
                  </c:pt>
                  <c:pt idx="4">
                    <c:v>8</c:v>
                  </c:pt>
                  <c:pt idx="5">
                    <c:v>10</c:v>
                  </c:pt>
                  <c:pt idx="6">
                    <c:v>15</c:v>
                  </c:pt>
                  <c:pt idx="7">
                    <c:v>20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75</c:v>
                </c:pt>
                <c:pt idx="1">
                  <c:v>56.3</c:v>
                </c:pt>
                <c:pt idx="2">
                  <c:v>42.2</c:v>
                </c:pt>
                <c:pt idx="3">
                  <c:v>23.7</c:v>
                </c:pt>
                <c:pt idx="4">
                  <c:v>10</c:v>
                </c:pt>
                <c:pt idx="5">
                  <c:v>5.6</c:v>
                </c:pt>
                <c:pt idx="6">
                  <c:v>1.3</c:v>
                </c:pt>
                <c:pt idx="7">
                  <c:v>0.3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engineered  p=0.99</c:v>
                </c:pt>
              </c:strCache>
            </c:strRef>
          </c:tx>
          <c:spPr>
            <a:solidFill>
              <a:srgbClr val="2E9E82"/>
            </a:solidFill>
            <a:ln w="31750" cap="flat">
              <a:solidFill>
                <a:srgbClr val="2E9E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2A"/>
                    </a:solidFill>
                    <a:latin typeface="Courier New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9E82"/>
              </a:solidFill>
              <a:ln w="9525" cap="flat">
                <a:solidFill>
                  <a:srgbClr val="2E9E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5</c:v>
                  </c:pt>
                  <c:pt idx="4">
                    <c:v>8</c:v>
                  </c:pt>
                  <c:pt idx="5">
                    <c:v>10</c:v>
                  </c:pt>
                  <c:pt idx="6">
                    <c:v>15</c:v>
                  </c:pt>
                  <c:pt idx="7">
                    <c:v>20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99</c:v>
                </c:pt>
                <c:pt idx="1">
                  <c:v>98</c:v>
                </c:pt>
                <c:pt idx="2">
                  <c:v>97</c:v>
                </c:pt>
                <c:pt idx="3">
                  <c:v>95.1</c:v>
                </c:pt>
                <c:pt idx="4">
                  <c:v>92.3</c:v>
                </c:pt>
                <c:pt idx="5">
                  <c:v>90.4</c:v>
                </c:pt>
                <c:pt idx="6">
                  <c:v>86</c:v>
                </c:pt>
                <c:pt idx="7">
                  <c:v>81.8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02A"/>
                  </a:solidFill>
                  <a:latin typeface="Courier New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6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A8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getting Lab 0 running before you say anything. Triage installs while you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them answer 90% first. Write the real number on the board. Then flip it: what p do you need?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frame for the whole class. Come back to it after Lab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ordering is the point. People reach for fine-tuning or pretraining and skip quantization and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 on a domain heuristic or a validator, never on the model self-reporting confidence. Small models are badly calibrated.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2024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Language Models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Practice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are built  ·  how to use them in agents and B2B  ·  when not to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800600"/>
            <a:ext cx="118872" cy="1188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4690872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hours  |  60 min lecture, 60 min hands-on  |  everything runs on your laptop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tool call succeeds 90% of the time.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 takes 10 steps. What is your success rate?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2148840"/>
          </a:xfrm>
          <a:prstGeom prst="roundRect">
            <a:avLst>
              <a:gd name="adj" fmla="val 2553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3317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2944368" y="2240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3950208" y="25146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6B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233172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34.9%</a:t>
            </a:r>
            <a:endParaRPr lang="en-US" sz="7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520440"/>
            <a:ext cx="9811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small-model problem. A compounding problem.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43484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not really a class about small models. It is a class about the fact that you have to engineer around this regardless, and once you accept that, small models get a great deal more interesting.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what per-step reliability do you actually need?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Per-step p required for 90% end-to-end success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0879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523951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 in the task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per-step 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 check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374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0.979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reachable with a narrow task + validator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9A40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0.990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on any leaderboard is here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6B3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0.995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decomposition, not a bigger 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6B3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0.998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checkpoints and human confirmation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160520"/>
            <a:ext cx="10908792" cy="1417320"/>
          </a:xfrm>
          <a:prstGeom prst="roundRect">
            <a:avLst>
              <a:gd name="adj" fmla="val 3871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24128" y="4553712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353312" y="4407408"/>
            <a:ext cx="9720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model on the Berkeley function-calling leaderboard sits at 0.750. A 9B open model sits at 0.661. Both are far below what a 10-step agent needs. The SLM-vs-frontier argument is a rounding error next to the architecture problem.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thesis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109087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comes from architecture,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from parameters.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31920"/>
            <a:ext cx="927247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 decompose the task, verify every step, and then buy the cheapest model that clears the bar.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5120640"/>
            <a:ext cx="118872" cy="1188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5001768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 better argument for small models than "they are nearly as good."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two hours work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lecture, half your laptop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00:05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18288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SLMs are actually built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18470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levers, ordered by cost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957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00:25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39572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1, measure the size curve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24140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tok/s, memory, where quality breaks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6265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00:40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296265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SLMs in agentic systems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9809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argument, the counterargument, four patterns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5295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00:55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352958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2+3, structured output, agent loop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35478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your own per-step p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096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01:20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409651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B2B case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4114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economics, drivers, and when SLMs are wrong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6634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01:35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783080" y="46634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4+5, the router and the eval harness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46817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things that decide whether it ships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2303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01:50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783080" y="523036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checklist and homework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8036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SLMs are actually built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81815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levers, ordered by cost. Almost everyone reaches for the wrong end first.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levers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unit of improvement, cheapest first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8792" cy="713232"/>
          </a:xfrm>
          <a:prstGeom prst="roundRect">
            <a:avLst>
              <a:gd name="adj" fmla="val 7692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112264"/>
            <a:ext cx="155448" cy="155448"/>
          </a:xfrm>
          <a:prstGeom prst="ellipse">
            <a:avLst/>
          </a:prstGeom>
          <a:solidFill>
            <a:srgbClr val="2E9E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61872" y="19476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9476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minutes, no training data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19476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~4x memory for ~1% quality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0" y="19476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always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670048"/>
            <a:ext cx="10908792" cy="713232"/>
          </a:xfrm>
          <a:prstGeom prst="roundRect">
            <a:avLst>
              <a:gd name="adj" fmla="val 7692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2953512"/>
            <a:ext cx="155448" cy="155448"/>
          </a:xfrm>
          <a:prstGeom prst="ellipse">
            <a:avLst/>
          </a:prstGeom>
          <a:solidFill>
            <a:srgbClr val="2E9E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61872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(LoRA)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788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hours, ~200 examples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task-specific win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often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11296"/>
            <a:ext cx="10908792" cy="713232"/>
          </a:xfrm>
          <a:prstGeom prst="roundRect">
            <a:avLst>
              <a:gd name="adj" fmla="val 7692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" y="3794760"/>
            <a:ext cx="155448" cy="155448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61872" y="3630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3630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1000s of GPU-hours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36301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RL at small scale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0" y="36301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352544"/>
            <a:ext cx="10908792" cy="713232"/>
          </a:xfrm>
          <a:prstGeom prst="roundRect">
            <a:avLst>
              <a:gd name="adj" fmla="val 7692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2688" y="4636008"/>
            <a:ext cx="155448" cy="155448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261872" y="44714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0" y="44714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full retraining run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44714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40x fewer tokens per family member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0" y="44714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never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5193792"/>
            <a:ext cx="10908792" cy="713232"/>
          </a:xfrm>
          <a:prstGeom prst="roundRect">
            <a:avLst>
              <a:gd name="adj" fmla="val 7692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2688" y="5477256"/>
            <a:ext cx="155448" cy="15544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261872" y="53126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3657600" y="53126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 figures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629400" y="53126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someone else’s for free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0" y="53126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Chinchilla is dead as a target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minimises training compute and ignores inference, the wrong objective for anything you deploy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0879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828800"/>
                <a:gridCol w="2651760"/>
                <a:gridCol w="286207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 tokens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per param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Chinchilla-optimal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A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 : 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 3 4B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1,000 : 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SmolLM3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3,733 : 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Granite 4.0 Micro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7,333 : 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Qwen3-0.6B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6B3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60,000 : 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617720"/>
            <a:ext cx="10908792" cy="1234440"/>
          </a:xfrm>
          <a:prstGeom prst="roundRect">
            <a:avLst>
              <a:gd name="adj" fmla="val 4444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24128" y="4974336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353312" y="4809744"/>
            <a:ext cx="9720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band for a deployable SLM: 1,000–5,000 tokens per parameter. The small end of a model family gets trained on the whole family corpus, so it lands thousands of times past Chinchilla, for free.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pretraining one actually costs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SmolLM3-3B is the only modern SLM with a fully disclosed budget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384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6148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H100 GPUs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9202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days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276148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clock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19202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~$500k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27614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2026 market GPU rates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(221,000 GPU-hours)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10908792" cy="1828800"/>
          </a:xfrm>
          <a:prstGeom prst="roundRect">
            <a:avLst>
              <a:gd name="adj" fmla="val 3000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4069080"/>
            <a:ext cx="9994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SLMs are good in 2026 is that someone else spent that money, on data curation you get for free.
</a:t>
            </a:r>
            <a:endParaRPr lang="en-US" sz="15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1B model on 5T tokens is roughly one-seventh of this. Fine-tuning one is about $50. Almost nobody in this room should pretrain; the number exists so you recognise that the cheap levers are 10,000x cheaper.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is the model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2024→2026 shift: model-based quality classifiers plus synthetic rewriting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53384" cy="3703320"/>
          </a:xfrm>
          <a:prstGeom prst="roundRect">
            <a:avLst>
              <a:gd name="adj" fmla="val 1589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2057400"/>
            <a:ext cx="2868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FineWeb-Edu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450592"/>
            <a:ext cx="2868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246120"/>
            <a:ext cx="2868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FineWeb discarded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840480"/>
            <a:ext cx="2868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Llama-3-70B scores 500k samples → distil the labels into a BERT-sized classifier → run the cheap one over the whole internet. Steal this two-stage pattern.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7784" y="1874520"/>
            <a:ext cx="3453384" cy="3703320"/>
          </a:xfrm>
          <a:prstGeom prst="roundRect">
            <a:avLst>
              <a:gd name="adj" fmla="val 1589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0392" y="2057400"/>
            <a:ext cx="2868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Nemotron-CC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0392" y="2450592"/>
            <a:ext cx="2868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1.9T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660392" y="3246120"/>
            <a:ext cx="2868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tokens minted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60392" y="3840480"/>
            <a:ext cx="2868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rewrite high-quality data too, not just junk, that is how you get past "we ran out of good web data."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5488" y="1874520"/>
            <a:ext cx="3453384" cy="3703320"/>
          </a:xfrm>
          <a:prstGeom prst="roundRect">
            <a:avLst>
              <a:gd name="adj" fmla="val 1589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88096" y="2057400"/>
            <a:ext cx="2868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88096" y="2450592"/>
            <a:ext cx="2868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8xA100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388096" y="3246120"/>
            <a:ext cx="2868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4 days → 50.6% HumanEval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88096" y="3840480"/>
            <a:ext cx="2868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1.3B params on 7B tokens beat models 10x its size on code. Purely data quality. The whole thesis in one run.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Distillation: three different things share the name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them before you argue about them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08792" cy="1188720"/>
          </a:xfrm>
          <a:prstGeom prst="roundRect">
            <a:avLst>
              <a:gd name="adj" fmla="val 4615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24028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22585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72768" y="2057400"/>
            <a:ext cx="9628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 distillation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2404872"/>
            <a:ext cx="9628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matches the teacher’s output distribution, token by token. Gemma 3 does this during pretraining, sampling 256 logits per token. Its 1B never learns from raw text alone.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1188720"/>
          </a:xfrm>
          <a:prstGeom prst="roundRect">
            <a:avLst>
              <a:gd name="adj" fmla="val 4615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35661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2688" y="358444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72768" y="3383280"/>
            <a:ext cx="9628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Sequence-level (SFT on teacher outputs)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72768" y="3730752"/>
            <a:ext cx="9628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most people mean. DeepSeek-R1-Distill: 800k R1-generated samples onto off-the-shelf bases. SFT only, no RL stage at all.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526280"/>
            <a:ext cx="10908792" cy="1188720"/>
          </a:xfrm>
          <a:prstGeom prst="roundRect">
            <a:avLst>
              <a:gd name="adj" fmla="val 4615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48920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2688" y="49103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72768" y="4709160"/>
            <a:ext cx="9628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On-policy distillation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72768" y="5056632"/>
            <a:ext cx="9628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2025–26 development. Student generates its own rollouts; the teacher grades every token. Dense supervision on your own distribution, via reverse KL.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9436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that lands: SFT is dense supervision on someone else’s trajectory. RL is sparse supervision on your own. On-policy distillation is dense supervision on your own.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numbers that settle the distillation argument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independently reproduced. DeepSeek, Thinking Machines, and the Qwen3 team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52578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783080"/>
          <a:ext cx="5239512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640080" y="4800600"/>
            <a:ext cx="10908792" cy="1051560"/>
          </a:xfrm>
          <a:prstGeom prst="roundRect">
            <a:avLst>
              <a:gd name="adj" fmla="val 5217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024128" y="5120640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1353312" y="4956048"/>
            <a:ext cx="9720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DeepSeek’s own conclusion: small models cannot reinforcement-learn their way to what distillation gives them. Qwen3’s entire small series was distilled rather than fully trained, at one tenth of the GPU hours.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Pruning: one trap and one recipe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short, you will almost certainly never do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17236" cy="3566160"/>
          </a:xfrm>
          <a:prstGeom prst="roundRect">
            <a:avLst>
              <a:gd name="adj" fmla="val 1538"/>
            </a:avLst>
          </a:prstGeom>
          <a:solidFill>
            <a:srgbClr val="FDEEE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TRAP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50592"/>
            <a:ext cx="4631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Unstructured sparsity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926080"/>
            <a:ext cx="46314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speedup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611880"/>
            <a:ext cx="46314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Zeroing individual weights changes the storage format and nothing else. The GPU still loads every element and multiplies by zero. Same VRAM, same latency.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semi-structured 2:4 sparsity is accelerated, and that is 1.3–1.5x end to end, not the theoretical 2x.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31636" y="1874520"/>
            <a:ext cx="5317236" cy="3566160"/>
          </a:xfrm>
          <a:prstGeom prst="roundRect">
            <a:avLst>
              <a:gd name="adj" fmla="val 1538"/>
            </a:avLst>
          </a:prstGeom>
          <a:solidFill>
            <a:srgbClr val="E9F5F1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97396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RECIPE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97396" y="2450592"/>
            <a:ext cx="4631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prune + distil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597396" y="2926080"/>
            <a:ext cx="46314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9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40x fewer tokens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597396" y="3566160"/>
            <a:ext cx="463143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the teacher on your corpus first, most-skipped step</a:t>
            </a:r>
            <a:endParaRPr lang="en-US" sz="11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Activation-based importance, forward passes only, single shot</a:t>
            </a:r>
            <a:endParaRPr lang="en-US" sz="11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width pruning over depth below 15B params</a:t>
            </a:r>
            <a:endParaRPr lang="en-US" sz="11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with distillation loss only, never plain LM loss</a:t>
            </a:r>
            <a:endParaRPr lang="en-US" sz="11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Minitron: +16% MMLU vs training that size from scratch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"Q4_K_M" actually means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all used it. Almost nobody knows what the letters do.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08792" cy="777240"/>
          </a:xfrm>
          <a:prstGeom prst="roundRect">
            <a:avLst>
              <a:gd name="adj" fmla="val 7059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02082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2020824"/>
            <a:ext cx="9079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four-bit weights, nominally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08792" cy="777240"/>
          </a:xfrm>
          <a:prstGeom prst="roundRect">
            <a:avLst>
              <a:gd name="adj" fmla="val 7059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93522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_K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2935224"/>
            <a:ext cx="9079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k-quants: super-blocks of 256 weights, sub-blocks of 32, each with its own quantised scale and min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10908792" cy="777240"/>
          </a:xfrm>
          <a:prstGeom prst="roundRect">
            <a:avLst>
              <a:gd name="adj" fmla="val 7059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84962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_M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3849624"/>
            <a:ext cx="9079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mixed precision: the sensitive tensors (attention wv, FFN w2) are stored at Q6_K instead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10908792" cy="1234440"/>
          </a:xfrm>
          <a:prstGeom prst="roundRect">
            <a:avLst>
              <a:gd name="adj" fmla="val 4444"/>
            </a:avLst>
          </a:prstGeom>
          <a:solidFill>
            <a:srgbClr val="FDEEE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4956048"/>
            <a:ext cx="10085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Net: ~4.89 bits per weight. "4-bit" is never four bits, and that overhead is exactly what buys the quality. Llama-3.1-8B goes 32.1 GB → 4.9 GB, and perplexity moves 7.32 → 7.56.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Quantisation damage is task-dependent, not uniform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Llama-3.1-8B-Instruct, same weights, two very different tasks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66751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828800"/>
            <a:ext cx="3867912" cy="3200400"/>
          </a:xfrm>
          <a:prstGeom prst="roundRect">
            <a:avLst>
              <a:gd name="adj" fmla="val 1714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orange bars.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46888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barely moves. Chained reasoning falls off a cliff, 9.3 points at Q3.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Quantisation error compounds through a reasoning chain, and tool-argument construction is exactly that.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is effectively lossless. Q5_K_M is near-lossless. Q4_K_M is the default. Below Q4, not for anything agentic.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25780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note: some quantised configs "beat" fp16 on a benchmark. That is variance, not a discovery. Hold that thought until the evaluation section.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Quantisation-aware training is free quality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QAT checkpoint exists for your model, always take it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2743200"/>
                <a:gridCol w="341071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int4 QAT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 runs 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 GB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6B3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14.1 GB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RTX 3090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GB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374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6.6 GB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8 GB laptop GPU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374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2.6 GB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phone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GB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374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 GB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anything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206240"/>
            <a:ext cx="10908792" cy="1463040"/>
          </a:xfrm>
          <a:prstGeom prst="roundRect">
            <a:avLst>
              <a:gd name="adj" fmla="val 3750"/>
            </a:avLst>
          </a:prstGeom>
          <a:solidFill>
            <a:srgbClr val="E9F5F1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24128" y="4617720"/>
            <a:ext cx="164592" cy="164592"/>
          </a:xfrm>
          <a:prstGeom prst="ellipse">
            <a:avLst/>
          </a:prstGeom>
          <a:solidFill>
            <a:srgbClr val="2E9E8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353312" y="4462272"/>
            <a:ext cx="9720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~5,000 extra training steps, using the unquantised checkpoint’s own probabilities as targets, cut the perplexity drop by 54% versus post-training quantisation. QAT is the vendor’s job. Post-training quantisation is yours.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Fine-tuning: the numbers that matter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lever most of you will actually pull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749040"/>
          </a:xfrm>
          <a:prstGeom prst="roundRect">
            <a:avLst>
              <a:gd name="adj" fmla="val 1600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 to QLoRA-tune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059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4505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 GB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535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9535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GB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34564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GB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9593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14B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39593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 GB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572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3B fine-tunes in 3.5 GB and an 8B in 6 GB. Both fit a free Colab T4. Full fine-tuning an 8B needs roughly ten times that.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297680" y="1828800"/>
            <a:ext cx="3429000" cy="3749040"/>
          </a:xfrm>
          <a:prstGeom prst="roundRect">
            <a:avLst>
              <a:gd name="adj" fmla="val 1600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settings that work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2450592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32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lora_alpha = 64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= 2e-4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epochs = 1–3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lora_dropout = 0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q,k,v,o,gate,up,down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572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attention AND the MLP. Attention-only underperforms, hitting all seven projections is what closes the gap to full fine-tuning.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55280" y="1828800"/>
            <a:ext cx="3593592" cy="3749040"/>
          </a:xfrm>
          <a:prstGeom prst="roundRect">
            <a:avLst>
              <a:gd name="adj" fmla="val 1527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0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data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2450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/ routing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27066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100–300 per class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3017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extraction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3273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200–500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3584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Generation, summarisation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3840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500–2,000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151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domain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4407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1,000–5,000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4800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published result: 150 examples across 5 categories → 92% accuracy. 200 curated examples beat 2,000 hasty ones.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small models punch above their weight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architecture tricks, one line each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911096"/>
            <a:ext cx="118872" cy="1188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GQA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3794760" y="1783080"/>
            <a:ext cx="7708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heads share KV heads. Qwen3-8B: 32 query / 8 KV = 4x less KV cache. Saves cache, not parameters.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624328"/>
            <a:ext cx="118872" cy="1188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4963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Sliding-window attention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3794760" y="2496312"/>
            <a:ext cx="7708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3 interleaves 5 local layers per 1 global. KV overhead at 32K context: 60% → under 15%.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337560"/>
            <a:ext cx="118872" cy="1188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2095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Mamba / SSM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3209544"/>
            <a:ext cx="7708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 4 runs 9 Mamba-2 blocks per transformer block. Attention cache grows with sequence length; SSM state is constant-size. &gt;70% RAM cut on long inputs.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050792"/>
            <a:ext cx="118872" cy="1188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39227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at small scale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3922776"/>
            <a:ext cx="7708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compute, not memory. You still hold all 30B in VRAM to get 3B-of-compute latency. A win on a spare GPU, a loss on a phone.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764024"/>
            <a:ext cx="118872" cy="1188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6360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Matryoshka / MatFormer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3794760" y="4636008"/>
            <a:ext cx="7708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training run yields a continuum of deployable sizes; Gemma 3n pushes embeddings to CPU so E2B runs in 2 GB.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477256"/>
            <a:ext cx="118872" cy="1188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5349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decoding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3794760" y="5349240"/>
            <a:ext cx="7708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distribution is mathematically unchanged, free latency. But 2.03x at one user decays to 1.66x at sixteen. Local wins, busy servers do not.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the size curve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  ·  notebook Lab 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10908792" cy="3108960"/>
          </a:xfrm>
          <a:prstGeom prst="roundRect">
            <a:avLst>
              <a:gd name="adj" fmla="val 1765"/>
            </a:avLst>
          </a:prstGeom>
          <a:solidFill>
            <a:srgbClr val="1F2C3B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880360"/>
            <a:ext cx="10085832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prompt on a 1.2B, a 3B and an 8B. Record tokens/sec and resident memory.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run ten chained-arithmetic problems on the 3B and the 8B and score them.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numbers I want from every one of you: your tok/s on the 3B, and your arithmetic score.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roughly 5 tok/s an interactive agent stops being tolerable. That number, not a leaderboard, decides what you can deploy on your hardware.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8036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SLMs in agentic systems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81815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argument, the counterargument, and the four patterns that actually ship.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argument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NVIDIA, "Small Language Models are the Future of Agentic AI" (arXiv 2506.02153)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029968"/>
            <a:ext cx="10085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definition is functional, not a parameter count: a model that fits on a consumer device and serves one user at practical latency. As of now, "most models below 10B."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3453384" cy="1554480"/>
          </a:xfrm>
          <a:prstGeom prst="roundRect">
            <a:avLst>
              <a:gd name="adj" fmla="val 3529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063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364992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 enough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85032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subtasks are narrow. A 7B already clears the bar for most of them.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7784" y="2926080"/>
            <a:ext cx="3453384" cy="1554480"/>
          </a:xfrm>
          <a:prstGeom prst="roundRect">
            <a:avLst>
              <a:gd name="adj" fmla="val 3529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42104" y="3063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42104" y="3364992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suitable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42104" y="3685032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are repetitive, schema-shaped, and non-conversational, the exact profile a specialised small model is best at.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5488" y="2926080"/>
            <a:ext cx="3453384" cy="1554480"/>
          </a:xfrm>
          <a:prstGeom prst="roundRect">
            <a:avLst>
              <a:gd name="adj" fmla="val 3529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9808" y="3063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69808" y="3364992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economical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3685032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claim 10–30x on latency, energy and FLOPs versus a 70B–175B model.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7091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estimates of how many LLM calls in real agent frameworks are replaceable: MetaGPT ~60%, Open Operator ~40%, Cradle ~70%.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166360"/>
            <a:ext cx="10908792" cy="777240"/>
          </a:xfrm>
          <a:prstGeom prst="roundRect">
            <a:avLst>
              <a:gd name="adj" fmla="val 7059"/>
            </a:avLst>
          </a:prstGeom>
          <a:solidFill>
            <a:srgbClr val="FDEEE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321808"/>
            <a:ext cx="10085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quiet part: NVIDIA sells the GPUs that self-hosted SLM fleets run on. Those percentages are the authors’ inspection, not measured A/B swaps. Good paper, demand independent replication of the economics.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counterargument, and it is a good one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Illusion of Diminishing Returns" (arXiv 2509.09677), model size buys horizon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&gt;1,000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1576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at 50% success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8745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~400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271576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at 50% success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Claude-4-Sonnet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18745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&lt;15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271576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before Qwen3-32B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below 50%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10908792" cy="1965960"/>
          </a:xfrm>
          <a:prstGeom prst="roundRect">
            <a:avLst>
              <a:gd name="adj" fmla="val 2791"/>
            </a:avLst>
          </a:prstGeom>
          <a:solidFill>
            <a:srgbClr val="FDEEE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950208"/>
            <a:ext cx="99943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except the 4B ones scored 100% on step one.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their achievable horizons still differ by orders of magnitude. Single-step benchmarks cannot predict agent performance, which means every number on every function-calling leaderboard is a first-step measurement.
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Worse: models degrade further once their own errors are in context, and scaling parameters does not fix that self-conditioning.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cliff actually is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Berkeley function-calling leaderboard v4, within one model family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68580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783080"/>
            <a:ext cx="3685032" cy="3383280"/>
          </a:xfrm>
          <a:prstGeom prst="roundRect">
            <a:avLst>
              <a:gd name="adj" fmla="val 1622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8388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two gaps.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2395728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→ 397B is 6.8 points.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 → 9B is 15.8 points.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cliff is not between a small model and a frontier model. It is inside the small range.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4023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7–9B is the floor for agentic tool use.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Sub-4B is for classification and extraction only.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5303520"/>
            <a:ext cx="10908792" cy="777240"/>
          </a:xfrm>
          <a:prstGeom prst="roundRect">
            <a:avLst>
              <a:gd name="adj" fmla="val 7059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51560" y="5468112"/>
            <a:ext cx="10085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corollary nobody expects: tool support is a property of the chat template, not the parameter count. A 70B with no tool template loses to a 1.7B that has one.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1, the cascade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Checkr: 1.5M background checks a month, 230 categories, in production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8792" cy="868680"/>
          </a:xfrm>
          <a:prstGeom prst="roundRect">
            <a:avLst>
              <a:gd name="adj" fmla="val 6316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011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9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2011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2011680"/>
            <a:ext cx="5650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cheapest tier is not a model at all. Push work down the stack, not up.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10908792" cy="868680"/>
          </a:xfrm>
          <a:prstGeom prst="roundRect">
            <a:avLst>
              <a:gd name="adj" fmla="val 6316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9992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2%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29992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Llama-3-8B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2999232"/>
            <a:ext cx="5650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on 150k examples. The hard cases only.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10908792" cy="868680"/>
          </a:xfrm>
          <a:prstGeom prst="roundRect">
            <a:avLst>
              <a:gd name="adj" fmla="val 6316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98678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2331720" y="398678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3986784"/>
            <a:ext cx="5650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entirely. It was slower and less accurate than the tuned 8B.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3453384" cy="1005840"/>
          </a:xfrm>
          <a:prstGeom prst="roundRect">
            <a:avLst>
              <a:gd name="adj" fmla="val 5455"/>
            </a:avLst>
          </a:prstGeom>
          <a:solidFill>
            <a:srgbClr val="E9F5F1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5029200"/>
            <a:ext cx="290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321808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80–82%  →  90%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367784" y="4892040"/>
            <a:ext cx="3453384" cy="1005840"/>
          </a:xfrm>
          <a:prstGeom prst="roundRect">
            <a:avLst>
              <a:gd name="adj" fmla="val 5455"/>
            </a:avLst>
          </a:prstGeom>
          <a:solidFill>
            <a:srgbClr val="E9F5F1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42104" y="5029200"/>
            <a:ext cx="290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642104" y="5321808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s  →  0.15 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095488" y="4892040"/>
            <a:ext cx="3453384" cy="1005840"/>
          </a:xfrm>
          <a:prstGeom prst="roundRect">
            <a:avLst>
              <a:gd name="adj" fmla="val 5455"/>
            </a:avLst>
          </a:prstGeom>
          <a:solidFill>
            <a:srgbClr val="E9F5F1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69808" y="5029200"/>
            <a:ext cx="290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369808" y="5321808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$12k/mo  →  &lt;$800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more patterns that ship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908792" cy="1325880"/>
          </a:xfrm>
          <a:prstGeom prst="roundRect">
            <a:avLst>
              <a:gd name="adj" fmla="val 4138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20299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2011680"/>
            <a:ext cx="9354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agents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395728"/>
            <a:ext cx="9354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for the mechanical, high-frequency work: classification, extraction, format conversion, tool-argument construction, summarising bounded inputs. Frontier model for planning, novel reasoning and error recovery.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10908792" cy="1325880"/>
          </a:xfrm>
          <a:prstGeom prst="roundRect">
            <a:avLst>
              <a:gd name="adj" fmla="val 4138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349300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3474720"/>
            <a:ext cx="9354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 as offline teacher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3858768"/>
            <a:ext cx="9354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Zed’s Zeta2 edit-prediction model is an 8B open model distilled with Claude Sonnet as teacher. The big model manufactures training data offline and never appears in the hot path. +30% acceptance rate. The most underused pattern here.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754880"/>
            <a:ext cx="10908792" cy="1325880"/>
          </a:xfrm>
          <a:prstGeom prst="roundRect">
            <a:avLst>
              <a:gd name="adj" fmla="val 4138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9560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4937760"/>
            <a:ext cx="9354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as SLMs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5321808"/>
            <a:ext cx="9354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14 open guard models from 110M to 20B, the correlation between parameter count and detection was r = 0.21, p = 0.48, indistinguishable from zero. A 4B model had 3.4x the recall of a 20B. Larger is not safer.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1722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guardrail result is the cleanest "small is genuinely sufficient" evidence in the whole field, and it is a safety result, not a cost one.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compounding table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success = p to the power of N, and reality is worse because errors correlate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6949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783080"/>
            <a:ext cx="3593592" cy="3566160"/>
          </a:xfrm>
          <a:prstGeom prst="roundRect">
            <a:avLst>
              <a:gd name="adj" fmla="val 1538"/>
            </a:avLst>
          </a:prstGeom>
          <a:solidFill>
            <a:srgbClr val="FDEEE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7532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conclusions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450592"/>
            <a:ext cx="30175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model, small or frontier, is close to what a 10-step agent needs.</a:t>
            </a:r>
            <a:endParaRPr lang="en-US" sz="11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N before you buy parameters. Four verified 5-step segments need p=0.979 each; one unverified 20-step run needs 0.995.</a:t>
            </a:r>
            <a:endParaRPr lang="en-US" sz="11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must build verification anyway, the marginal value of frontier parameters drops, and the cheap fast model wins on cost and latency.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6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output, then a real agent loop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minutes  ·  notebook Labs 2 and 3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10908792" cy="3108960"/>
          </a:xfrm>
          <a:prstGeom prst="roundRect">
            <a:avLst>
              <a:gd name="adj" fmla="val 1765"/>
            </a:avLst>
          </a:prstGeom>
          <a:solidFill>
            <a:srgbClr val="1F2C3B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880360"/>
            <a:ext cx="10085832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2, constrain the decoder with a JSON schema, score a golden set field by field.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3, three tools, twelve tasks, and measure three things separately: tool choice, argument construction, and stopping.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measure_p cell takes a few minutes. Start it, then read the markdown while it runs.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want from you: your per-step p, and what you think it implies for the agent you actually work on.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6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8036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B2B case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81815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costs, what actually justifies it, and when a small model is the wrong answer.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are two independent decisions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Conflating them is the most common mistake in the room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17236" cy="3200400"/>
          </a:xfrm>
          <a:prstGeom prst="roundRect">
            <a:avLst>
              <a:gd name="adj" fmla="val 1714"/>
            </a:avLst>
          </a:prstGeom>
          <a:solidFill>
            <a:srgbClr val="E9F5F1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084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32304"/>
            <a:ext cx="463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model vs large model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971800"/>
            <a:ext cx="46314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always a real win when the task is narrow. Extraction, classification, routing, format conversion.</a:t>
            </a:r>
            <a:endParaRPr lang="en-US" sz="1450" dirty="0"/>
          </a:p>
          <a:p>
            <a:pPr indent="0" marL="0">
              <a:lnSpc>
                <a:spcPts val="2300"/>
              </a:lnSpc>
              <a:buNone/>
            </a:pPr>
            <a:endParaRPr lang="en-US" sz="14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you can capture most of it by calling a cheap hosted small model. No GPU. No ops. No fleet.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31636" y="1874520"/>
            <a:ext cx="5317236" cy="3200400"/>
          </a:xfrm>
          <a:prstGeom prst="roundRect">
            <a:avLst>
              <a:gd name="adj" fmla="val 1714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97396" y="2084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97396" y="2432304"/>
            <a:ext cx="463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Self-host vs API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97396" y="2971800"/>
            <a:ext cx="46314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decision, driven by sovereignty, latency SLA, per-tenant weights and deprecation risk.</a:t>
            </a:r>
            <a:endParaRPr lang="en-US" sz="1450" dirty="0"/>
          </a:p>
          <a:p>
            <a:pPr indent="0" marL="0">
              <a:lnSpc>
                <a:spcPts val="2300"/>
              </a:lnSpc>
              <a:buNone/>
            </a:pPr>
            <a:endParaRPr lang="en-US" sz="14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not by token cost. Self-hosting a 4–8B essentially never beats a cheap hosted small model on price alone, the same open weights are served by providers who bought GPUs at volume.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3035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them in that order, and separately.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formula, and the term everybody forgets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975104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/ 1M tokens  =  (GPU $/hr ÷ tok/s) × 1e6 ÷ 3600 ÷ utilisation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H100, same model, same throughput, only the utilisation changes: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337560"/>
            <a:ext cx="2521458" cy="13716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520440"/>
            <a:ext cx="2064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40480"/>
            <a:ext cx="2064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9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$0.20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435858" y="3337560"/>
            <a:ext cx="2521458" cy="13716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64458" y="3520440"/>
            <a:ext cx="2064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64458" y="3840480"/>
            <a:ext cx="2064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4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$0.40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231636" y="3337560"/>
            <a:ext cx="2521458" cy="13716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0236" y="3520440"/>
            <a:ext cx="2064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60236" y="3840480"/>
            <a:ext cx="2064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$1.01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9027414" y="3337560"/>
            <a:ext cx="2521458" cy="13716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56014" y="3520440"/>
            <a:ext cx="2064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256014" y="3840480"/>
            <a:ext cx="2064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$4.03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40080" y="4892040"/>
            <a:ext cx="10908792" cy="1051560"/>
          </a:xfrm>
          <a:prstGeom prst="roundRect">
            <a:avLst>
              <a:gd name="adj" fmla="val 5217"/>
            </a:avLst>
          </a:prstGeom>
          <a:solidFill>
            <a:srgbClr val="FDEEE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4128" y="5230368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353312" y="5047488"/>
            <a:ext cx="9720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5x swing from utilisation alone. Your idle GPU is the single biggest line item in a self-hosted quote, and it never appears in the vendor’s comparison table.</a:t>
            </a:r>
            <a:endParaRPr lang="en-US" sz="15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Break-even volume for one GPU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RTX 4090 rig at ~$504/month, agent traffic at 80% input / 20% output</a:t>
            </a:r>
            <a:endParaRPr lang="en-US" sz="15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103120"/>
                <a:gridCol w="2743200"/>
                <a:gridCol w="20391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you are displacing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Blended $/1M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Break-even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day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Opus 5  ($5 / $25)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9E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~57M tok/mo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 5  ($2 / $10)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$3.60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9E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~146M tok/mo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Haiku 4.5  ($1 / $5)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$1.80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D9A40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~305M tok/mo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cheap hosted small model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6B3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~2,000M tok/mo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3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1148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honest total cost of ownership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4572000"/>
            <a:ext cx="2521458" cy="1097280"/>
          </a:xfrm>
          <a:prstGeom prst="roundRect">
            <a:avLst>
              <a:gd name="adj" fmla="val 5000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4700016"/>
            <a:ext cx="2064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$1,000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230368"/>
            <a:ext cx="2064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amortised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35858" y="4572000"/>
            <a:ext cx="2521458" cy="1097280"/>
          </a:xfrm>
          <a:prstGeom prst="roundRect">
            <a:avLst>
              <a:gd name="adj" fmla="val 5000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64458" y="4700016"/>
            <a:ext cx="2064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$831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3664458" y="5230368"/>
            <a:ext cx="2064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+ colocation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31636" y="4572000"/>
            <a:ext cx="2521458" cy="1097280"/>
          </a:xfrm>
          <a:prstGeom prst="roundRect">
            <a:avLst>
              <a:gd name="adj" fmla="val 5000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60236" y="4700016"/>
            <a:ext cx="2064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$4,000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460236" y="5230368"/>
            <a:ext cx="2064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one engineer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027414" y="4572000"/>
            <a:ext cx="2521458" cy="1097280"/>
          </a:xfrm>
          <a:prstGeom prst="roundRect">
            <a:avLst>
              <a:gd name="adj" fmla="val 5000"/>
            </a:avLst>
          </a:prstGeom>
          <a:solidFill>
            <a:srgbClr val="FDEEE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256014" y="4700016"/>
            <a:ext cx="2064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$5,931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9256014" y="5230368"/>
            <a:ext cx="2064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all in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85216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is 6–30x the hardware, and that total lands at roughly the price of the hosted API it was meant to beat.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justifies self-hosting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are token cost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975104"/>
            <a:ext cx="128016" cy="128016"/>
          </a:xfrm>
          <a:prstGeom prst="ellipse">
            <a:avLst/>
          </a:prstGeom>
          <a:solidFill>
            <a:srgbClr val="2E9E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7552" y="1828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1810512"/>
            <a:ext cx="7754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high-risk obligations took effect 2 August 2026. Penalties to €35M or 7% of global turnover.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734056"/>
            <a:ext cx="128016" cy="128016"/>
          </a:xfrm>
          <a:prstGeom prst="ellipse">
            <a:avLst/>
          </a:prstGeom>
          <a:solidFill>
            <a:srgbClr val="2E9E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87552" y="25877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569464"/>
            <a:ext cx="7754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of enterprise leaders factor the AI vendor’s country of origin into selection; around 60% build primarily with local vendors.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493008"/>
            <a:ext cx="128016" cy="128016"/>
          </a:xfrm>
          <a:prstGeom prst="ellipse">
            <a:avLst/>
          </a:prstGeom>
          <a:solidFill>
            <a:srgbClr val="2E9E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87552" y="33467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as product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3328416"/>
            <a:ext cx="7754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Checkr’s 15s → 0.15s is not a cost saving, it is a different product. In one survey more repatriations cited latency (55%) than compliance (52%).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4251960"/>
            <a:ext cx="128016" cy="128016"/>
          </a:xfrm>
          <a:prstGeom prst="ellipse">
            <a:avLst/>
          </a:prstGeom>
          <a:solidFill>
            <a:srgbClr val="2E9E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87552" y="41056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weights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4087368"/>
            <a:ext cx="7754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Multi-LoRA: one base model in VRAM, cheap per-customer adapters swapped per request. Five customers each using 10% of a GPU fit on one GPU.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5010912"/>
            <a:ext cx="128016" cy="128016"/>
          </a:xfrm>
          <a:prstGeom prst="ellipse">
            <a:avLst/>
          </a:prstGeom>
          <a:solidFill>
            <a:srgbClr val="2E9E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87552" y="48646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deprecation risk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4846320"/>
            <a:ext cx="7754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you hold cannot be sunset on someone else’s schedule. In a validated system a silent model update is a compliance event, not an annoyance.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623560"/>
            <a:ext cx="10908792" cy="685800"/>
          </a:xfrm>
          <a:prstGeom prst="roundRect">
            <a:avLst>
              <a:gd name="adj" fmla="val 8000"/>
            </a:avLst>
          </a:prstGeom>
          <a:solidFill>
            <a:srgbClr val="FDEEE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742432"/>
            <a:ext cx="10085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quotes "55% of enterprise inference runs on-prem, up from 12% in 2023", that number has no traceable primary source. Ask where any statistic came from.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6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small model is the wrong answer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say all nine of these out loud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51343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beyond ~10 tool calls with no checkpoints. The compounding math is unforgiving.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world knowledge is required. You cannot fine-tune in facts you do not have.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 across a large repository. Needs long context and long horizon at once.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or novel reasoning. Fine-tuning specialises; it does not generalise to the case you did not anticipate.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long context. Degradation hits everyone, but small models start lower and hit the wall sooner.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185916" y="1920240"/>
            <a:ext cx="513435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volume. Below ~2M tokens a day the engineering cost swamps the token savings.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failure is expensive. On τ-bench even GPT-4o roughly halves from pass@1 to pass^8.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breadth. Capability concentrates in high-resource languages as parameters shrink.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generation. Note the asymmetry: small models are excellent at safety classification, weaker at safety alignment under adversarial pressure.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8064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cost nobody budgets: you now maintain a router, a validator, fallback logic and monitoring for two models instead of one.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conversion recipe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steps, and the first one is the gate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10908792" cy="585216"/>
          </a:xfrm>
          <a:prstGeom prst="roundRect">
            <a:avLst>
              <a:gd name="adj" fmla="val 9375"/>
            </a:avLst>
          </a:prstGeom>
          <a:solidFill>
            <a:srgbClr val="FDEEE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37944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653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1965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everything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1819656"/>
            <a:ext cx="7296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non-user-facing call: prompt, response, tool calls, latency. Encrypted.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10908792" cy="585216"/>
          </a:xfrm>
          <a:prstGeom prst="roundRect">
            <a:avLst>
              <a:gd name="adj" fmla="val 9375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496312"/>
            <a:ext cx="365760" cy="365760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252374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47802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2478024"/>
            <a:ext cx="7296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PII and PHI. Target 10k–100k examples.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035808"/>
            <a:ext cx="10908792" cy="585216"/>
          </a:xfrm>
          <a:prstGeom prst="roundRect">
            <a:avLst>
              <a:gd name="adj" fmla="val 9375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154680"/>
            <a:ext cx="365760" cy="365760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31821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1363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3136392"/>
            <a:ext cx="7296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clustering over prompts and operations. The clusters are your specialisation candidates.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694176"/>
            <a:ext cx="10908792" cy="585216"/>
          </a:xfrm>
          <a:prstGeom prst="roundRect">
            <a:avLst>
              <a:gd name="adj" fmla="val 9375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813048"/>
            <a:ext cx="365760" cy="365760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38404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3794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model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931920" y="3794760"/>
            <a:ext cx="7296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Capability, licence, deployment footprint.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352544"/>
            <a:ext cx="10908792" cy="585216"/>
          </a:xfrm>
          <a:prstGeom prst="roundRect">
            <a:avLst>
              <a:gd name="adj" fmla="val 9375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4471416"/>
            <a:ext cx="365760" cy="365760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44988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44531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931920" y="4453128"/>
            <a:ext cx="7296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or QLoRA, or distil from the model you are replacing.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5010912"/>
            <a:ext cx="10908792" cy="585216"/>
          </a:xfrm>
          <a:prstGeom prst="roundRect">
            <a:avLst>
              <a:gd name="adj" fmla="val 9375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5129784"/>
            <a:ext cx="365760" cy="365760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14400" y="51572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463040" y="511149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3931920" y="5111496"/>
            <a:ext cx="7296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as usage drifts.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0080" y="5760720"/>
            <a:ext cx="10908792" cy="713232"/>
          </a:xfrm>
          <a:prstGeom prst="roundRect">
            <a:avLst>
              <a:gd name="adj" fmla="val 7692"/>
            </a:avLst>
          </a:prstGeom>
          <a:solidFill>
            <a:srgbClr val="E9F5F1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51560" y="5916168"/>
            <a:ext cx="10085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action item from today: turn on structured trace logging this week. Everything else is downstream of it.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6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router, and the eval harness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  ·  notebook Labs 4 and 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10908792" cy="3108960"/>
          </a:xfrm>
          <a:prstGeom prst="roundRect">
            <a:avLst>
              <a:gd name="adj" fmla="val 1765"/>
            </a:avLst>
          </a:prstGeom>
          <a:solidFill>
            <a:srgbClr val="1F2C3B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880360"/>
            <a:ext cx="10085832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4, three tiers: rules, then the SLM, then escalation. Escalate on a validator’s verdict, never on the model’s self-reported confidence.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your escalation rate. That is the cost knob: blended cost ≈ (1−r)·cheap + r·expensive.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5, the boring harness you run in CI on every model bump, quantisation change and prompt edit.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SLM projects actually die: not because the model was too small, but because nobody could tell whether the swap was safe.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rules that make an evaluation worth having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17647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per tag, never just the average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669280" y="1764792"/>
            <a:ext cx="5833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90% of your cases are happy-path, your average looks great while every hard case quietly fails.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51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6334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cases from production failures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2633472"/>
            <a:ext cx="5833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from imagination. Instrument for thumbs-down, abandonment and escalation. Triage weekly.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520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5021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it honestly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3502152"/>
            <a:ext cx="5833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50–100 cases for one feature. 150–300 for a maturing product. 400+ for a regulated flow. 15–25% deliberately nasty.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389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3708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judge before you trust it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4370832"/>
            <a:ext cx="5833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21 judges, chance-corrected agreement ran 34–41 points below raw agreement. The best scored 84.9% raw but only 51.1% kappa. Reproducibility is not validity.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257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52395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 point on a 200-item set is noise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5239512"/>
            <a:ext cx="5833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Quantised models sometimes "beat" fp16. That is variance, not a discovery.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943600"/>
            <a:ext cx="10908792" cy="594360"/>
          </a:xfrm>
          <a:prstGeom prst="roundRect">
            <a:avLst>
              <a:gd name="adj" fmla="val 9231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6053328"/>
            <a:ext cx="10085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7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Tooling:  promptfoo for a model bake-off  ·  deepeval for CI gates  ·  lm-evaluation-harness for academic benchmarks only  ·  ragas for RAG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checklist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questions, in this order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841248"/>
          </a:xfrm>
          <a:prstGeom prst="roundRect">
            <a:avLst>
              <a:gd name="adj" fmla="val 6522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91109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task shape?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911096"/>
            <a:ext cx="5422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extraction, routing → sub-4B is fine. Tool-calling agent → 7–9B floor. Planning or novel reasoning → frontier.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08792" cy="841248"/>
          </a:xfrm>
          <a:prstGeom prst="roundRect">
            <a:avLst>
              <a:gd name="adj" fmla="val 6522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87121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N?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2871216"/>
            <a:ext cx="5422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roughly ten unverified steps, decompose before you do anything else.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10908792" cy="841248"/>
          </a:xfrm>
          <a:prstGeom prst="roundRect">
            <a:avLst>
              <a:gd name="adj" fmla="val 6522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83133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volume?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3831336"/>
            <a:ext cx="5422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~2M tokens a day, do not self-host. The engineering cost dominates everything.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663440"/>
            <a:ext cx="10908792" cy="841248"/>
          </a:xfrm>
          <a:prstGeom prst="roundRect">
            <a:avLst>
              <a:gd name="adj" fmla="val 6522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479145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a non-cost reason to self-host?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4791456"/>
            <a:ext cx="5422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Sovereignty, latency SLA, per-tenant weights, deprecation risk. If not, a cheap hosted small model captures most of the win.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623560"/>
            <a:ext cx="10908792" cy="841248"/>
          </a:xfrm>
          <a:prstGeom prst="roundRect">
            <a:avLst>
              <a:gd name="adj" fmla="val 6522"/>
            </a:avLst>
          </a:prstGeom>
          <a:solidFill>
            <a:srgbClr val="FDEEE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575157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a golden set?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5751576"/>
            <a:ext cx="5422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not, you cannot make any of the decisions above. Build it first.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model call in a system you actually own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87452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its task shape: classification, extraction, routing, generation, or planning.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42032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496312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50-case golden set from real production traffic. 20% edge cases.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163824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3118104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against granite4.2:3b and against whatever you use today.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785616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3739896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per-step p, not just accuracy.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407408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4361688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your break-even volume before you buy a GPU.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502920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43000" y="498348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two questions separately: small vs large, and self-host vs API.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5760720"/>
            <a:ext cx="10908792" cy="731520"/>
          </a:xfrm>
          <a:prstGeom prst="roundRect">
            <a:avLst>
              <a:gd name="adj" fmla="val 7500"/>
            </a:avLst>
          </a:prstGeom>
          <a:solidFill>
            <a:srgbClr val="F1F4F7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5925312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notebook, the run-of-show and the one-page cheat sheet all go home with you. The labs run offline, no keys, no cloud.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6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087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comes from architecture,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from parameters.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794760"/>
            <a:ext cx="95997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have built the verification you were always going to need, the cheap model gets to be the right answer, and that is a far better argument for small models than "they are nearly as good."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" y="5349240"/>
            <a:ext cx="118872" cy="1188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5230368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 on structured trace logging this week. Everything else is downstream of it.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with a number on it in this deck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929384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10588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Language Models are the Future of Agentic AI, arXiv 2506.02153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2286000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185416"/>
            <a:ext cx="10588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Illusion of Diminishing Returns: Measuring Long Horizon Execution, arXiv 2509.09677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2642616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542032"/>
            <a:ext cx="10588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τ-bench, arXiv 2406.12045   ·   Benchmarking Open-Source Safety Guard Models, arXiv 2605.28830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2999232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2898648"/>
            <a:ext cx="10588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DeepSeek-R1, arXiv 2501.12948   ·   Qwen3 technical report, arXiv 2505.09388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3355848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255264"/>
            <a:ext cx="10588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3 technical report, arXiv 2503.19786   ·   Nemotron-CC, arXiv 2412.02595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712464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3611880"/>
            <a:ext cx="10588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On-policy distillation, thinkingmachines.ai/blog/on-policy-distillation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4069080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3968496"/>
            <a:ext cx="10588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Minitron prune-and-distil, developer.nvidia.com   ·   Gemma 3 QAT, developers.googleblog.com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" y="4425696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4325112"/>
            <a:ext cx="10588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FineWeb-Edu, huggingface.co/datasets/HuggingFaceFW/fineweb-edu   ·   SmolLM3, huggingface.co/blog/smollm3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" y="4782312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4681728"/>
            <a:ext cx="10588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 LoRA hyperparameter guide, unsloth.ai/docs   ·   Ollama docs, docs.ollama.com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8368" y="5138928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5038344"/>
            <a:ext cx="10588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Checkr case study, zenml.io/llmops-database   ·   Zed Zeta2, zed.dev/blog/how-we-developed-zeta2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368" y="5495544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5394960"/>
            <a:ext cx="10588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multi-LoRA, vllm.ai/blog/2026-02-26-multi-lora   ·   Context Rot, trychroma.com/research/context-rot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8368" y="5852160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751576"/>
            <a:ext cx="10588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Berkeley function-calling leaderboard, gorilla.cs.berkeley.edu/leaderboard.html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263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tags, prices and leaderboards move fast, re-verify the week you teach.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Small Language Models in Practice</dc:title>
  <dc:subject>PptxGenJS Presentation</dc:subject>
  <dc:creator>SLM Class</dc:creator>
  <cp:lastModifiedBy>SLM Class</cp:lastModifiedBy>
  <cp:revision>1</cp:revision>
  <dcterms:created xsi:type="dcterms:W3CDTF">2026-09-05T05:23:18Z</dcterms:created>
  <dcterms:modified xsi:type="dcterms:W3CDTF">2026-09-05T05:23:18Z</dcterms:modified>
</cp:coreProperties>
</file>